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10287000" cx="18288000"/>
  <p:notesSz cx="10287000" cy="1828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TgxPS/blSn+kcRzuxUrxvtKVr6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barakuda126"/>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CC930A-5F64-4B84-AD67-B738C2A8A3AE}">
  <a:tblStyle styleId="{04CC930A-5F64-4B84-AD67-B738C2A8A3A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01T09:21:18.311">
    <p:pos x="4291" y="2073"/>
    <p:text>חרי כמה סבבי תיקון שנכשלו, המקרה עובר לאחראית משמרת.
G(correction_rounds ≥ N → F handed_up)
לברר</p:text>
    <p:extLst>
      <p:ext uri="{C676402C-5697-4E1C-873F-D02D1690AC5C}">
        <p15:threadingInfo timeZoneBias="0"/>
      </p:ext>
      <p:ext uri="http://customooxmlschemas.google.com/">
        <go:slidesCustomData xmlns:go="http://customooxmlschemas.google.com/" commentPostId="AAACH8RNTv4"/>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w-IL"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omments" Target="../comments/commen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A60"/>
        </a:solidFill>
      </p:bgPr>
    </p:bg>
    <p:spTree>
      <p:nvGrpSpPr>
        <p:cNvPr id="15" name="Shape 15"/>
        <p:cNvGrpSpPr/>
        <p:nvPr/>
      </p:nvGrpSpPr>
      <p:grpSpPr>
        <a:xfrm>
          <a:off x="0" y="0"/>
          <a:ext cx="0" cy="0"/>
          <a:chOff x="0" y="0"/>
          <a:chExt cx="0" cy="0"/>
        </a:xfrm>
      </p:grpSpPr>
      <p:sp>
        <p:nvSpPr>
          <p:cNvPr id="16" name="Google Shape;16;p1"/>
          <p:cNvSpPr/>
          <p:nvPr/>
        </p:nvSpPr>
        <p:spPr>
          <a:xfrm>
            <a:off x="-3657600" y="-5943600"/>
            <a:ext cx="10058400" cy="10058400"/>
          </a:xfrm>
          <a:prstGeom prst="ellipse">
            <a:avLst/>
          </a:prstGeom>
          <a:solidFill>
            <a:srgbClr val="2D3270">
              <a:alpha val="60000"/>
            </a:srgbClr>
          </a:solidFill>
          <a:ln cap="flat" cmpd="sng" w="12700">
            <a:solidFill>
              <a:srgbClr val="2D32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txBox="1"/>
          <p:nvPr/>
        </p:nvSpPr>
        <p:spPr>
          <a:xfrm>
            <a:off x="914400" y="731520"/>
            <a:ext cx="164592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2CEFD"/>
              </a:buClr>
              <a:buSzPts val="1800"/>
              <a:buFont typeface="Courier New"/>
              <a:buNone/>
            </a:pPr>
            <a:r>
              <a:rPr lang="iw-IL" sz="1800">
                <a:solidFill>
                  <a:srgbClr val="D2CEFD"/>
                </a:solidFill>
                <a:latin typeface="Courier New"/>
                <a:ea typeface="Courier New"/>
                <a:cs typeface="Courier New"/>
                <a:sym typeface="Courier New"/>
              </a:rPr>
              <a:t>BIU </a:t>
            </a:r>
            <a:r>
              <a:rPr b="0" i="0" lang="iw-IL" sz="1800" u="none" cap="none" strike="noStrike">
                <a:solidFill>
                  <a:srgbClr val="D2CEFD"/>
                </a:solidFill>
                <a:latin typeface="Courier New"/>
                <a:ea typeface="Courier New"/>
                <a:cs typeface="Courier New"/>
                <a:sym typeface="Courier New"/>
              </a:rPr>
              <a:t>AI Architecture</a:t>
            </a:r>
            <a:endParaRPr b="0" i="0" sz="1800" u="none" cap="none" strike="noStrike">
              <a:solidFill>
                <a:schemeClr val="dk1"/>
              </a:solidFill>
              <a:latin typeface="Calibri"/>
              <a:ea typeface="Calibri"/>
              <a:cs typeface="Calibri"/>
              <a:sym typeface="Calibri"/>
            </a:endParaRPr>
          </a:p>
        </p:txBody>
      </p:sp>
      <p:sp>
        <p:nvSpPr>
          <p:cNvPr id="18" name="Google Shape;18;p1"/>
          <p:cNvSpPr txBox="1"/>
          <p:nvPr/>
        </p:nvSpPr>
        <p:spPr>
          <a:xfrm>
            <a:off x="914400" y="1371600"/>
            <a:ext cx="16459200" cy="1828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3F5FE"/>
              </a:buClr>
              <a:buSzPts val="11000"/>
              <a:buFont typeface="Arial"/>
              <a:buNone/>
            </a:pPr>
            <a:r>
              <a:rPr b="0" i="0" lang="iw-IL" sz="11000" u="none" cap="none" strike="noStrike">
                <a:solidFill>
                  <a:srgbClr val="F3F5FE"/>
                </a:solidFill>
                <a:latin typeface="Arial"/>
                <a:ea typeface="Arial"/>
                <a:cs typeface="Arial"/>
                <a:sym typeface="Arial"/>
              </a:rPr>
              <a:t>Triage Guard</a:t>
            </a:r>
            <a:endParaRPr b="0" i="0" sz="11000" u="none" cap="none" strike="noStrike">
              <a:solidFill>
                <a:schemeClr val="dk1"/>
              </a:solidFill>
              <a:latin typeface="Calibri"/>
              <a:ea typeface="Calibri"/>
              <a:cs typeface="Calibri"/>
              <a:sym typeface="Calibri"/>
            </a:endParaRPr>
          </a:p>
        </p:txBody>
      </p:sp>
      <p:sp>
        <p:nvSpPr>
          <p:cNvPr id="19" name="Google Shape;19;p1"/>
          <p:cNvSpPr txBox="1"/>
          <p:nvPr/>
        </p:nvSpPr>
        <p:spPr>
          <a:xfrm>
            <a:off x="914400" y="3383280"/>
            <a:ext cx="16459200" cy="73152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3200"/>
              <a:buFont typeface="Arial"/>
              <a:buNone/>
            </a:pPr>
            <a:r>
              <a:rPr b="0" i="0" lang="iw-IL" sz="3200" u="none" cap="none" strike="noStrike">
                <a:solidFill>
                  <a:srgbClr val="CFD3E5"/>
                </a:solidFill>
                <a:latin typeface="Arial"/>
                <a:ea typeface="Arial"/>
                <a:cs typeface="Arial"/>
                <a:sym typeface="Arial"/>
              </a:rPr>
              <a:t>ארכיטקטורת AI נוירו-סימבולית לטריאז' בחדר מיון</a:t>
            </a:r>
            <a:endParaRPr b="0" i="0" sz="3200" u="none" cap="none" strike="noStrike">
              <a:solidFill>
                <a:schemeClr val="dk1"/>
              </a:solidFill>
              <a:latin typeface="Calibri"/>
              <a:ea typeface="Calibri"/>
              <a:cs typeface="Calibri"/>
              <a:sym typeface="Calibri"/>
            </a:endParaRPr>
          </a:p>
        </p:txBody>
      </p:sp>
      <p:sp>
        <p:nvSpPr>
          <p:cNvPr id="20" name="Google Shape;20;p1"/>
          <p:cNvSpPr txBox="1"/>
          <p:nvPr/>
        </p:nvSpPr>
        <p:spPr>
          <a:xfrm>
            <a:off x="914400" y="4206240"/>
            <a:ext cx="16459200" cy="54864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9397AB"/>
              </a:buClr>
              <a:buSzPts val="2400"/>
              <a:buFont typeface="Arial"/>
              <a:buNone/>
            </a:pPr>
            <a:r>
              <a:rPr b="0" i="0" lang="iw-IL" sz="2400" u="none" cap="none" strike="noStrike">
                <a:solidFill>
                  <a:srgbClr val="9397AB"/>
                </a:solidFill>
                <a:latin typeface="Arial"/>
                <a:ea typeface="Arial"/>
                <a:cs typeface="Arial"/>
                <a:sym typeface="Arial"/>
              </a:rPr>
              <a:t>עידן בק · ברק אמיר</a:t>
            </a:r>
            <a:endParaRPr b="0" i="0" sz="2400" u="none" cap="none" strike="noStrike">
              <a:solidFill>
                <a:schemeClr val="dk1"/>
              </a:solidFill>
              <a:latin typeface="Calibri"/>
              <a:ea typeface="Calibri"/>
              <a:cs typeface="Calibri"/>
              <a:sym typeface="Calibri"/>
            </a:endParaRPr>
          </a:p>
        </p:txBody>
      </p:sp>
      <p:cxnSp>
        <p:nvCxnSpPr>
          <p:cNvPr id="21" name="Google Shape;21;p1"/>
          <p:cNvCxnSpPr/>
          <p:nvPr/>
        </p:nvCxnSpPr>
        <p:spPr>
          <a:xfrm>
            <a:off x="914400" y="5669280"/>
            <a:ext cx="16459200" cy="0"/>
          </a:xfrm>
          <a:prstGeom prst="straightConnector1">
            <a:avLst/>
          </a:prstGeom>
          <a:noFill/>
          <a:ln cap="flat" cmpd="sng" w="12700">
            <a:solidFill>
              <a:srgbClr val="4C5397"/>
            </a:solidFill>
            <a:prstDash val="solid"/>
            <a:round/>
            <a:headEnd len="sm" w="sm" type="none"/>
            <a:tailEnd len="sm" w="sm" type="none"/>
          </a:ln>
        </p:spPr>
      </p:cxnSp>
      <p:sp>
        <p:nvSpPr>
          <p:cNvPr id="22" name="Google Shape;22;p1"/>
          <p:cNvSpPr txBox="1"/>
          <p:nvPr/>
        </p:nvSpPr>
        <p:spPr>
          <a:xfrm>
            <a:off x="12252960" y="6035040"/>
            <a:ext cx="512064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הבעיה</a:t>
            </a:r>
            <a:endParaRPr b="0" i="0" sz="1900" u="none" cap="none" strike="noStrike">
              <a:solidFill>
                <a:schemeClr val="dk1"/>
              </a:solidFill>
              <a:latin typeface="Calibri"/>
              <a:ea typeface="Calibri"/>
              <a:cs typeface="Calibri"/>
              <a:sym typeface="Calibri"/>
            </a:endParaRPr>
          </a:p>
        </p:txBody>
      </p:sp>
      <p:sp>
        <p:nvSpPr>
          <p:cNvPr id="23" name="Google Shape;23;p1"/>
          <p:cNvSpPr txBox="1"/>
          <p:nvPr/>
        </p:nvSpPr>
        <p:spPr>
          <a:xfrm>
            <a:off x="12252960" y="6629400"/>
            <a:ext cx="5120640" cy="29260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2000"/>
              <a:buFont typeface="Arial"/>
              <a:buNone/>
            </a:pPr>
            <a:r>
              <a:rPr b="0" i="0" lang="iw-IL" sz="2000" u="none" cap="none" strike="noStrike">
                <a:solidFill>
                  <a:srgbClr val="E9E9ED"/>
                </a:solidFill>
                <a:latin typeface="Arial"/>
                <a:ea typeface="Arial"/>
                <a:cs typeface="Arial"/>
                <a:sym typeface="Arial"/>
              </a:rPr>
              <a:t>בחדר מיון עמוס, חולה במצב קשה יכול לקבל בטעות סיווג של "לא דחוף". הוא מחכה בתור, מצבו מחמיר, ואף אחד לא בודק אותו שוב בזמן.</a:t>
            </a:r>
            <a:endParaRPr b="0" i="0" sz="2000" u="none" cap="none" strike="noStrike">
              <a:solidFill>
                <a:schemeClr val="dk1"/>
              </a:solidFill>
              <a:latin typeface="Calibri"/>
              <a:ea typeface="Calibri"/>
              <a:cs typeface="Calibri"/>
              <a:sym typeface="Calibri"/>
            </a:endParaRPr>
          </a:p>
        </p:txBody>
      </p:sp>
      <p:sp>
        <p:nvSpPr>
          <p:cNvPr id="24" name="Google Shape;24;p1"/>
          <p:cNvSpPr txBox="1"/>
          <p:nvPr/>
        </p:nvSpPr>
        <p:spPr>
          <a:xfrm>
            <a:off x="6583680" y="6035040"/>
            <a:ext cx="512064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המשתמשים</a:t>
            </a:r>
            <a:endParaRPr b="0" i="0" sz="1900" u="none" cap="none" strike="noStrike">
              <a:solidFill>
                <a:schemeClr val="dk1"/>
              </a:solidFill>
              <a:latin typeface="Calibri"/>
              <a:ea typeface="Calibri"/>
              <a:cs typeface="Calibri"/>
              <a:sym typeface="Calibri"/>
            </a:endParaRPr>
          </a:p>
        </p:txBody>
      </p:sp>
      <p:sp>
        <p:nvSpPr>
          <p:cNvPr id="25" name="Google Shape;25;p1"/>
          <p:cNvSpPr txBox="1"/>
          <p:nvPr/>
        </p:nvSpPr>
        <p:spPr>
          <a:xfrm>
            <a:off x="6583680" y="6629400"/>
            <a:ext cx="5120640" cy="29260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2000"/>
              <a:buFont typeface="Arial"/>
              <a:buNone/>
            </a:pPr>
            <a:r>
              <a:rPr b="0" i="0" lang="iw-IL" sz="2000" u="none" cap="none" strike="noStrike">
                <a:solidFill>
                  <a:srgbClr val="E9E9ED"/>
                </a:solidFill>
                <a:latin typeface="Arial"/>
                <a:ea typeface="Arial"/>
                <a:cs typeface="Arial"/>
                <a:sym typeface="Arial"/>
              </a:rPr>
              <a:t>אחות טריאז' ממלאת טופס ומציעה רמת דחיפות.</a:t>
            </a:r>
            <a:endParaRPr b="0" i="0" sz="2000" u="none" cap="none" strike="noStrike">
              <a:solidFill>
                <a:schemeClr val="dk1"/>
              </a:solidFill>
              <a:latin typeface="Calibri"/>
              <a:ea typeface="Calibri"/>
              <a:cs typeface="Calibri"/>
              <a:sym typeface="Calibri"/>
            </a:endParaRPr>
          </a:p>
          <a:p>
            <a:pPr indent="0" lvl="0" marL="0" marR="0" rtl="1" algn="r">
              <a:spcBef>
                <a:spcPts val="400"/>
              </a:spcBef>
              <a:spcAft>
                <a:spcPts val="0"/>
              </a:spcAft>
              <a:buClr>
                <a:srgbClr val="E9E9ED"/>
              </a:buClr>
              <a:buSzPts val="2000"/>
              <a:buFont typeface="Arial"/>
              <a:buNone/>
            </a:pPr>
            <a:r>
              <a:rPr b="0" i="0" lang="iw-IL" sz="2000" u="none" cap="none" strike="noStrike">
                <a:solidFill>
                  <a:srgbClr val="E9E9ED"/>
                </a:solidFill>
                <a:latin typeface="Arial"/>
                <a:ea typeface="Arial"/>
                <a:cs typeface="Arial"/>
                <a:sym typeface="Arial"/>
              </a:rPr>
              <a:t>אחות אחראית ואחראי משמרת מכריע</a:t>
            </a:r>
            <a:r>
              <a:rPr lang="iw-IL" sz="2000">
                <a:solidFill>
                  <a:srgbClr val="E9E9ED"/>
                </a:solidFill>
              </a:rPr>
              <a:t>ים</a:t>
            </a:r>
            <a:r>
              <a:rPr b="0" i="0" lang="iw-IL" sz="2000" u="none" cap="none" strike="noStrike">
                <a:solidFill>
                  <a:srgbClr val="E9E9ED"/>
                </a:solidFill>
                <a:latin typeface="Arial"/>
                <a:ea typeface="Arial"/>
                <a:cs typeface="Arial"/>
                <a:sym typeface="Arial"/>
              </a:rPr>
              <a:t> ומאשר</a:t>
            </a:r>
            <a:r>
              <a:rPr lang="iw-IL" sz="2000">
                <a:solidFill>
                  <a:srgbClr val="E9E9ED"/>
                </a:solidFill>
              </a:rPr>
              <a:t>ים</a:t>
            </a:r>
            <a:r>
              <a:rPr b="0" i="0" lang="iw-IL" sz="2000" u="none" cap="none" strike="noStrike">
                <a:solidFill>
                  <a:srgbClr val="E9E9ED"/>
                </a:solidFill>
                <a:latin typeface="Arial"/>
                <a:ea typeface="Arial"/>
                <a:cs typeface="Arial"/>
                <a:sym typeface="Arial"/>
              </a:rPr>
              <a:t> שחרור.</a:t>
            </a:r>
            <a:endParaRPr b="0" i="0" sz="2000" u="none" cap="none" strike="noStrike">
              <a:solidFill>
                <a:schemeClr val="dk1"/>
              </a:solidFill>
              <a:latin typeface="Calibri"/>
              <a:ea typeface="Calibri"/>
              <a:cs typeface="Calibri"/>
              <a:sym typeface="Calibri"/>
            </a:endParaRPr>
          </a:p>
          <a:p>
            <a:pPr indent="0" lvl="0" marL="0" marR="0" rtl="1" algn="r">
              <a:spcBef>
                <a:spcPts val="400"/>
              </a:spcBef>
              <a:spcAft>
                <a:spcPts val="0"/>
              </a:spcAft>
              <a:buClr>
                <a:srgbClr val="E9E9ED"/>
              </a:buClr>
              <a:buSzPts val="2000"/>
              <a:buFont typeface="Arial"/>
              <a:buNone/>
            </a:pPr>
            <a:r>
              <a:rPr b="0" i="0" lang="iw-IL" sz="2000" u="none" cap="none" strike="noStrike">
                <a:solidFill>
                  <a:srgbClr val="E9E9ED"/>
                </a:solidFill>
                <a:latin typeface="Arial"/>
                <a:ea typeface="Arial"/>
                <a:cs typeface="Arial"/>
                <a:sym typeface="Arial"/>
              </a:rPr>
              <a:t>טכנאי מטפל בתקלות.</a:t>
            </a:r>
            <a:endParaRPr b="0" i="0" sz="2000" u="none" cap="none" strike="noStrike">
              <a:solidFill>
                <a:schemeClr val="dk1"/>
              </a:solidFill>
              <a:latin typeface="Calibri"/>
              <a:ea typeface="Calibri"/>
              <a:cs typeface="Calibri"/>
              <a:sym typeface="Calibri"/>
            </a:endParaRPr>
          </a:p>
          <a:p>
            <a:pPr indent="0" lvl="0" marL="0" marR="0" rtl="1" algn="r">
              <a:spcBef>
                <a:spcPts val="400"/>
              </a:spcBef>
              <a:spcAft>
                <a:spcPts val="0"/>
              </a:spcAft>
              <a:buClr>
                <a:srgbClr val="9397AB"/>
              </a:buClr>
              <a:buSzPts val="2000"/>
              <a:buFont typeface="Arial"/>
              <a:buNone/>
            </a:pPr>
            <a:r>
              <a:rPr b="0" i="0" lang="iw-IL" sz="2000" u="none" cap="none" strike="noStrike">
                <a:solidFill>
                  <a:srgbClr val="9397AB"/>
                </a:solidFill>
                <a:latin typeface="Arial"/>
                <a:ea typeface="Arial"/>
                <a:cs typeface="Arial"/>
                <a:sym typeface="Arial"/>
              </a:rPr>
              <a:t>המטופלים הם הנושא של המערכת, לא המפעילים שלה.</a:t>
            </a:r>
            <a:endParaRPr b="0" i="0" sz="2000" u="none" cap="none" strike="noStrike">
              <a:solidFill>
                <a:schemeClr val="dk1"/>
              </a:solidFill>
              <a:latin typeface="Calibri"/>
              <a:ea typeface="Calibri"/>
              <a:cs typeface="Calibri"/>
              <a:sym typeface="Calibri"/>
            </a:endParaRPr>
          </a:p>
        </p:txBody>
      </p:sp>
      <p:sp>
        <p:nvSpPr>
          <p:cNvPr id="26" name="Google Shape;26;p1"/>
          <p:cNvSpPr txBox="1"/>
          <p:nvPr/>
        </p:nvSpPr>
        <p:spPr>
          <a:xfrm>
            <a:off x="914400" y="6035040"/>
            <a:ext cx="512064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הסיכונים שהמערכת מצמצמת</a:t>
            </a:r>
            <a:endParaRPr b="0" i="0" sz="1900" u="none" cap="none" strike="noStrike">
              <a:solidFill>
                <a:schemeClr val="dk1"/>
              </a:solidFill>
              <a:latin typeface="Calibri"/>
              <a:ea typeface="Calibri"/>
              <a:cs typeface="Calibri"/>
              <a:sym typeface="Calibri"/>
            </a:endParaRPr>
          </a:p>
        </p:txBody>
      </p:sp>
      <p:sp>
        <p:nvSpPr>
          <p:cNvPr id="27" name="Google Shape;27;p1"/>
          <p:cNvSpPr txBox="1"/>
          <p:nvPr/>
        </p:nvSpPr>
        <p:spPr>
          <a:xfrm>
            <a:off x="914400" y="6629400"/>
            <a:ext cx="5120640" cy="29260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2000"/>
              <a:buFont typeface="Arial"/>
              <a:buNone/>
            </a:pPr>
            <a:r>
              <a:rPr b="0" i="0" lang="iw-IL" sz="2000" u="none" cap="none" strike="noStrike">
                <a:solidFill>
                  <a:srgbClr val="E9E9ED"/>
                </a:solidFill>
                <a:latin typeface="Arial"/>
                <a:ea typeface="Arial"/>
                <a:cs typeface="Arial"/>
                <a:sym typeface="Arial"/>
              </a:rPr>
              <a:t>מטופל קריטי שממתין כאילו הוא שגרתי, פרטים מזהים של מטופל שדולפים, והחלטה שאין לה תיעוד או הסבר.</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6"/>
        </a:solidFill>
      </p:bgPr>
    </p:bg>
    <p:spTree>
      <p:nvGrpSpPr>
        <p:cNvPr id="32" name="Shape 32"/>
        <p:cNvGrpSpPr/>
        <p:nvPr/>
      </p:nvGrpSpPr>
      <p:grpSpPr>
        <a:xfrm>
          <a:off x="0" y="0"/>
          <a:ext cx="0" cy="0"/>
          <a:chOff x="0" y="0"/>
          <a:chExt cx="0" cy="0"/>
        </a:xfrm>
      </p:grpSpPr>
      <p:sp>
        <p:nvSpPr>
          <p:cNvPr id="33" name="Google Shape;33;p2"/>
          <p:cNvSpPr txBox="1"/>
          <p:nvPr/>
        </p:nvSpPr>
        <p:spPr>
          <a:xfrm>
            <a:off x="91440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97AB"/>
              </a:buClr>
              <a:buSzPts val="1600"/>
              <a:buFont typeface="Courier New"/>
              <a:buNone/>
            </a:pPr>
            <a:r>
              <a:rPr b="0" i="0" lang="iw-IL" sz="1600" u="none" cap="none" strike="noStrike">
                <a:solidFill>
                  <a:srgbClr val="9397AB"/>
                </a:solidFill>
                <a:latin typeface="Courier New"/>
                <a:ea typeface="Courier New"/>
                <a:cs typeface="Courier New"/>
                <a:sym typeface="Courier New"/>
              </a:rPr>
              <a:t>02 · System Value</a:t>
            </a:r>
            <a:endParaRPr b="0" i="0" sz="1600" u="none" cap="none" strike="noStrike">
              <a:solidFill>
                <a:schemeClr val="dk1"/>
              </a:solidFill>
              <a:latin typeface="Calibri"/>
              <a:ea typeface="Calibri"/>
              <a:cs typeface="Calibri"/>
              <a:sym typeface="Calibri"/>
            </a:endParaRPr>
          </a:p>
        </p:txBody>
      </p:sp>
      <p:sp>
        <p:nvSpPr>
          <p:cNvPr id="34" name="Google Shape;34;p2"/>
          <p:cNvSpPr txBox="1"/>
          <p:nvPr/>
        </p:nvSpPr>
        <p:spPr>
          <a:xfrm>
            <a:off x="3657600" y="411480"/>
            <a:ext cx="13716000" cy="10972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4800"/>
              <a:buFont typeface="Arial"/>
              <a:buNone/>
            </a:pPr>
            <a:r>
              <a:rPr b="0" i="0" lang="iw-IL" sz="4800" u="none" cap="none" strike="noStrike">
                <a:solidFill>
                  <a:srgbClr val="E9E9ED"/>
                </a:solidFill>
                <a:latin typeface="Arial"/>
                <a:ea typeface="Arial"/>
                <a:cs typeface="Arial"/>
                <a:sym typeface="Arial"/>
              </a:rPr>
              <a:t>הערך המערכתי</a:t>
            </a:r>
            <a:endParaRPr b="0" i="0" sz="4800" u="none" cap="none" strike="noStrike">
              <a:solidFill>
                <a:schemeClr val="dk1"/>
              </a:solidFill>
              <a:latin typeface="Calibri"/>
              <a:ea typeface="Calibri"/>
              <a:cs typeface="Calibri"/>
              <a:sym typeface="Calibri"/>
            </a:endParaRPr>
          </a:p>
        </p:txBody>
      </p:sp>
      <p:sp>
        <p:nvSpPr>
          <p:cNvPr id="35" name="Google Shape;35;p2"/>
          <p:cNvSpPr/>
          <p:nvPr/>
        </p:nvSpPr>
        <p:spPr>
          <a:xfrm>
            <a:off x="12252960" y="2103120"/>
            <a:ext cx="5120640" cy="4114800"/>
          </a:xfrm>
          <a:prstGeom prst="roundRect">
            <a:avLst>
              <a:gd fmla="val 2667"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txBox="1"/>
          <p:nvPr/>
        </p:nvSpPr>
        <p:spPr>
          <a:xfrm>
            <a:off x="12618720" y="2423160"/>
            <a:ext cx="438912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היום</a:t>
            </a:r>
            <a:endParaRPr b="0" i="0" sz="1900" u="none" cap="none" strike="noStrike">
              <a:solidFill>
                <a:schemeClr val="dk1"/>
              </a:solidFill>
              <a:latin typeface="Calibri"/>
              <a:ea typeface="Calibri"/>
              <a:cs typeface="Calibri"/>
              <a:sym typeface="Calibri"/>
            </a:endParaRPr>
          </a:p>
        </p:txBody>
      </p:sp>
      <p:sp>
        <p:nvSpPr>
          <p:cNvPr id="37" name="Google Shape;37;p2"/>
          <p:cNvSpPr txBox="1"/>
          <p:nvPr/>
        </p:nvSpPr>
        <p:spPr>
          <a:xfrm>
            <a:off x="12618720" y="3017520"/>
            <a:ext cx="4389120" cy="29260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2100"/>
              <a:buFont typeface="Arial"/>
              <a:buNone/>
            </a:pPr>
            <a:r>
              <a:rPr b="0" i="0" lang="iw-IL" sz="2100" u="none" cap="none" strike="noStrike">
                <a:solidFill>
                  <a:srgbClr val="E9E9ED"/>
                </a:solidFill>
                <a:latin typeface="Arial"/>
                <a:ea typeface="Arial"/>
                <a:cs typeface="Arial"/>
                <a:sym typeface="Arial"/>
              </a:rPr>
              <a:t>אחות אחת, תחת עומס, קובעת את רמת הדחיפות של כל מטופל. טעות מתגלה מאוחר, וההערכה החוזרת תלויה בזיכרון של הצוות.</a:t>
            </a:r>
            <a:endParaRPr b="0" i="0" sz="2100" u="none" cap="none" strike="noStrike">
              <a:solidFill>
                <a:schemeClr val="dk1"/>
              </a:solidFill>
              <a:latin typeface="Calibri"/>
              <a:ea typeface="Calibri"/>
              <a:cs typeface="Calibri"/>
              <a:sym typeface="Calibri"/>
            </a:endParaRPr>
          </a:p>
        </p:txBody>
      </p:sp>
      <p:sp>
        <p:nvSpPr>
          <p:cNvPr id="38" name="Google Shape;38;p2"/>
          <p:cNvSpPr/>
          <p:nvPr/>
        </p:nvSpPr>
        <p:spPr>
          <a:xfrm>
            <a:off x="6583680" y="2103120"/>
            <a:ext cx="5120640" cy="4114800"/>
          </a:xfrm>
          <a:prstGeom prst="roundRect">
            <a:avLst>
              <a:gd fmla="val 2667"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txBox="1"/>
          <p:nvPr/>
        </p:nvSpPr>
        <p:spPr>
          <a:xfrm>
            <a:off x="6949440" y="2423160"/>
            <a:ext cx="438912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עם Triage Guard</a:t>
            </a:r>
            <a:endParaRPr b="0" i="0" sz="1900" u="none" cap="none" strike="noStrike">
              <a:solidFill>
                <a:schemeClr val="dk1"/>
              </a:solidFill>
              <a:latin typeface="Calibri"/>
              <a:ea typeface="Calibri"/>
              <a:cs typeface="Calibri"/>
              <a:sym typeface="Calibri"/>
            </a:endParaRPr>
          </a:p>
        </p:txBody>
      </p:sp>
      <p:sp>
        <p:nvSpPr>
          <p:cNvPr id="40" name="Google Shape;40;p2"/>
          <p:cNvSpPr txBox="1"/>
          <p:nvPr/>
        </p:nvSpPr>
        <p:spPr>
          <a:xfrm>
            <a:off x="6949440" y="3017520"/>
            <a:ext cx="4389120" cy="2926080"/>
          </a:xfrm>
          <a:prstGeom prst="rect">
            <a:avLst/>
          </a:prstGeom>
          <a:noFill/>
          <a:ln>
            <a:noFill/>
          </a:ln>
        </p:spPr>
        <p:txBody>
          <a:bodyPr anchorCtr="0" anchor="t" bIns="0" lIns="0" spcFirstLastPara="1" rIns="0" wrap="square" tIns="0">
            <a:noAutofit/>
          </a:bodyPr>
          <a:lstStyle/>
          <a:p>
            <a:pPr indent="-228600" lvl="0" marL="228600" marR="0" rtl="1" algn="r">
              <a:spcBef>
                <a:spcPts val="0"/>
              </a:spcBef>
              <a:spcAft>
                <a:spcPts val="0"/>
              </a:spcAft>
              <a:buClr>
                <a:srgbClr val="E9E9ED"/>
              </a:buClr>
              <a:buSzPts val="2100"/>
              <a:buFont typeface="Arial"/>
              <a:buChar char="•"/>
            </a:pPr>
            <a:r>
              <a:rPr b="0" i="0" lang="iw-IL" sz="2100" u="none" cap="none" strike="noStrike">
                <a:solidFill>
                  <a:srgbClr val="E9E9ED"/>
                </a:solidFill>
                <a:latin typeface="Arial"/>
                <a:ea typeface="Arial"/>
                <a:cs typeface="Arial"/>
                <a:sym typeface="Arial"/>
              </a:rPr>
              <a:t>ה-AI נותן הצעה שנייה, לבדיקה צולבת מול האחות.</a:t>
            </a:r>
            <a:endParaRPr b="0" i="0" sz="2100" u="none" cap="none" strike="noStrike">
              <a:solidFill>
                <a:schemeClr val="dk1"/>
              </a:solidFill>
              <a:latin typeface="Calibri"/>
              <a:ea typeface="Calibri"/>
              <a:cs typeface="Calibri"/>
              <a:sym typeface="Calibri"/>
            </a:endParaRPr>
          </a:p>
          <a:p>
            <a:pPr indent="-228600" lvl="0" marL="228600" marR="0" rtl="1" algn="r">
              <a:spcBef>
                <a:spcPts val="1000"/>
              </a:spcBef>
              <a:spcAft>
                <a:spcPts val="0"/>
              </a:spcAft>
              <a:buClr>
                <a:srgbClr val="E9E9ED"/>
              </a:buClr>
              <a:buSzPts val="2100"/>
              <a:buFont typeface="Arial"/>
              <a:buChar char="•"/>
            </a:pPr>
            <a:r>
              <a:rPr b="0" i="0" lang="iw-IL" sz="2100" u="none" cap="none" strike="noStrike">
                <a:solidFill>
                  <a:srgbClr val="E9E9ED"/>
                </a:solidFill>
                <a:latin typeface="Arial"/>
                <a:ea typeface="Arial"/>
                <a:cs typeface="Arial"/>
                <a:sym typeface="Arial"/>
              </a:rPr>
              <a:t>אם הפער ביניהם גדול, </a:t>
            </a:r>
            <a:r>
              <a:rPr lang="iw-IL" sz="2100">
                <a:solidFill>
                  <a:srgbClr val="E9E9ED"/>
                </a:solidFill>
              </a:rPr>
              <a:t>עובר </a:t>
            </a:r>
            <a:r>
              <a:rPr lang="iw-IL" sz="2100">
                <a:solidFill>
                  <a:srgbClr val="E9E9ED"/>
                </a:solidFill>
              </a:rPr>
              <a:t>להחלטה</a:t>
            </a:r>
            <a:r>
              <a:rPr lang="iw-IL" sz="2100">
                <a:solidFill>
                  <a:srgbClr val="E9E9ED"/>
                </a:solidFill>
              </a:rPr>
              <a:t> אנושית</a:t>
            </a:r>
            <a:r>
              <a:rPr b="0" i="0" lang="iw-IL" sz="2100" u="none" cap="none" strike="noStrike">
                <a:solidFill>
                  <a:srgbClr val="E9E9ED"/>
                </a:solidFill>
                <a:latin typeface="Arial"/>
                <a:ea typeface="Arial"/>
                <a:cs typeface="Arial"/>
                <a:sym typeface="Arial"/>
              </a:rPr>
              <a:t>.</a:t>
            </a:r>
            <a:endParaRPr b="0" i="0" sz="2100" u="none" cap="none" strike="noStrike">
              <a:solidFill>
                <a:schemeClr val="dk1"/>
              </a:solidFill>
              <a:latin typeface="Calibri"/>
              <a:ea typeface="Calibri"/>
              <a:cs typeface="Calibri"/>
              <a:sym typeface="Calibri"/>
            </a:endParaRPr>
          </a:p>
          <a:p>
            <a:pPr indent="-228600" lvl="0" marL="228600" marR="0" rtl="1" algn="r">
              <a:spcBef>
                <a:spcPts val="1000"/>
              </a:spcBef>
              <a:spcAft>
                <a:spcPts val="0"/>
              </a:spcAft>
              <a:buClr>
                <a:srgbClr val="E9E9ED"/>
              </a:buClr>
              <a:buSzPts val="2100"/>
              <a:buFont typeface="Arial"/>
              <a:buChar char="•"/>
            </a:pPr>
            <a:r>
              <a:rPr b="0" i="0" lang="iw-IL" sz="2100" u="none" cap="none" strike="noStrike">
                <a:solidFill>
                  <a:srgbClr val="E9E9ED"/>
                </a:solidFill>
                <a:latin typeface="Arial"/>
                <a:ea typeface="Arial"/>
                <a:cs typeface="Arial"/>
                <a:sym typeface="Arial"/>
              </a:rPr>
              <a:t>כל מטופל שממתין מקבל טיימר להערכה חוזרת. ככל שהוא דחוף יותר, הטיימר קצר יותר.</a:t>
            </a:r>
            <a:endParaRPr b="0" i="0" sz="2100" u="none" cap="none" strike="noStrike">
              <a:solidFill>
                <a:schemeClr val="dk1"/>
              </a:solidFill>
              <a:latin typeface="Calibri"/>
              <a:ea typeface="Calibri"/>
              <a:cs typeface="Calibri"/>
              <a:sym typeface="Calibri"/>
            </a:endParaRPr>
          </a:p>
        </p:txBody>
      </p:sp>
      <p:sp>
        <p:nvSpPr>
          <p:cNvPr id="41" name="Google Shape;41;p2"/>
          <p:cNvSpPr/>
          <p:nvPr/>
        </p:nvSpPr>
        <p:spPr>
          <a:xfrm>
            <a:off x="914400" y="2103120"/>
            <a:ext cx="5120640" cy="4114800"/>
          </a:xfrm>
          <a:prstGeom prst="roundRect">
            <a:avLst>
              <a:gd fmla="val 2667" name="adj"/>
            </a:avLst>
          </a:prstGeom>
          <a:solidFill>
            <a:srgbClr val="2B2960"/>
          </a:solidFill>
          <a:ln cap="flat" cmpd="sng" w="12700">
            <a:solidFill>
              <a:srgbClr val="4C539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txBox="1"/>
          <p:nvPr/>
        </p:nvSpPr>
        <p:spPr>
          <a:xfrm>
            <a:off x="1280160" y="2423160"/>
            <a:ext cx="438912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מדדי הצלחה</a:t>
            </a:r>
            <a:endParaRPr b="0" i="0" sz="1900" u="none" cap="none" strike="noStrike">
              <a:solidFill>
                <a:schemeClr val="dk1"/>
              </a:solidFill>
              <a:latin typeface="Calibri"/>
              <a:ea typeface="Calibri"/>
              <a:cs typeface="Calibri"/>
              <a:sym typeface="Calibri"/>
            </a:endParaRPr>
          </a:p>
        </p:txBody>
      </p:sp>
      <p:sp>
        <p:nvSpPr>
          <p:cNvPr id="43" name="Google Shape;43;p2"/>
          <p:cNvSpPr txBox="1"/>
          <p:nvPr/>
        </p:nvSpPr>
        <p:spPr>
          <a:xfrm>
            <a:off x="2468880" y="3063240"/>
            <a:ext cx="3200400" cy="82296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800"/>
              <a:buFont typeface="Arial"/>
              <a:buNone/>
            </a:pPr>
            <a:r>
              <a:rPr lang="iw-IL" sz="1800">
                <a:solidFill>
                  <a:srgbClr val="E9E9ED"/>
                </a:solidFill>
              </a:rPr>
              <a:t>0 </a:t>
            </a:r>
            <a:r>
              <a:rPr b="0" i="0" lang="iw-IL" sz="1800" u="none" cap="none" strike="noStrike">
                <a:solidFill>
                  <a:srgbClr val="E9E9ED"/>
                </a:solidFill>
                <a:latin typeface="Arial"/>
                <a:ea typeface="Arial"/>
                <a:cs typeface="Arial"/>
                <a:sym typeface="Arial"/>
              </a:rPr>
              <a:t>מטופלים שמחכים אחרי מטופל פחות דחוף מהם</a:t>
            </a:r>
            <a:endParaRPr b="0" i="0" sz="1800" u="none" cap="none" strike="noStrike">
              <a:solidFill>
                <a:schemeClr val="dk1"/>
              </a:solidFill>
              <a:latin typeface="Calibri"/>
              <a:ea typeface="Calibri"/>
              <a:cs typeface="Calibri"/>
              <a:sym typeface="Calibri"/>
            </a:endParaRPr>
          </a:p>
        </p:txBody>
      </p:sp>
      <p:sp>
        <p:nvSpPr>
          <p:cNvPr id="44" name="Google Shape;44;p2"/>
          <p:cNvSpPr txBox="1"/>
          <p:nvPr/>
        </p:nvSpPr>
        <p:spPr>
          <a:xfrm>
            <a:off x="1280160" y="4069080"/>
            <a:ext cx="4389120" cy="2011680"/>
          </a:xfrm>
          <a:prstGeom prst="rect">
            <a:avLst/>
          </a:prstGeom>
          <a:noFill/>
          <a:ln>
            <a:noFill/>
          </a:ln>
        </p:spPr>
        <p:txBody>
          <a:bodyPr anchorCtr="0" anchor="t" bIns="0" lIns="0" spcFirstLastPara="1" rIns="0" wrap="square" tIns="0">
            <a:noAutofit/>
          </a:bodyPr>
          <a:lstStyle/>
          <a:p>
            <a:pPr indent="-342900" lvl="0" marL="457200" rtl="1" algn="r">
              <a:spcBef>
                <a:spcPts val="0"/>
              </a:spcBef>
              <a:spcAft>
                <a:spcPts val="0"/>
              </a:spcAft>
              <a:buClr>
                <a:srgbClr val="E9E9ED"/>
              </a:buClr>
              <a:buSzPts val="1800"/>
              <a:buChar char="•"/>
            </a:pPr>
            <a:r>
              <a:rPr lang="iw-IL" sz="1800">
                <a:solidFill>
                  <a:srgbClr val="E9E9ED"/>
                </a:solidFill>
              </a:rPr>
              <a:t>אף מטופל לא נשכח </a:t>
            </a:r>
            <a:endParaRPr sz="1800">
              <a:solidFill>
                <a:srgbClr val="E9E9ED"/>
              </a:solidFill>
            </a:endParaRPr>
          </a:p>
          <a:p>
            <a:pPr indent="-342900" lvl="0" marL="457200" rtl="1" algn="r">
              <a:spcBef>
                <a:spcPts val="0"/>
              </a:spcBef>
              <a:spcAft>
                <a:spcPts val="0"/>
              </a:spcAft>
              <a:buClr>
                <a:srgbClr val="E9E9ED"/>
              </a:buClr>
              <a:buSzPts val="1800"/>
              <a:buChar char="•"/>
            </a:pPr>
            <a:r>
              <a:rPr b="0" i="0" lang="iw-IL" sz="1800" u="none" cap="none" strike="noStrike">
                <a:solidFill>
                  <a:srgbClr val="E9E9ED"/>
                </a:solidFill>
                <a:latin typeface="Arial"/>
                <a:ea typeface="Arial"/>
                <a:cs typeface="Arial"/>
                <a:sym typeface="Arial"/>
              </a:rPr>
              <a:t>אף</a:t>
            </a:r>
            <a:r>
              <a:rPr b="0" i="0" lang="iw-IL" sz="1800" u="none" cap="none" strike="noStrike">
                <a:solidFill>
                  <a:srgbClr val="E9E9ED"/>
                </a:solidFill>
                <a:latin typeface="Arial"/>
                <a:ea typeface="Arial"/>
                <a:cs typeface="Arial"/>
                <a:sym typeface="Arial"/>
              </a:rPr>
              <a:t> מטופל לא מתחיל טיפול בלי בדיקת בטיחות ואישור נדרש.</a:t>
            </a:r>
            <a:endParaRPr sz="1800">
              <a:solidFill>
                <a:schemeClr val="dk1"/>
              </a:solidFill>
              <a:latin typeface="Calibri"/>
              <a:ea typeface="Calibri"/>
              <a:cs typeface="Calibri"/>
              <a:sym typeface="Calibri"/>
            </a:endParaRPr>
          </a:p>
          <a:p>
            <a:pPr indent="-342900" lvl="0" marL="457200" rtl="1" algn="r">
              <a:spcBef>
                <a:spcPts val="0"/>
              </a:spcBef>
              <a:spcAft>
                <a:spcPts val="0"/>
              </a:spcAft>
              <a:buClr>
                <a:srgbClr val="E9E9ED"/>
              </a:buClr>
              <a:buSzPts val="1800"/>
              <a:buChar char="•"/>
            </a:pPr>
            <a:r>
              <a:rPr b="0" i="0" lang="iw-IL" sz="1800" u="none" cap="none" strike="noStrike">
                <a:solidFill>
                  <a:srgbClr val="E9E9ED"/>
                </a:solidFill>
                <a:latin typeface="Arial"/>
                <a:ea typeface="Arial"/>
                <a:cs typeface="Arial"/>
                <a:sym typeface="Arial"/>
              </a:rPr>
              <a:t>אף פרט מזהה לא מגיע ל-AI</a:t>
            </a:r>
            <a:r>
              <a:rPr lang="iw-IL" sz="1800">
                <a:solidFill>
                  <a:srgbClr val="E9E9ED"/>
                </a:solidFill>
              </a:rPr>
              <a:t> (מייל, שם, ת"ז…)</a:t>
            </a:r>
            <a:endParaRPr sz="1800">
              <a:solidFill>
                <a:schemeClr val="dk1"/>
              </a:solidFill>
              <a:latin typeface="Calibri"/>
              <a:ea typeface="Calibri"/>
              <a:cs typeface="Calibri"/>
              <a:sym typeface="Calibri"/>
            </a:endParaRPr>
          </a:p>
          <a:p>
            <a:pPr indent="-342900" lvl="0" marL="457200" rtl="1" algn="r">
              <a:spcBef>
                <a:spcPts val="0"/>
              </a:spcBef>
              <a:spcAft>
                <a:spcPts val="0"/>
              </a:spcAft>
              <a:buClr>
                <a:srgbClr val="E9E9ED"/>
              </a:buClr>
              <a:buSzPts val="1800"/>
              <a:buChar char="•"/>
            </a:pPr>
            <a:r>
              <a:rPr b="0" i="0" lang="iw-IL" sz="1800" u="none" cap="none" strike="noStrike">
                <a:solidFill>
                  <a:srgbClr val="E9E9ED"/>
                </a:solidFill>
                <a:latin typeface="Arial"/>
                <a:ea typeface="Arial"/>
                <a:cs typeface="Arial"/>
                <a:sym typeface="Arial"/>
              </a:rPr>
              <a:t>כל פעולה נרשמת ביומן המקרה, עם הסבר.</a:t>
            </a:r>
            <a:endParaRPr b="0" i="0" sz="1800" u="none" cap="none" strike="noStrike">
              <a:solidFill>
                <a:schemeClr val="dk1"/>
              </a:solidFill>
              <a:latin typeface="Calibri"/>
              <a:ea typeface="Calibri"/>
              <a:cs typeface="Calibri"/>
              <a:sym typeface="Calibri"/>
            </a:endParaRPr>
          </a:p>
        </p:txBody>
      </p:sp>
      <p:sp>
        <p:nvSpPr>
          <p:cNvPr id="45" name="Google Shape;45;p2"/>
          <p:cNvSpPr/>
          <p:nvPr/>
        </p:nvSpPr>
        <p:spPr>
          <a:xfrm>
            <a:off x="12252960" y="6583680"/>
            <a:ext cx="5120640" cy="2468880"/>
          </a:xfrm>
          <a:prstGeom prst="roundRect">
            <a:avLst>
              <a:gd fmla="val 4444"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txBox="1"/>
          <p:nvPr/>
        </p:nvSpPr>
        <p:spPr>
          <a:xfrm>
            <a:off x="12618720" y="6858000"/>
            <a:ext cx="438912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למה לא רק כללים?</a:t>
            </a:r>
            <a:endParaRPr b="0" i="0" sz="1900" u="none" cap="none" strike="noStrike">
              <a:solidFill>
                <a:schemeClr val="dk1"/>
              </a:solidFill>
              <a:latin typeface="Calibri"/>
              <a:ea typeface="Calibri"/>
              <a:cs typeface="Calibri"/>
              <a:sym typeface="Calibri"/>
            </a:endParaRPr>
          </a:p>
        </p:txBody>
      </p:sp>
      <p:sp>
        <p:nvSpPr>
          <p:cNvPr id="47" name="Google Shape;47;p2"/>
          <p:cNvSpPr txBox="1"/>
          <p:nvPr/>
        </p:nvSpPr>
        <p:spPr>
          <a:xfrm>
            <a:off x="12618720" y="7452360"/>
            <a:ext cx="4389120" cy="146304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ההחלטה כמה מטופל דחוף דורשת שיקול דעת קליני, ואין לה רשימה סגורה של חוקים.</a:t>
            </a:r>
            <a:endParaRPr b="0" i="0" sz="1900" u="none" cap="none" strike="noStrike">
              <a:solidFill>
                <a:schemeClr val="dk1"/>
              </a:solidFill>
              <a:latin typeface="Calibri"/>
              <a:ea typeface="Calibri"/>
              <a:cs typeface="Calibri"/>
              <a:sym typeface="Calibri"/>
            </a:endParaRPr>
          </a:p>
        </p:txBody>
      </p:sp>
      <p:sp>
        <p:nvSpPr>
          <p:cNvPr id="48" name="Google Shape;48;p2"/>
          <p:cNvSpPr/>
          <p:nvPr/>
        </p:nvSpPr>
        <p:spPr>
          <a:xfrm>
            <a:off x="6583680" y="6583680"/>
            <a:ext cx="5120640" cy="2468880"/>
          </a:xfrm>
          <a:prstGeom prst="roundRect">
            <a:avLst>
              <a:gd fmla="val 4444"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txBox="1"/>
          <p:nvPr/>
        </p:nvSpPr>
        <p:spPr>
          <a:xfrm>
            <a:off x="6949440" y="6858000"/>
            <a:ext cx="438912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למה לא רק AI?</a:t>
            </a:r>
            <a:endParaRPr b="0" i="0" sz="1900" u="none" cap="none" strike="noStrike">
              <a:solidFill>
                <a:schemeClr val="dk1"/>
              </a:solidFill>
              <a:latin typeface="Calibri"/>
              <a:ea typeface="Calibri"/>
              <a:cs typeface="Calibri"/>
              <a:sym typeface="Calibri"/>
            </a:endParaRPr>
          </a:p>
        </p:txBody>
      </p:sp>
      <p:sp>
        <p:nvSpPr>
          <p:cNvPr id="50" name="Google Shape;50;p2"/>
          <p:cNvSpPr txBox="1"/>
          <p:nvPr/>
        </p:nvSpPr>
        <p:spPr>
          <a:xfrm>
            <a:off x="6949440" y="7452360"/>
            <a:ext cx="4389120" cy="146304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ה-AI יכול לטעות, הוא לא נותן דין וחשבון, ואפשר לנסות "לשכנע" אותו.</a:t>
            </a:r>
            <a:endParaRPr b="0" i="0" sz="1900" u="none" cap="none" strike="noStrike">
              <a:solidFill>
                <a:schemeClr val="dk1"/>
              </a:solidFill>
              <a:latin typeface="Calibri"/>
              <a:ea typeface="Calibri"/>
              <a:cs typeface="Calibri"/>
              <a:sym typeface="Calibri"/>
            </a:endParaRPr>
          </a:p>
        </p:txBody>
      </p:sp>
      <p:sp>
        <p:nvSpPr>
          <p:cNvPr id="51" name="Google Shape;51;p2"/>
          <p:cNvSpPr txBox="1"/>
          <p:nvPr/>
        </p:nvSpPr>
        <p:spPr>
          <a:xfrm>
            <a:off x="1097280" y="6766560"/>
            <a:ext cx="4754880" cy="21031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D2CEFD"/>
              </a:buClr>
              <a:buSzPts val="2800"/>
              <a:buFont typeface="Arial"/>
              <a:buNone/>
            </a:pPr>
            <a:r>
              <a:rPr b="0" i="0" lang="iw-IL" sz="2800" u="none" cap="none" strike="noStrike">
                <a:solidFill>
                  <a:srgbClr val="D2CEFD"/>
                </a:solidFill>
                <a:latin typeface="Arial"/>
                <a:ea typeface="Arial"/>
                <a:cs typeface="Arial"/>
                <a:sym typeface="Arial"/>
              </a:rPr>
              <a:t>ה-AI רק מציע.</a:t>
            </a:r>
            <a:endParaRPr b="0" i="0" sz="2800" u="none" cap="none" strike="noStrike">
              <a:solidFill>
                <a:schemeClr val="dk1"/>
              </a:solidFill>
              <a:latin typeface="Calibri"/>
              <a:ea typeface="Calibri"/>
              <a:cs typeface="Calibri"/>
              <a:sym typeface="Calibri"/>
            </a:endParaRPr>
          </a:p>
          <a:p>
            <a:pPr indent="0" lvl="0" marL="0" marR="0" rtl="1" algn="r">
              <a:spcBef>
                <a:spcPts val="600"/>
              </a:spcBef>
              <a:spcAft>
                <a:spcPts val="0"/>
              </a:spcAft>
              <a:buClr>
                <a:srgbClr val="D2CEFD"/>
              </a:buClr>
              <a:buSzPts val="2800"/>
              <a:buFont typeface="Arial"/>
              <a:buNone/>
            </a:pPr>
            <a:r>
              <a:rPr b="0" i="0" lang="iw-IL" sz="2800" u="none" cap="none" strike="noStrike">
                <a:solidFill>
                  <a:srgbClr val="D2CEFD"/>
                </a:solidFill>
                <a:latin typeface="Arial"/>
                <a:ea typeface="Arial"/>
                <a:cs typeface="Arial"/>
                <a:sym typeface="Arial"/>
              </a:rPr>
              <a:t>הכללים מחליטים.</a:t>
            </a:r>
            <a:endParaRPr b="0" i="0" sz="2800" u="none" cap="none" strike="noStrike">
              <a:solidFill>
                <a:schemeClr val="dk1"/>
              </a:solidFill>
              <a:latin typeface="Calibri"/>
              <a:ea typeface="Calibri"/>
              <a:cs typeface="Calibri"/>
              <a:sym typeface="Calibri"/>
            </a:endParaRPr>
          </a:p>
          <a:p>
            <a:pPr indent="0" lvl="0" marL="0" marR="0" rtl="1" algn="r">
              <a:spcBef>
                <a:spcPts val="600"/>
              </a:spcBef>
              <a:spcAft>
                <a:spcPts val="0"/>
              </a:spcAft>
              <a:buClr>
                <a:srgbClr val="D2CEFD"/>
              </a:buClr>
              <a:buSzPts val="2800"/>
              <a:buFont typeface="Arial"/>
              <a:buNone/>
            </a:pPr>
            <a:r>
              <a:rPr b="0" i="0" lang="iw-IL" sz="2800" u="none" cap="none" strike="noStrike">
                <a:solidFill>
                  <a:srgbClr val="D2CEFD"/>
                </a:solidFill>
                <a:latin typeface="Arial"/>
                <a:ea typeface="Arial"/>
                <a:cs typeface="Arial"/>
                <a:sym typeface="Arial"/>
              </a:rPr>
              <a:t>בן אדם מאשר כשזה חשוב.</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6"/>
        </a:solidFill>
      </p:bgPr>
    </p:bg>
    <p:spTree>
      <p:nvGrpSpPr>
        <p:cNvPr id="56" name="Shape 56"/>
        <p:cNvGrpSpPr/>
        <p:nvPr/>
      </p:nvGrpSpPr>
      <p:grpSpPr>
        <a:xfrm>
          <a:off x="0" y="0"/>
          <a:ext cx="0" cy="0"/>
          <a:chOff x="0" y="0"/>
          <a:chExt cx="0" cy="0"/>
        </a:xfrm>
      </p:grpSpPr>
      <p:sp>
        <p:nvSpPr>
          <p:cNvPr id="57" name="Google Shape;57;p3"/>
          <p:cNvSpPr txBox="1"/>
          <p:nvPr/>
        </p:nvSpPr>
        <p:spPr>
          <a:xfrm>
            <a:off x="91440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97AB"/>
              </a:buClr>
              <a:buSzPts val="1600"/>
              <a:buFont typeface="Courier New"/>
              <a:buNone/>
            </a:pPr>
            <a:r>
              <a:rPr b="0" i="0" lang="iw-IL" sz="1600" u="none" cap="none" strike="noStrike">
                <a:solidFill>
                  <a:srgbClr val="9397AB"/>
                </a:solidFill>
                <a:latin typeface="Courier New"/>
                <a:ea typeface="Courier New"/>
                <a:cs typeface="Courier New"/>
                <a:sym typeface="Courier New"/>
              </a:rPr>
              <a:t>03 · Technology</a:t>
            </a:r>
            <a:endParaRPr b="0" i="0" sz="1600" u="none" cap="none" strike="noStrike">
              <a:solidFill>
                <a:schemeClr val="dk1"/>
              </a:solidFill>
              <a:latin typeface="Calibri"/>
              <a:ea typeface="Calibri"/>
              <a:cs typeface="Calibri"/>
              <a:sym typeface="Calibri"/>
            </a:endParaRPr>
          </a:p>
        </p:txBody>
      </p:sp>
      <p:sp>
        <p:nvSpPr>
          <p:cNvPr id="58" name="Google Shape;58;p3"/>
          <p:cNvSpPr txBox="1"/>
          <p:nvPr/>
        </p:nvSpPr>
        <p:spPr>
          <a:xfrm>
            <a:off x="3657600" y="411480"/>
            <a:ext cx="13716000" cy="10972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4800"/>
              <a:buFont typeface="Arial"/>
              <a:buNone/>
            </a:pPr>
            <a:r>
              <a:rPr b="0" i="0" lang="iw-IL" sz="4800" u="none" cap="none" strike="noStrike">
                <a:solidFill>
                  <a:srgbClr val="E9E9ED"/>
                </a:solidFill>
                <a:latin typeface="Arial"/>
                <a:ea typeface="Arial"/>
                <a:cs typeface="Arial"/>
                <a:sym typeface="Arial"/>
              </a:rPr>
              <a:t>הטכנולוגיות, ולמה בחרנו בכל אחת</a:t>
            </a:r>
            <a:endParaRPr b="0" i="0" sz="4800" u="none" cap="none" strike="noStrike">
              <a:solidFill>
                <a:schemeClr val="dk1"/>
              </a:solidFill>
              <a:latin typeface="Calibri"/>
              <a:ea typeface="Calibri"/>
              <a:cs typeface="Calibri"/>
              <a:sym typeface="Calibri"/>
            </a:endParaRPr>
          </a:p>
        </p:txBody>
      </p:sp>
      <p:graphicFrame>
        <p:nvGraphicFramePr>
          <p:cNvPr id="59" name="Google Shape;59;p3"/>
          <p:cNvGraphicFramePr/>
          <p:nvPr/>
        </p:nvGraphicFramePr>
        <p:xfrm>
          <a:off x="914400" y="1920240"/>
          <a:ext cx="3000000" cy="3000000"/>
        </p:xfrm>
        <a:graphic>
          <a:graphicData uri="http://schemas.openxmlformats.org/drawingml/2006/table">
            <a:tbl>
              <a:tblPr>
                <a:noFill/>
                <a:tableStyleId>{04CC930A-5F64-4B84-AD67-B738C2A8A3AE}</a:tableStyleId>
              </a:tblPr>
              <a:tblGrid>
                <a:gridCol w="3474725"/>
                <a:gridCol w="10058400"/>
                <a:gridCol w="2926075"/>
              </a:tblGrid>
              <a:tr h="548650">
                <a:tc>
                  <a:txBody>
                    <a:bodyPr/>
                    <a:lstStyle/>
                    <a:p>
                      <a:pPr indent="0" lvl="0" marL="0" marR="0" rtl="1" algn="r">
                        <a:spcBef>
                          <a:spcPts val="0"/>
                        </a:spcBef>
                        <a:spcAft>
                          <a:spcPts val="0"/>
                        </a:spcAft>
                        <a:buClr>
                          <a:srgbClr val="D2CEFD"/>
                        </a:buClr>
                        <a:buSzPts val="1700"/>
                        <a:buFont typeface="Arial"/>
                        <a:buNone/>
                      </a:pPr>
                      <a:r>
                        <a:rPr b="1" lang="iw-IL" sz="1700" u="none" cap="none" strike="noStrike">
                          <a:solidFill>
                            <a:srgbClr val="D2CEFD"/>
                          </a:solidFill>
                          <a:latin typeface="Arial"/>
                          <a:ea typeface="Arial"/>
                          <a:cs typeface="Arial"/>
                          <a:sym typeface="Arial"/>
                        </a:rPr>
                        <a:t>מתי היא רצה</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c>
                  <a:txBody>
                    <a:bodyPr/>
                    <a:lstStyle/>
                    <a:p>
                      <a:pPr indent="0" lvl="0" marL="0" marR="0" rtl="1" algn="r">
                        <a:spcBef>
                          <a:spcPts val="0"/>
                        </a:spcBef>
                        <a:spcAft>
                          <a:spcPts val="0"/>
                        </a:spcAft>
                        <a:buClr>
                          <a:srgbClr val="D2CEFD"/>
                        </a:buClr>
                        <a:buSzPts val="1700"/>
                        <a:buFont typeface="Arial"/>
                        <a:buNone/>
                      </a:pPr>
                      <a:r>
                        <a:rPr b="1" lang="iw-IL" sz="1700" u="none" cap="none" strike="noStrike">
                          <a:solidFill>
                            <a:srgbClr val="D2CEFD"/>
                          </a:solidFill>
                          <a:latin typeface="Arial"/>
                          <a:ea typeface="Arial"/>
                          <a:cs typeface="Arial"/>
                          <a:sym typeface="Arial"/>
                        </a:rPr>
                        <a:t>מה היא עושה בשבילנו</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c>
                  <a:txBody>
                    <a:bodyPr/>
                    <a:lstStyle/>
                    <a:p>
                      <a:pPr indent="0" lvl="0" marL="0" marR="0" rtl="1" algn="r">
                        <a:spcBef>
                          <a:spcPts val="0"/>
                        </a:spcBef>
                        <a:spcAft>
                          <a:spcPts val="0"/>
                        </a:spcAft>
                        <a:buClr>
                          <a:srgbClr val="D2CEFD"/>
                        </a:buClr>
                        <a:buSzPts val="1700"/>
                        <a:buFont typeface="Arial"/>
                        <a:buNone/>
                      </a:pPr>
                      <a:r>
                        <a:rPr b="1" lang="iw-IL" sz="1700" u="none" cap="none" strike="noStrike">
                          <a:solidFill>
                            <a:srgbClr val="D2CEFD"/>
                          </a:solidFill>
                          <a:latin typeface="Arial"/>
                          <a:ea typeface="Arial"/>
                          <a:cs typeface="Arial"/>
                          <a:sym typeface="Arial"/>
                        </a:rPr>
                        <a:t>טכנולוגיה</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r>
              <a:tr h="1000000">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זמן ריצה, בכל שלב</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כל מעבר בין שלבים מוגדר מראש, אז המערכת לא יכולה לאלתר. המצב נשמר במסד הנתונים אחרי כל שלב, ואם המערכת נעצרת, המקרה ממשיך בדיוק מאותה נקודה.</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950"/>
                        <a:buFont typeface="Arial"/>
                        <a:buNone/>
                      </a:pPr>
                      <a:r>
                        <a:rPr b="1" lang="iw-IL" sz="1950" u="none" cap="none" strike="noStrike">
                          <a:solidFill>
                            <a:srgbClr val="E9E9ED"/>
                          </a:solidFill>
                          <a:latin typeface="Arial"/>
                          <a:ea typeface="Arial"/>
                          <a:cs typeface="Arial"/>
                          <a:sym typeface="Arial"/>
                        </a:rPr>
                        <a:t>LangGraph</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700000">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זמן ריצה, פעם אחת לכל </a:t>
                      </a:r>
                      <a:r>
                        <a:rPr lang="iw-IL" sz="1950">
                          <a:solidFill>
                            <a:srgbClr val="E9E9ED"/>
                          </a:solidFill>
                        </a:rPr>
                        <a:t>סיווג</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קורא את הנתונים הרפואיים ומציע רמת דחיפות. זה השלב היחיד שדורש שיקול דעת.</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950"/>
                        <a:buFont typeface="Arial"/>
                        <a:buNone/>
                      </a:pPr>
                      <a:r>
                        <a:rPr b="1" lang="iw-IL" sz="1950" u="none" cap="none" strike="noStrike">
                          <a:solidFill>
                            <a:srgbClr val="E9E9ED"/>
                          </a:solidFill>
                          <a:latin typeface="Arial"/>
                          <a:ea typeface="Arial"/>
                          <a:cs typeface="Arial"/>
                          <a:sym typeface="Arial"/>
                        </a:rPr>
                        <a:t>מודל AI (LLM)</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700000">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זמן ריצה, לפני כל פעולה רגישה</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מנוע המדיניות. קובע מה מותר לעשות ומה מותר להעביר ל-AI. המדיניות כתובה בקובץ נפרד מהקוד.</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950"/>
                        <a:buFont typeface="Arial"/>
                        <a:buNone/>
                      </a:pPr>
                      <a:r>
                        <a:rPr b="1" lang="iw-IL" sz="1950" u="none" cap="none" strike="noStrike">
                          <a:solidFill>
                            <a:srgbClr val="E9E9ED"/>
                          </a:solidFill>
                          <a:latin typeface="Arial"/>
                          <a:ea typeface="Arial"/>
                          <a:cs typeface="Arial"/>
                          <a:sym typeface="Arial"/>
                        </a:rPr>
                        <a:t>OPA</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700000">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זמן ריצה</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בודק שהרשומה של המקרה הגיונית, ומסביר במילים למה משהו נחסם.</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950"/>
                        <a:buFont typeface="Arial"/>
                        <a:buNone/>
                      </a:pPr>
                      <a:r>
                        <a:rPr b="1" lang="iw-IL" sz="1950" u="none" cap="none" strike="noStrike">
                          <a:solidFill>
                            <a:srgbClr val="E9E9ED"/>
                          </a:solidFill>
                          <a:latin typeface="Arial"/>
                          <a:ea typeface="Arial"/>
                          <a:cs typeface="Arial"/>
                          <a:sym typeface="Arial"/>
                        </a:rPr>
                        <a:t>Prolog</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700000">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זמן ריצה</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בודק את כל המערכת יחד: האם יש מטופל שאף טיימר לא שומר עליו.</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950"/>
                        <a:buFont typeface="Arial"/>
                        <a:buNone/>
                      </a:pPr>
                      <a:r>
                        <a:rPr b="1" lang="iw-IL" sz="1950" u="none" cap="none" strike="noStrike">
                          <a:solidFill>
                            <a:srgbClr val="E9E9ED"/>
                          </a:solidFill>
                          <a:latin typeface="Arial"/>
                          <a:ea typeface="Arial"/>
                          <a:cs typeface="Arial"/>
                          <a:sym typeface="Arial"/>
                        </a:rPr>
                        <a:t>Datalog</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700000">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זמן ריצה, במוניטור</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בוחר לכל טיימר פעולה אחת, וחוסם פעולה לא בטוחה כמו שליחה כפולה או התראה מיותרת.</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950"/>
                        <a:buFont typeface="Arial"/>
                        <a:buNone/>
                      </a:pPr>
                      <a:r>
                        <a:rPr b="1" lang="iw-IL" sz="1950" u="none" cap="none" strike="noStrike">
                          <a:solidFill>
                            <a:srgbClr val="E9E9ED"/>
                          </a:solidFill>
                          <a:latin typeface="Arial"/>
                          <a:ea typeface="Arial"/>
                          <a:cs typeface="Arial"/>
                          <a:sym typeface="Arial"/>
                        </a:rPr>
                        <a:t>BPpy</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700000">
                <a:tc>
                  <a:txBody>
                    <a:bodyPr/>
                    <a:lstStyle/>
                    <a:p>
                      <a:pPr indent="0" lvl="0" marL="0" marR="0" rtl="1" algn="r">
                        <a:spcBef>
                          <a:spcPts val="0"/>
                        </a:spcBef>
                        <a:spcAft>
                          <a:spcPts val="0"/>
                        </a:spcAft>
                        <a:buClr>
                          <a:srgbClr val="D2CEFD"/>
                        </a:buClr>
                        <a:buSzPts val="1950"/>
                        <a:buFont typeface="Arial"/>
                        <a:buNone/>
                      </a:pPr>
                      <a:r>
                        <a:rPr lang="iw-IL" sz="1950" u="none" cap="none" strike="noStrike">
                          <a:solidFill>
                            <a:srgbClr val="D2CEFD"/>
                          </a:solidFill>
                          <a:latin typeface="Arial"/>
                          <a:ea typeface="Arial"/>
                          <a:cs typeface="Arial"/>
                          <a:sym typeface="Arial"/>
                        </a:rPr>
                        <a:t>זמן תכנון, לפני שיש מטופל אחד</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מוכיח מתמטית שהכללים נכונים לכל קלט אפשרי, במקום לבדוק רק כמה דוגמאות.</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950"/>
                        <a:buFont typeface="Arial"/>
                        <a:buNone/>
                      </a:pPr>
                      <a:r>
                        <a:rPr b="1" lang="iw-IL" sz="1950" u="none" cap="none" strike="noStrike">
                          <a:solidFill>
                            <a:srgbClr val="E9E9ED"/>
                          </a:solidFill>
                          <a:latin typeface="Arial"/>
                          <a:ea typeface="Arial"/>
                          <a:cs typeface="Arial"/>
                          <a:sym typeface="Arial"/>
                        </a:rPr>
                        <a:t>Z3</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700000">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זמן ריצה, תמיד</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מסד הנתונים. שומר כל מקרה, כל טיימר ואת יומן המקרה, כך ששום דבר לא הולך לאיבוד.</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950"/>
                        <a:buFont typeface="Arial"/>
                        <a:buNone/>
                      </a:pPr>
                      <a:r>
                        <a:rPr b="1" lang="iw-IL" sz="1950" u="none" cap="none" strike="noStrike">
                          <a:solidFill>
                            <a:srgbClr val="E9E9ED"/>
                          </a:solidFill>
                          <a:latin typeface="Arial"/>
                          <a:ea typeface="Arial"/>
                          <a:cs typeface="Arial"/>
                          <a:sym typeface="Arial"/>
                        </a:rPr>
                        <a:t>Postgres</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700000">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זמן ריצה, ברקע</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מציג כל ריצה שלב אחרי שלב, כך שרואים איפה משהו האט או נכשל.</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950"/>
                        <a:buFont typeface="Arial"/>
                        <a:buNone/>
                      </a:pPr>
                      <a:r>
                        <a:rPr b="1" lang="iw-IL" sz="1950" u="none" cap="none" strike="noStrike">
                          <a:solidFill>
                            <a:srgbClr val="E9E9ED"/>
                          </a:solidFill>
                          <a:latin typeface="Arial"/>
                          <a:ea typeface="Arial"/>
                          <a:cs typeface="Arial"/>
                          <a:sym typeface="Arial"/>
                        </a:rPr>
                        <a:t>Langfuse</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700000">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זמן ריצה</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950"/>
                        <a:buFont typeface="Arial"/>
                        <a:buNone/>
                      </a:pPr>
                      <a:r>
                        <a:rPr lang="iw-IL" sz="1950" u="none" cap="none" strike="noStrike">
                          <a:solidFill>
                            <a:srgbClr val="E9E9ED"/>
                          </a:solidFill>
                          <a:latin typeface="Arial"/>
                          <a:ea typeface="Arial"/>
                          <a:cs typeface="Arial"/>
                          <a:sym typeface="Arial"/>
                        </a:rPr>
                        <a:t>שרת קטן ומהיר לכל שירות (ה-board ומערכת הרשומות).</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950"/>
                        <a:buFont typeface="Arial"/>
                        <a:buNone/>
                      </a:pPr>
                      <a:r>
                        <a:rPr b="1" lang="iw-IL" sz="1950" u="none" cap="none" strike="noStrike">
                          <a:solidFill>
                            <a:srgbClr val="E9E9ED"/>
                          </a:solidFill>
                          <a:latin typeface="Arial"/>
                          <a:ea typeface="Arial"/>
                          <a:cs typeface="Arial"/>
                          <a:sym typeface="Arial"/>
                        </a:rPr>
                        <a:t>FastAPI</a:t>
                      </a:r>
                      <a:endParaRPr sz="19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6"/>
        </a:solidFill>
      </p:bgPr>
    </p:bg>
    <p:spTree>
      <p:nvGrpSpPr>
        <p:cNvPr id="64" name="Shape 64"/>
        <p:cNvGrpSpPr/>
        <p:nvPr/>
      </p:nvGrpSpPr>
      <p:grpSpPr>
        <a:xfrm>
          <a:off x="0" y="0"/>
          <a:ext cx="0" cy="0"/>
          <a:chOff x="0" y="0"/>
          <a:chExt cx="0" cy="0"/>
        </a:xfrm>
      </p:grpSpPr>
      <p:sp>
        <p:nvSpPr>
          <p:cNvPr id="65" name="Google Shape;65;p4"/>
          <p:cNvSpPr txBox="1"/>
          <p:nvPr/>
        </p:nvSpPr>
        <p:spPr>
          <a:xfrm>
            <a:off x="91440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97AB"/>
              </a:buClr>
              <a:buSzPts val="1600"/>
              <a:buFont typeface="Courier New"/>
              <a:buNone/>
            </a:pPr>
            <a:r>
              <a:rPr b="0" i="0" lang="iw-IL" sz="1600" u="none" cap="none" strike="noStrike">
                <a:solidFill>
                  <a:srgbClr val="9397AB"/>
                </a:solidFill>
                <a:latin typeface="Courier New"/>
                <a:ea typeface="Courier New"/>
                <a:cs typeface="Courier New"/>
                <a:sym typeface="Courier New"/>
              </a:rPr>
              <a:t>04 · State Machine</a:t>
            </a:r>
            <a:endParaRPr b="0" i="0" sz="1600" u="none" cap="none" strike="noStrike">
              <a:solidFill>
                <a:schemeClr val="dk1"/>
              </a:solidFill>
              <a:latin typeface="Calibri"/>
              <a:ea typeface="Calibri"/>
              <a:cs typeface="Calibri"/>
              <a:sym typeface="Calibri"/>
            </a:endParaRPr>
          </a:p>
        </p:txBody>
      </p:sp>
      <p:sp>
        <p:nvSpPr>
          <p:cNvPr id="66" name="Google Shape;66;p4"/>
          <p:cNvSpPr txBox="1"/>
          <p:nvPr/>
        </p:nvSpPr>
        <p:spPr>
          <a:xfrm>
            <a:off x="3657600" y="411480"/>
            <a:ext cx="13716000" cy="10972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4800"/>
              <a:buFont typeface="Arial"/>
              <a:buNone/>
            </a:pPr>
            <a:r>
              <a:rPr b="0" i="0" lang="iw-IL" sz="4800" u="none" cap="none" strike="noStrike">
                <a:solidFill>
                  <a:srgbClr val="E9E9ED"/>
                </a:solidFill>
                <a:latin typeface="Arial"/>
                <a:ea typeface="Arial"/>
                <a:cs typeface="Arial"/>
                <a:sym typeface="Arial"/>
              </a:rPr>
              <a:t>מחזור החיים של מקרה</a:t>
            </a:r>
            <a:endParaRPr b="0" i="0" sz="4800" u="none" cap="none" strike="noStrike">
              <a:solidFill>
                <a:schemeClr val="dk1"/>
              </a:solidFill>
              <a:latin typeface="Calibri"/>
              <a:ea typeface="Calibri"/>
              <a:cs typeface="Calibri"/>
              <a:sym typeface="Calibri"/>
            </a:endParaRPr>
          </a:p>
        </p:txBody>
      </p:sp>
      <p:sp>
        <p:nvSpPr>
          <p:cNvPr id="67" name="Google Shape;67;p4"/>
          <p:cNvSpPr txBox="1"/>
          <p:nvPr/>
        </p:nvSpPr>
        <p:spPr>
          <a:xfrm>
            <a:off x="914400" y="1783080"/>
            <a:ext cx="1645920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המסלול הרגיל של מטופל</a:t>
            </a:r>
            <a:endParaRPr b="0" i="0" sz="1900" u="none" cap="none" strike="noStrike">
              <a:solidFill>
                <a:schemeClr val="dk1"/>
              </a:solidFill>
              <a:latin typeface="Calibri"/>
              <a:ea typeface="Calibri"/>
              <a:cs typeface="Calibri"/>
              <a:sym typeface="Calibri"/>
            </a:endParaRPr>
          </a:p>
        </p:txBody>
      </p:sp>
      <p:sp>
        <p:nvSpPr>
          <p:cNvPr id="68" name="Google Shape;68;p4"/>
          <p:cNvSpPr/>
          <p:nvPr/>
        </p:nvSpPr>
        <p:spPr>
          <a:xfrm>
            <a:off x="15361920" y="2377440"/>
            <a:ext cx="2011680" cy="2514600"/>
          </a:xfrm>
          <a:prstGeom prst="roundRect">
            <a:avLst>
              <a:gd fmla="val 5455"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16687800" y="2606040"/>
            <a:ext cx="457200" cy="457200"/>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txBox="1"/>
          <p:nvPr/>
        </p:nvSpPr>
        <p:spPr>
          <a:xfrm>
            <a:off x="16687800" y="26060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500"/>
              <a:buFont typeface="Arial"/>
              <a:buNone/>
            </a:pPr>
            <a:r>
              <a:rPr b="1" i="0" lang="iw-IL" sz="1500" u="none" cap="none" strike="noStrike">
                <a:solidFill>
                  <a:srgbClr val="161826"/>
                </a:solidFill>
                <a:latin typeface="Arial"/>
                <a:ea typeface="Arial"/>
                <a:cs typeface="Arial"/>
                <a:sym typeface="Arial"/>
              </a:rPr>
              <a:t>1</a:t>
            </a:r>
            <a:endParaRPr b="0" i="0" sz="1500" u="none" cap="none" strike="noStrike">
              <a:solidFill>
                <a:schemeClr val="dk1"/>
              </a:solidFill>
              <a:latin typeface="Calibri"/>
              <a:ea typeface="Calibri"/>
              <a:cs typeface="Calibri"/>
              <a:sym typeface="Calibri"/>
            </a:endParaRPr>
          </a:p>
        </p:txBody>
      </p:sp>
      <p:sp>
        <p:nvSpPr>
          <p:cNvPr id="71" name="Google Shape;71;p4"/>
          <p:cNvSpPr txBox="1"/>
          <p:nvPr/>
        </p:nvSpPr>
        <p:spPr>
          <a:xfrm>
            <a:off x="15544800" y="3200400"/>
            <a:ext cx="164592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1" i="0" lang="iw-IL" sz="1900" u="none" cap="none" strike="noStrike">
                <a:solidFill>
                  <a:srgbClr val="E9E9ED"/>
                </a:solidFill>
                <a:latin typeface="Arial"/>
                <a:ea typeface="Arial"/>
                <a:cs typeface="Arial"/>
                <a:sym typeface="Arial"/>
              </a:rPr>
              <a:t>קליטה</a:t>
            </a:r>
            <a:endParaRPr b="0" i="0" sz="1900" u="none" cap="none" strike="noStrike">
              <a:solidFill>
                <a:schemeClr val="dk1"/>
              </a:solidFill>
              <a:latin typeface="Calibri"/>
              <a:ea typeface="Calibri"/>
              <a:cs typeface="Calibri"/>
              <a:sym typeface="Calibri"/>
            </a:endParaRPr>
          </a:p>
        </p:txBody>
      </p:sp>
      <p:sp>
        <p:nvSpPr>
          <p:cNvPr id="72" name="Google Shape;72;p4"/>
          <p:cNvSpPr txBox="1"/>
          <p:nvPr/>
        </p:nvSpPr>
        <p:spPr>
          <a:xfrm>
            <a:off x="15544800" y="3703320"/>
            <a:ext cx="1645920" cy="1143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650"/>
              <a:buFont typeface="Arial"/>
              <a:buNone/>
            </a:pPr>
            <a:r>
              <a:rPr b="0" i="0" lang="iw-IL" sz="1650" u="none" cap="none" strike="noStrike">
                <a:solidFill>
                  <a:srgbClr val="CFD3E5"/>
                </a:solidFill>
                <a:latin typeface="Arial"/>
                <a:ea typeface="Arial"/>
                <a:cs typeface="Arial"/>
                <a:sym typeface="Arial"/>
              </a:rPr>
              <a:t>האחות ממלאת טופס ומציעה רמת דחיפות</a:t>
            </a:r>
            <a:endParaRPr b="0" i="0" sz="1650" u="none" cap="none" strike="noStrike">
              <a:solidFill>
                <a:schemeClr val="dk1"/>
              </a:solidFill>
              <a:latin typeface="Calibri"/>
              <a:ea typeface="Calibri"/>
              <a:cs typeface="Calibri"/>
              <a:sym typeface="Calibri"/>
            </a:endParaRPr>
          </a:p>
        </p:txBody>
      </p:sp>
      <p:sp>
        <p:nvSpPr>
          <p:cNvPr id="73" name="Google Shape;73;p4"/>
          <p:cNvSpPr txBox="1"/>
          <p:nvPr/>
        </p:nvSpPr>
        <p:spPr>
          <a:xfrm>
            <a:off x="14968728" y="3360420"/>
            <a:ext cx="39319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184D9"/>
              </a:buClr>
              <a:buSzPts val="2200"/>
              <a:buFont typeface="Arial"/>
              <a:buNone/>
            </a:pPr>
            <a:r>
              <a:rPr b="0" i="0" lang="iw-IL" sz="2200" u="none" cap="none" strike="noStrike">
                <a:solidFill>
                  <a:srgbClr val="9184D9"/>
                </a:solidFill>
                <a:latin typeface="Arial"/>
                <a:ea typeface="Arial"/>
                <a:cs typeface="Arial"/>
                <a:sym typeface="Arial"/>
              </a:rPr>
              <a:t>←</a:t>
            </a:r>
            <a:endParaRPr b="0" i="0" sz="2200" u="none" cap="none" strike="noStrike">
              <a:solidFill>
                <a:schemeClr val="dk1"/>
              </a:solidFill>
              <a:latin typeface="Calibri"/>
              <a:ea typeface="Calibri"/>
              <a:cs typeface="Calibri"/>
              <a:sym typeface="Calibri"/>
            </a:endParaRPr>
          </a:p>
        </p:txBody>
      </p:sp>
      <p:sp>
        <p:nvSpPr>
          <p:cNvPr id="74" name="Google Shape;74;p4"/>
          <p:cNvSpPr/>
          <p:nvPr/>
        </p:nvSpPr>
        <p:spPr>
          <a:xfrm>
            <a:off x="12957048" y="2377440"/>
            <a:ext cx="2011680" cy="2514600"/>
          </a:xfrm>
          <a:prstGeom prst="roundRect">
            <a:avLst>
              <a:gd fmla="val 5455"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14282928" y="2606040"/>
            <a:ext cx="457200" cy="457200"/>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txBox="1"/>
          <p:nvPr/>
        </p:nvSpPr>
        <p:spPr>
          <a:xfrm>
            <a:off x="14282928" y="26060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500"/>
              <a:buFont typeface="Arial"/>
              <a:buNone/>
            </a:pPr>
            <a:r>
              <a:rPr b="1" i="0" lang="iw-IL" sz="1500" u="none" cap="none" strike="noStrike">
                <a:solidFill>
                  <a:srgbClr val="161826"/>
                </a:solidFill>
                <a:latin typeface="Arial"/>
                <a:ea typeface="Arial"/>
                <a:cs typeface="Arial"/>
                <a:sym typeface="Arial"/>
              </a:rPr>
              <a:t>2</a:t>
            </a:r>
            <a:endParaRPr b="0" i="0" sz="1500" u="none" cap="none" strike="noStrike">
              <a:solidFill>
                <a:schemeClr val="dk1"/>
              </a:solidFill>
              <a:latin typeface="Calibri"/>
              <a:ea typeface="Calibri"/>
              <a:cs typeface="Calibri"/>
              <a:sym typeface="Calibri"/>
            </a:endParaRPr>
          </a:p>
        </p:txBody>
      </p:sp>
      <p:sp>
        <p:nvSpPr>
          <p:cNvPr id="77" name="Google Shape;77;p4"/>
          <p:cNvSpPr txBox="1"/>
          <p:nvPr/>
        </p:nvSpPr>
        <p:spPr>
          <a:xfrm>
            <a:off x="13139928" y="3200400"/>
            <a:ext cx="164592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1" i="0" lang="iw-IL" sz="1900" u="none" cap="none" strike="noStrike">
                <a:solidFill>
                  <a:srgbClr val="E9E9ED"/>
                </a:solidFill>
                <a:latin typeface="Arial"/>
                <a:ea typeface="Arial"/>
                <a:cs typeface="Arial"/>
                <a:sym typeface="Arial"/>
              </a:rPr>
              <a:t>הכנה</a:t>
            </a:r>
            <a:endParaRPr b="0" i="0" sz="1900" u="none" cap="none" strike="noStrike">
              <a:solidFill>
                <a:schemeClr val="dk1"/>
              </a:solidFill>
              <a:latin typeface="Calibri"/>
              <a:ea typeface="Calibri"/>
              <a:cs typeface="Calibri"/>
              <a:sym typeface="Calibri"/>
            </a:endParaRPr>
          </a:p>
        </p:txBody>
      </p:sp>
      <p:sp>
        <p:nvSpPr>
          <p:cNvPr id="78" name="Google Shape;78;p4"/>
          <p:cNvSpPr txBox="1"/>
          <p:nvPr/>
        </p:nvSpPr>
        <p:spPr>
          <a:xfrm>
            <a:off x="13139928" y="3703320"/>
            <a:ext cx="1645920" cy="1143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650"/>
              <a:buFont typeface="Arial"/>
              <a:buNone/>
            </a:pPr>
            <a:r>
              <a:rPr b="0" i="0" lang="iw-IL" sz="1650" u="none" cap="none" strike="noStrike">
                <a:solidFill>
                  <a:srgbClr val="CFD3E5"/>
                </a:solidFill>
                <a:latin typeface="Arial"/>
                <a:ea typeface="Arial"/>
                <a:cs typeface="Arial"/>
                <a:sym typeface="Arial"/>
              </a:rPr>
              <a:t>שליפת היסטוריה והסרת פרטים מזהים</a:t>
            </a:r>
            <a:endParaRPr b="0" i="0" sz="1650" u="none" cap="none" strike="noStrike">
              <a:solidFill>
                <a:schemeClr val="dk1"/>
              </a:solidFill>
              <a:latin typeface="Calibri"/>
              <a:ea typeface="Calibri"/>
              <a:cs typeface="Calibri"/>
              <a:sym typeface="Calibri"/>
            </a:endParaRPr>
          </a:p>
        </p:txBody>
      </p:sp>
      <p:sp>
        <p:nvSpPr>
          <p:cNvPr id="79" name="Google Shape;79;p4"/>
          <p:cNvSpPr txBox="1"/>
          <p:nvPr/>
        </p:nvSpPr>
        <p:spPr>
          <a:xfrm>
            <a:off x="12563856" y="3360420"/>
            <a:ext cx="39319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184D9"/>
              </a:buClr>
              <a:buSzPts val="2200"/>
              <a:buFont typeface="Arial"/>
              <a:buNone/>
            </a:pPr>
            <a:r>
              <a:rPr b="0" i="0" lang="iw-IL" sz="2200" u="none" cap="none" strike="noStrike">
                <a:solidFill>
                  <a:srgbClr val="9184D9"/>
                </a:solidFill>
                <a:latin typeface="Arial"/>
                <a:ea typeface="Arial"/>
                <a:cs typeface="Arial"/>
                <a:sym typeface="Arial"/>
              </a:rPr>
              <a:t>←</a:t>
            </a:r>
            <a:endParaRPr b="0" i="0" sz="2200" u="none" cap="none" strike="noStrike">
              <a:solidFill>
                <a:schemeClr val="dk1"/>
              </a:solidFill>
              <a:latin typeface="Calibri"/>
              <a:ea typeface="Calibri"/>
              <a:cs typeface="Calibri"/>
              <a:sym typeface="Calibri"/>
            </a:endParaRPr>
          </a:p>
        </p:txBody>
      </p:sp>
      <p:sp>
        <p:nvSpPr>
          <p:cNvPr id="80" name="Google Shape;80;p4"/>
          <p:cNvSpPr/>
          <p:nvPr/>
        </p:nvSpPr>
        <p:spPr>
          <a:xfrm>
            <a:off x="10552176" y="2377440"/>
            <a:ext cx="2011680" cy="2514600"/>
          </a:xfrm>
          <a:prstGeom prst="roundRect">
            <a:avLst>
              <a:gd fmla="val 5455"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11878056" y="2606040"/>
            <a:ext cx="457200" cy="457200"/>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txBox="1"/>
          <p:nvPr/>
        </p:nvSpPr>
        <p:spPr>
          <a:xfrm>
            <a:off x="11878056" y="26060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500"/>
              <a:buFont typeface="Arial"/>
              <a:buNone/>
            </a:pPr>
            <a:r>
              <a:rPr b="1" i="0" lang="iw-IL" sz="1500" u="none" cap="none" strike="noStrike">
                <a:solidFill>
                  <a:srgbClr val="161826"/>
                </a:solidFill>
                <a:latin typeface="Arial"/>
                <a:ea typeface="Arial"/>
                <a:cs typeface="Arial"/>
                <a:sym typeface="Arial"/>
              </a:rPr>
              <a:t>3</a:t>
            </a:r>
            <a:endParaRPr b="0" i="0" sz="1500" u="none" cap="none" strike="noStrike">
              <a:solidFill>
                <a:schemeClr val="dk1"/>
              </a:solidFill>
              <a:latin typeface="Calibri"/>
              <a:ea typeface="Calibri"/>
              <a:cs typeface="Calibri"/>
              <a:sym typeface="Calibri"/>
            </a:endParaRPr>
          </a:p>
        </p:txBody>
      </p:sp>
      <p:sp>
        <p:nvSpPr>
          <p:cNvPr id="83" name="Google Shape;83;p4"/>
          <p:cNvSpPr txBox="1"/>
          <p:nvPr/>
        </p:nvSpPr>
        <p:spPr>
          <a:xfrm>
            <a:off x="10735056" y="3200400"/>
            <a:ext cx="164592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1" i="0" lang="iw-IL" sz="1900" u="none" cap="none" strike="noStrike">
                <a:solidFill>
                  <a:srgbClr val="E9E9ED"/>
                </a:solidFill>
                <a:latin typeface="Arial"/>
                <a:ea typeface="Arial"/>
                <a:cs typeface="Arial"/>
                <a:sym typeface="Arial"/>
              </a:rPr>
              <a:t>סיווג</a:t>
            </a:r>
            <a:endParaRPr b="0" i="0" sz="1900" u="none" cap="none" strike="noStrike">
              <a:solidFill>
                <a:schemeClr val="dk1"/>
              </a:solidFill>
              <a:latin typeface="Calibri"/>
              <a:ea typeface="Calibri"/>
              <a:cs typeface="Calibri"/>
              <a:sym typeface="Calibri"/>
            </a:endParaRPr>
          </a:p>
        </p:txBody>
      </p:sp>
      <p:sp>
        <p:nvSpPr>
          <p:cNvPr id="84" name="Google Shape;84;p4"/>
          <p:cNvSpPr txBox="1"/>
          <p:nvPr/>
        </p:nvSpPr>
        <p:spPr>
          <a:xfrm>
            <a:off x="10735056" y="3703320"/>
            <a:ext cx="1645920" cy="1143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650"/>
              <a:buFont typeface="Arial"/>
              <a:buNone/>
            </a:pPr>
            <a:r>
              <a:rPr b="0" i="0" lang="iw-IL" sz="1650" u="none" cap="none" strike="noStrike">
                <a:solidFill>
                  <a:srgbClr val="CFD3E5"/>
                </a:solidFill>
                <a:latin typeface="Arial"/>
                <a:ea typeface="Arial"/>
                <a:cs typeface="Arial"/>
                <a:sym typeface="Arial"/>
              </a:rPr>
              <a:t>ה-AI מציע רמה, מ-1 (הכי דחוף) עד 5</a:t>
            </a:r>
            <a:endParaRPr b="0" i="0" sz="1650" u="none" cap="none" strike="noStrike">
              <a:solidFill>
                <a:schemeClr val="dk1"/>
              </a:solidFill>
              <a:latin typeface="Calibri"/>
              <a:ea typeface="Calibri"/>
              <a:cs typeface="Calibri"/>
              <a:sym typeface="Calibri"/>
            </a:endParaRPr>
          </a:p>
        </p:txBody>
      </p:sp>
      <p:sp>
        <p:nvSpPr>
          <p:cNvPr id="85" name="Google Shape;85;p4"/>
          <p:cNvSpPr txBox="1"/>
          <p:nvPr/>
        </p:nvSpPr>
        <p:spPr>
          <a:xfrm>
            <a:off x="10158984" y="3360420"/>
            <a:ext cx="39319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184D9"/>
              </a:buClr>
              <a:buSzPts val="2200"/>
              <a:buFont typeface="Arial"/>
              <a:buNone/>
            </a:pPr>
            <a:r>
              <a:rPr b="0" i="0" lang="iw-IL" sz="2200" u="none" cap="none" strike="noStrike">
                <a:solidFill>
                  <a:srgbClr val="9184D9"/>
                </a:solidFill>
                <a:latin typeface="Arial"/>
                <a:ea typeface="Arial"/>
                <a:cs typeface="Arial"/>
                <a:sym typeface="Arial"/>
              </a:rPr>
              <a:t>←</a:t>
            </a:r>
            <a:endParaRPr b="0" i="0" sz="2200" u="none" cap="none" strike="noStrike">
              <a:solidFill>
                <a:schemeClr val="dk1"/>
              </a:solidFill>
              <a:latin typeface="Calibri"/>
              <a:ea typeface="Calibri"/>
              <a:cs typeface="Calibri"/>
              <a:sym typeface="Calibri"/>
            </a:endParaRPr>
          </a:p>
        </p:txBody>
      </p:sp>
      <p:sp>
        <p:nvSpPr>
          <p:cNvPr id="86" name="Google Shape;86;p4"/>
          <p:cNvSpPr/>
          <p:nvPr/>
        </p:nvSpPr>
        <p:spPr>
          <a:xfrm>
            <a:off x="8147304" y="2377440"/>
            <a:ext cx="2011680" cy="2514600"/>
          </a:xfrm>
          <a:prstGeom prst="roundRect">
            <a:avLst>
              <a:gd fmla="val 5455"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9473184" y="2606040"/>
            <a:ext cx="457200" cy="457200"/>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txBox="1"/>
          <p:nvPr/>
        </p:nvSpPr>
        <p:spPr>
          <a:xfrm>
            <a:off x="9473184" y="26060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500"/>
              <a:buFont typeface="Arial"/>
              <a:buNone/>
            </a:pPr>
            <a:r>
              <a:rPr b="1" i="0" lang="iw-IL" sz="1500" u="none" cap="none" strike="noStrike">
                <a:solidFill>
                  <a:srgbClr val="161826"/>
                </a:solidFill>
                <a:latin typeface="Arial"/>
                <a:ea typeface="Arial"/>
                <a:cs typeface="Arial"/>
                <a:sym typeface="Arial"/>
              </a:rPr>
              <a:t>4</a:t>
            </a:r>
            <a:endParaRPr b="0" i="0" sz="1500" u="none" cap="none" strike="noStrike">
              <a:solidFill>
                <a:schemeClr val="dk1"/>
              </a:solidFill>
              <a:latin typeface="Calibri"/>
              <a:ea typeface="Calibri"/>
              <a:cs typeface="Calibri"/>
              <a:sym typeface="Calibri"/>
            </a:endParaRPr>
          </a:p>
        </p:txBody>
      </p:sp>
      <p:sp>
        <p:nvSpPr>
          <p:cNvPr id="89" name="Google Shape;89;p4"/>
          <p:cNvSpPr txBox="1"/>
          <p:nvPr/>
        </p:nvSpPr>
        <p:spPr>
          <a:xfrm>
            <a:off x="8330184" y="3200400"/>
            <a:ext cx="164592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1" i="0" lang="iw-IL" sz="1900" u="none" cap="none" strike="noStrike">
                <a:solidFill>
                  <a:srgbClr val="E9E9ED"/>
                </a:solidFill>
                <a:latin typeface="Arial"/>
                <a:ea typeface="Arial"/>
                <a:cs typeface="Arial"/>
                <a:sym typeface="Arial"/>
              </a:rPr>
              <a:t>בדיקת בטיחות</a:t>
            </a:r>
            <a:endParaRPr b="0" i="0" sz="1900" u="none" cap="none" strike="noStrike">
              <a:solidFill>
                <a:schemeClr val="dk1"/>
              </a:solidFill>
              <a:latin typeface="Calibri"/>
              <a:ea typeface="Calibri"/>
              <a:cs typeface="Calibri"/>
              <a:sym typeface="Calibri"/>
            </a:endParaRPr>
          </a:p>
        </p:txBody>
      </p:sp>
      <p:sp>
        <p:nvSpPr>
          <p:cNvPr id="90" name="Google Shape;90;p4"/>
          <p:cNvSpPr txBox="1"/>
          <p:nvPr/>
        </p:nvSpPr>
        <p:spPr>
          <a:xfrm>
            <a:off x="8330184" y="3703320"/>
            <a:ext cx="1645920" cy="1143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650"/>
              <a:buFont typeface="Arial"/>
              <a:buNone/>
            </a:pPr>
            <a:r>
              <a:rPr b="0" i="0" lang="iw-IL" sz="1650" u="none" cap="none" strike="noStrike">
                <a:solidFill>
                  <a:srgbClr val="CFD3E5"/>
                </a:solidFill>
                <a:latin typeface="Arial"/>
                <a:ea typeface="Arial"/>
                <a:cs typeface="Arial"/>
                <a:sym typeface="Arial"/>
              </a:rPr>
              <a:t>הכללים בודקים שהרשומה הגיונית</a:t>
            </a:r>
            <a:endParaRPr b="0" i="0" sz="1650" u="none" cap="none" strike="noStrike">
              <a:solidFill>
                <a:schemeClr val="dk1"/>
              </a:solidFill>
              <a:latin typeface="Calibri"/>
              <a:ea typeface="Calibri"/>
              <a:cs typeface="Calibri"/>
              <a:sym typeface="Calibri"/>
            </a:endParaRPr>
          </a:p>
        </p:txBody>
      </p:sp>
      <p:sp>
        <p:nvSpPr>
          <p:cNvPr id="91" name="Google Shape;91;p4"/>
          <p:cNvSpPr txBox="1"/>
          <p:nvPr/>
        </p:nvSpPr>
        <p:spPr>
          <a:xfrm>
            <a:off x="7754112" y="3360420"/>
            <a:ext cx="39319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184D9"/>
              </a:buClr>
              <a:buSzPts val="2200"/>
              <a:buFont typeface="Arial"/>
              <a:buNone/>
            </a:pPr>
            <a:r>
              <a:rPr b="0" i="0" lang="iw-IL" sz="2200" u="none" cap="none" strike="noStrike">
                <a:solidFill>
                  <a:srgbClr val="9184D9"/>
                </a:solidFill>
                <a:latin typeface="Arial"/>
                <a:ea typeface="Arial"/>
                <a:cs typeface="Arial"/>
                <a:sym typeface="Arial"/>
              </a:rPr>
              <a:t>←</a:t>
            </a:r>
            <a:endParaRPr b="0" i="0" sz="2200" u="none" cap="none" strike="noStrike">
              <a:solidFill>
                <a:schemeClr val="dk1"/>
              </a:solidFill>
              <a:latin typeface="Calibri"/>
              <a:ea typeface="Calibri"/>
              <a:cs typeface="Calibri"/>
              <a:sym typeface="Calibri"/>
            </a:endParaRPr>
          </a:p>
        </p:txBody>
      </p:sp>
      <p:sp>
        <p:nvSpPr>
          <p:cNvPr id="92" name="Google Shape;92;p4"/>
          <p:cNvSpPr/>
          <p:nvPr/>
        </p:nvSpPr>
        <p:spPr>
          <a:xfrm>
            <a:off x="5742432" y="2377440"/>
            <a:ext cx="2011680" cy="2514600"/>
          </a:xfrm>
          <a:prstGeom prst="roundRect">
            <a:avLst>
              <a:gd fmla="val 5455"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7068312" y="2606040"/>
            <a:ext cx="457200" cy="457200"/>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txBox="1"/>
          <p:nvPr/>
        </p:nvSpPr>
        <p:spPr>
          <a:xfrm>
            <a:off x="7068312" y="26060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500"/>
              <a:buFont typeface="Arial"/>
              <a:buNone/>
            </a:pPr>
            <a:r>
              <a:rPr b="1" i="0" lang="iw-IL" sz="1500" u="none" cap="none" strike="noStrike">
                <a:solidFill>
                  <a:srgbClr val="161826"/>
                </a:solidFill>
                <a:latin typeface="Arial"/>
                <a:ea typeface="Arial"/>
                <a:cs typeface="Arial"/>
                <a:sym typeface="Arial"/>
              </a:rPr>
              <a:t>5</a:t>
            </a:r>
            <a:endParaRPr b="0" i="0" sz="1500" u="none" cap="none" strike="noStrike">
              <a:solidFill>
                <a:schemeClr val="dk1"/>
              </a:solidFill>
              <a:latin typeface="Calibri"/>
              <a:ea typeface="Calibri"/>
              <a:cs typeface="Calibri"/>
              <a:sym typeface="Calibri"/>
            </a:endParaRPr>
          </a:p>
        </p:txBody>
      </p:sp>
      <p:sp>
        <p:nvSpPr>
          <p:cNvPr id="95" name="Google Shape;95;p4"/>
          <p:cNvSpPr txBox="1"/>
          <p:nvPr/>
        </p:nvSpPr>
        <p:spPr>
          <a:xfrm>
            <a:off x="5925312" y="3200400"/>
            <a:ext cx="164592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1" i="0" lang="iw-IL" sz="1900" u="none" cap="none" strike="noStrike">
                <a:solidFill>
                  <a:srgbClr val="E9E9ED"/>
                </a:solidFill>
                <a:latin typeface="Arial"/>
                <a:ea typeface="Arial"/>
                <a:cs typeface="Arial"/>
                <a:sym typeface="Arial"/>
              </a:rPr>
              <a:t>תור</a:t>
            </a:r>
            <a:endParaRPr b="0" i="0" sz="1900" u="none" cap="none" strike="noStrike">
              <a:solidFill>
                <a:schemeClr val="dk1"/>
              </a:solidFill>
              <a:latin typeface="Calibri"/>
              <a:ea typeface="Calibri"/>
              <a:cs typeface="Calibri"/>
              <a:sym typeface="Calibri"/>
            </a:endParaRPr>
          </a:p>
        </p:txBody>
      </p:sp>
      <p:sp>
        <p:nvSpPr>
          <p:cNvPr id="96" name="Google Shape;96;p4"/>
          <p:cNvSpPr txBox="1"/>
          <p:nvPr/>
        </p:nvSpPr>
        <p:spPr>
          <a:xfrm>
            <a:off x="5925312" y="3703320"/>
            <a:ext cx="1645920" cy="1143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650"/>
              <a:buFont typeface="Arial"/>
              <a:buNone/>
            </a:pPr>
            <a:r>
              <a:rPr b="0" i="0" lang="iw-IL" sz="1650" u="none" cap="none" strike="noStrike">
                <a:solidFill>
                  <a:srgbClr val="CFD3E5"/>
                </a:solidFill>
                <a:latin typeface="Arial"/>
                <a:ea typeface="Arial"/>
                <a:cs typeface="Arial"/>
                <a:sym typeface="Arial"/>
              </a:rPr>
              <a:t>לפי דחיפות, ואז לפי שעת הגעה</a:t>
            </a:r>
            <a:endParaRPr b="0" i="0" sz="1650" u="none" cap="none" strike="noStrike">
              <a:solidFill>
                <a:schemeClr val="dk1"/>
              </a:solidFill>
              <a:latin typeface="Calibri"/>
              <a:ea typeface="Calibri"/>
              <a:cs typeface="Calibri"/>
              <a:sym typeface="Calibri"/>
            </a:endParaRPr>
          </a:p>
        </p:txBody>
      </p:sp>
      <p:sp>
        <p:nvSpPr>
          <p:cNvPr id="97" name="Google Shape;97;p4"/>
          <p:cNvSpPr txBox="1"/>
          <p:nvPr/>
        </p:nvSpPr>
        <p:spPr>
          <a:xfrm>
            <a:off x="5349240" y="3360420"/>
            <a:ext cx="39319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184D9"/>
              </a:buClr>
              <a:buSzPts val="2200"/>
              <a:buFont typeface="Arial"/>
              <a:buNone/>
            </a:pPr>
            <a:r>
              <a:rPr b="0" i="0" lang="iw-IL" sz="2200" u="none" cap="none" strike="noStrike">
                <a:solidFill>
                  <a:srgbClr val="9184D9"/>
                </a:solidFill>
                <a:latin typeface="Arial"/>
                <a:ea typeface="Arial"/>
                <a:cs typeface="Arial"/>
                <a:sym typeface="Arial"/>
              </a:rPr>
              <a:t>←</a:t>
            </a:r>
            <a:endParaRPr b="0" i="0" sz="2200" u="none" cap="none" strike="noStrike">
              <a:solidFill>
                <a:schemeClr val="dk1"/>
              </a:solidFill>
              <a:latin typeface="Calibri"/>
              <a:ea typeface="Calibri"/>
              <a:cs typeface="Calibri"/>
              <a:sym typeface="Calibri"/>
            </a:endParaRPr>
          </a:p>
        </p:txBody>
      </p:sp>
      <p:sp>
        <p:nvSpPr>
          <p:cNvPr id="98" name="Google Shape;98;p4"/>
          <p:cNvSpPr/>
          <p:nvPr/>
        </p:nvSpPr>
        <p:spPr>
          <a:xfrm>
            <a:off x="3337560" y="2377440"/>
            <a:ext cx="2011680" cy="2514600"/>
          </a:xfrm>
          <a:prstGeom prst="roundRect">
            <a:avLst>
              <a:gd fmla="val 5455"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4663440" y="2606040"/>
            <a:ext cx="457200" cy="457200"/>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txBox="1"/>
          <p:nvPr/>
        </p:nvSpPr>
        <p:spPr>
          <a:xfrm>
            <a:off x="4663440" y="26060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500"/>
              <a:buFont typeface="Arial"/>
              <a:buNone/>
            </a:pPr>
            <a:r>
              <a:rPr b="1" i="0" lang="iw-IL" sz="1500" u="none" cap="none" strike="noStrike">
                <a:solidFill>
                  <a:srgbClr val="161826"/>
                </a:solidFill>
                <a:latin typeface="Arial"/>
                <a:ea typeface="Arial"/>
                <a:cs typeface="Arial"/>
                <a:sym typeface="Arial"/>
              </a:rPr>
              <a:t>6</a:t>
            </a:r>
            <a:endParaRPr b="0" i="0" sz="1500" u="none" cap="none" strike="noStrike">
              <a:solidFill>
                <a:schemeClr val="dk1"/>
              </a:solidFill>
              <a:latin typeface="Calibri"/>
              <a:ea typeface="Calibri"/>
              <a:cs typeface="Calibri"/>
              <a:sym typeface="Calibri"/>
            </a:endParaRPr>
          </a:p>
        </p:txBody>
      </p:sp>
      <p:sp>
        <p:nvSpPr>
          <p:cNvPr id="101" name="Google Shape;101;p4"/>
          <p:cNvSpPr txBox="1"/>
          <p:nvPr/>
        </p:nvSpPr>
        <p:spPr>
          <a:xfrm>
            <a:off x="3520440" y="3200400"/>
            <a:ext cx="164592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1" i="0" lang="iw-IL" sz="1900" u="none" cap="none" strike="noStrike">
                <a:solidFill>
                  <a:srgbClr val="E9E9ED"/>
                </a:solidFill>
                <a:latin typeface="Arial"/>
                <a:ea typeface="Arial"/>
                <a:cs typeface="Arial"/>
                <a:sym typeface="Arial"/>
              </a:rPr>
              <a:t>הערכה חוזרת</a:t>
            </a:r>
            <a:endParaRPr b="0" i="0" sz="1900" u="none" cap="none" strike="noStrike">
              <a:solidFill>
                <a:schemeClr val="dk1"/>
              </a:solidFill>
              <a:latin typeface="Calibri"/>
              <a:ea typeface="Calibri"/>
              <a:cs typeface="Calibri"/>
              <a:sym typeface="Calibri"/>
            </a:endParaRPr>
          </a:p>
        </p:txBody>
      </p:sp>
      <p:sp>
        <p:nvSpPr>
          <p:cNvPr id="102" name="Google Shape;102;p4"/>
          <p:cNvSpPr txBox="1"/>
          <p:nvPr/>
        </p:nvSpPr>
        <p:spPr>
          <a:xfrm>
            <a:off x="3520440" y="3703320"/>
            <a:ext cx="1645920" cy="1143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650"/>
              <a:buFont typeface="Arial"/>
              <a:buNone/>
            </a:pPr>
            <a:r>
              <a:rPr b="0" i="0" lang="iw-IL" sz="1650" u="none" cap="none" strike="noStrike">
                <a:solidFill>
                  <a:srgbClr val="CFD3E5"/>
                </a:solidFill>
                <a:latin typeface="Arial"/>
                <a:ea typeface="Arial"/>
                <a:cs typeface="Arial"/>
                <a:sym typeface="Arial"/>
              </a:rPr>
              <a:t>כשהטיימר מגיע, אחות מזינה מדדים חדשים והמקרה חוזר לסיווג</a:t>
            </a:r>
            <a:endParaRPr b="0" i="0" sz="1650" u="none" cap="none" strike="noStrike">
              <a:solidFill>
                <a:schemeClr val="dk1"/>
              </a:solidFill>
              <a:latin typeface="Calibri"/>
              <a:ea typeface="Calibri"/>
              <a:cs typeface="Calibri"/>
              <a:sym typeface="Calibri"/>
            </a:endParaRPr>
          </a:p>
        </p:txBody>
      </p:sp>
      <p:sp>
        <p:nvSpPr>
          <p:cNvPr id="103" name="Google Shape;103;p4"/>
          <p:cNvSpPr txBox="1"/>
          <p:nvPr/>
        </p:nvSpPr>
        <p:spPr>
          <a:xfrm>
            <a:off x="2944368" y="3360420"/>
            <a:ext cx="39319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184D9"/>
              </a:buClr>
              <a:buSzPts val="2200"/>
              <a:buFont typeface="Arial"/>
              <a:buNone/>
            </a:pPr>
            <a:r>
              <a:rPr b="0" i="0" lang="iw-IL" sz="2200" u="none" cap="none" strike="noStrike">
                <a:solidFill>
                  <a:srgbClr val="9184D9"/>
                </a:solidFill>
                <a:latin typeface="Arial"/>
                <a:ea typeface="Arial"/>
                <a:cs typeface="Arial"/>
                <a:sym typeface="Arial"/>
              </a:rPr>
              <a:t>←</a:t>
            </a:r>
            <a:endParaRPr b="0" i="0" sz="2200" u="none" cap="none" strike="noStrike">
              <a:solidFill>
                <a:schemeClr val="dk1"/>
              </a:solidFill>
              <a:latin typeface="Calibri"/>
              <a:ea typeface="Calibri"/>
              <a:cs typeface="Calibri"/>
              <a:sym typeface="Calibri"/>
            </a:endParaRPr>
          </a:p>
        </p:txBody>
      </p:sp>
      <p:sp>
        <p:nvSpPr>
          <p:cNvPr id="104" name="Google Shape;104;p4"/>
          <p:cNvSpPr/>
          <p:nvPr/>
        </p:nvSpPr>
        <p:spPr>
          <a:xfrm>
            <a:off x="932688" y="2377440"/>
            <a:ext cx="2011680" cy="2514600"/>
          </a:xfrm>
          <a:prstGeom prst="roundRect">
            <a:avLst>
              <a:gd fmla="val 5455"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2258568" y="2606040"/>
            <a:ext cx="457200" cy="457200"/>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txBox="1"/>
          <p:nvPr/>
        </p:nvSpPr>
        <p:spPr>
          <a:xfrm>
            <a:off x="2258568" y="26060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500"/>
              <a:buFont typeface="Arial"/>
              <a:buNone/>
            </a:pPr>
            <a:r>
              <a:rPr b="1" i="0" lang="iw-IL" sz="1500" u="none" cap="none" strike="noStrike">
                <a:solidFill>
                  <a:srgbClr val="161826"/>
                </a:solidFill>
                <a:latin typeface="Arial"/>
                <a:ea typeface="Arial"/>
                <a:cs typeface="Arial"/>
                <a:sym typeface="Arial"/>
              </a:rPr>
              <a:t>7</a:t>
            </a:r>
            <a:endParaRPr b="0" i="0" sz="1500" u="none" cap="none" strike="noStrike">
              <a:solidFill>
                <a:schemeClr val="dk1"/>
              </a:solidFill>
              <a:latin typeface="Calibri"/>
              <a:ea typeface="Calibri"/>
              <a:cs typeface="Calibri"/>
              <a:sym typeface="Calibri"/>
            </a:endParaRPr>
          </a:p>
        </p:txBody>
      </p:sp>
      <p:sp>
        <p:nvSpPr>
          <p:cNvPr id="107" name="Google Shape;107;p4"/>
          <p:cNvSpPr txBox="1"/>
          <p:nvPr/>
        </p:nvSpPr>
        <p:spPr>
          <a:xfrm>
            <a:off x="1115568" y="3200400"/>
            <a:ext cx="164592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1" i="0" lang="iw-IL" sz="1900" u="none" cap="none" strike="noStrike">
                <a:solidFill>
                  <a:srgbClr val="E9E9ED"/>
                </a:solidFill>
                <a:latin typeface="Arial"/>
                <a:ea typeface="Arial"/>
                <a:cs typeface="Arial"/>
                <a:sym typeface="Arial"/>
              </a:rPr>
              <a:t>סגירה</a:t>
            </a:r>
            <a:endParaRPr b="0" i="0" sz="1900" u="none" cap="none" strike="noStrike">
              <a:solidFill>
                <a:schemeClr val="dk1"/>
              </a:solidFill>
              <a:latin typeface="Calibri"/>
              <a:ea typeface="Calibri"/>
              <a:cs typeface="Calibri"/>
              <a:sym typeface="Calibri"/>
            </a:endParaRPr>
          </a:p>
        </p:txBody>
      </p:sp>
      <p:sp>
        <p:nvSpPr>
          <p:cNvPr id="108" name="Google Shape;108;p4"/>
          <p:cNvSpPr txBox="1"/>
          <p:nvPr/>
        </p:nvSpPr>
        <p:spPr>
          <a:xfrm>
            <a:off x="1115568" y="3703320"/>
            <a:ext cx="1645920" cy="1143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650"/>
              <a:buFont typeface="Arial"/>
              <a:buNone/>
            </a:pPr>
            <a:r>
              <a:rPr b="0" i="0" lang="iw-IL" sz="1650" u="none" cap="none" strike="noStrike">
                <a:solidFill>
                  <a:srgbClr val="CFD3E5"/>
                </a:solidFill>
                <a:latin typeface="Arial"/>
                <a:ea typeface="Arial"/>
                <a:cs typeface="Arial"/>
                <a:sym typeface="Arial"/>
              </a:rPr>
              <a:t>המטופל משוחרר והמקרה נסגר</a:t>
            </a:r>
            <a:endParaRPr b="0" i="0" sz="1650" u="none" cap="none" strike="noStrike">
              <a:solidFill>
                <a:schemeClr val="dk1"/>
              </a:solidFill>
              <a:latin typeface="Calibri"/>
              <a:ea typeface="Calibri"/>
              <a:cs typeface="Calibri"/>
              <a:sym typeface="Calibri"/>
            </a:endParaRPr>
          </a:p>
        </p:txBody>
      </p:sp>
      <p:sp>
        <p:nvSpPr>
          <p:cNvPr id="109" name="Google Shape;109;p4"/>
          <p:cNvSpPr txBox="1"/>
          <p:nvPr/>
        </p:nvSpPr>
        <p:spPr>
          <a:xfrm>
            <a:off x="914400" y="5074920"/>
            <a:ext cx="16459200" cy="4114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9397AB"/>
              </a:buClr>
              <a:buSzPts val="1700"/>
              <a:buFont typeface="Arial"/>
              <a:buNone/>
            </a:pPr>
            <a:r>
              <a:rPr b="0" i="0" lang="iw-IL" sz="1700" u="none" cap="none" strike="noStrike">
                <a:solidFill>
                  <a:srgbClr val="9397AB"/>
                </a:solidFill>
                <a:latin typeface="Arial"/>
                <a:ea typeface="Arial"/>
                <a:cs typeface="Arial"/>
                <a:sym typeface="Arial"/>
              </a:rPr>
              <a:t>מצב התחלתי: </a:t>
            </a:r>
            <a:r>
              <a:rPr b="0" i="0" lang="iw-IL" sz="1700" u="none" cap="none" strike="noStrike">
                <a:solidFill>
                  <a:srgbClr val="D2CEFD"/>
                </a:solidFill>
                <a:latin typeface="Courier New"/>
                <a:ea typeface="Courier New"/>
                <a:cs typeface="Courier New"/>
                <a:sym typeface="Courier New"/>
              </a:rPr>
              <a:t>intake_received</a:t>
            </a:r>
            <a:r>
              <a:rPr b="0" i="0" lang="iw-IL" sz="1700" u="none" cap="none" strike="noStrike">
                <a:solidFill>
                  <a:srgbClr val="9397AB"/>
                </a:solidFill>
                <a:latin typeface="Arial"/>
                <a:ea typeface="Arial"/>
                <a:cs typeface="Arial"/>
                <a:sym typeface="Arial"/>
              </a:rPr>
              <a:t>     ·     מצב סופי: </a:t>
            </a:r>
            <a:r>
              <a:rPr b="0" i="0" lang="iw-IL" sz="1700" u="none" cap="none" strike="noStrike">
                <a:solidFill>
                  <a:srgbClr val="D2CEFD"/>
                </a:solidFill>
                <a:latin typeface="Courier New"/>
                <a:ea typeface="Courier New"/>
                <a:cs typeface="Courier New"/>
                <a:sym typeface="Courier New"/>
              </a:rPr>
              <a:t>case_closed</a:t>
            </a:r>
            <a:endParaRPr b="0" i="0" sz="1700" u="none" cap="none" strike="noStrike">
              <a:solidFill>
                <a:schemeClr val="dk1"/>
              </a:solidFill>
              <a:latin typeface="Calibri"/>
              <a:ea typeface="Calibri"/>
              <a:cs typeface="Calibri"/>
              <a:sym typeface="Calibri"/>
            </a:endParaRPr>
          </a:p>
        </p:txBody>
      </p:sp>
      <p:sp>
        <p:nvSpPr>
          <p:cNvPr id="110" name="Google Shape;110;p4"/>
          <p:cNvSpPr txBox="1"/>
          <p:nvPr/>
        </p:nvSpPr>
        <p:spPr>
          <a:xfrm>
            <a:off x="914400" y="5715000"/>
            <a:ext cx="1645920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ארבעה מצבים מחוץ למסלול הרגיל</a:t>
            </a:r>
            <a:endParaRPr b="0" i="0" sz="1900" u="none" cap="none" strike="noStrike">
              <a:solidFill>
                <a:schemeClr val="dk1"/>
              </a:solidFill>
              <a:latin typeface="Calibri"/>
              <a:ea typeface="Calibri"/>
              <a:cs typeface="Calibri"/>
              <a:sym typeface="Calibri"/>
            </a:endParaRPr>
          </a:p>
        </p:txBody>
      </p:sp>
      <p:sp>
        <p:nvSpPr>
          <p:cNvPr id="111" name="Google Shape;111;p4"/>
          <p:cNvSpPr/>
          <p:nvPr/>
        </p:nvSpPr>
        <p:spPr>
          <a:xfrm>
            <a:off x="13533120" y="6263640"/>
            <a:ext cx="3840480" cy="3291840"/>
          </a:xfrm>
          <a:prstGeom prst="roundRect">
            <a:avLst>
              <a:gd fmla="val 3333"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txBox="1"/>
          <p:nvPr/>
        </p:nvSpPr>
        <p:spPr>
          <a:xfrm>
            <a:off x="13807440" y="6537960"/>
            <a:ext cx="329184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2000"/>
              <a:buFont typeface="Arial"/>
              <a:buNone/>
            </a:pPr>
            <a:r>
              <a:rPr b="1" i="0" lang="iw-IL" sz="2000" u="none" cap="none" strike="noStrike">
                <a:solidFill>
                  <a:srgbClr val="E9E9ED"/>
                </a:solidFill>
                <a:latin typeface="Arial"/>
                <a:ea typeface="Arial"/>
                <a:cs typeface="Arial"/>
                <a:sym typeface="Arial"/>
              </a:rPr>
              <a:t>ממתין לאישור אנושי</a:t>
            </a:r>
            <a:endParaRPr b="0" i="0" sz="2000" u="none" cap="none" strike="noStrike">
              <a:solidFill>
                <a:schemeClr val="dk1"/>
              </a:solidFill>
              <a:latin typeface="Calibri"/>
              <a:ea typeface="Calibri"/>
              <a:cs typeface="Calibri"/>
              <a:sym typeface="Calibri"/>
            </a:endParaRPr>
          </a:p>
        </p:txBody>
      </p:sp>
      <p:sp>
        <p:nvSpPr>
          <p:cNvPr id="113" name="Google Shape;113;p4"/>
          <p:cNvSpPr txBox="1"/>
          <p:nvPr/>
        </p:nvSpPr>
        <p:spPr>
          <a:xfrm>
            <a:off x="13807440" y="7132320"/>
            <a:ext cx="3291840" cy="2286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9397AB"/>
              </a:buClr>
              <a:buSzPts val="1800"/>
              <a:buFont typeface="Arial"/>
              <a:buNone/>
            </a:pPr>
            <a:r>
              <a:rPr b="1" i="0" lang="iw-IL" sz="1800" u="none" cap="none" strike="noStrike">
                <a:solidFill>
                  <a:srgbClr val="9397AB"/>
                </a:solidFill>
                <a:latin typeface="Arial"/>
                <a:ea typeface="Arial"/>
                <a:cs typeface="Arial"/>
                <a:sym typeface="Arial"/>
              </a:rPr>
              <a:t>מתי: </a:t>
            </a:r>
            <a:r>
              <a:rPr b="0" i="0" lang="iw-IL" sz="1800" u="none" cap="none" strike="noStrike">
                <a:solidFill>
                  <a:srgbClr val="CFD3E5"/>
                </a:solidFill>
                <a:latin typeface="Arial"/>
                <a:ea typeface="Arial"/>
                <a:cs typeface="Arial"/>
                <a:sym typeface="Arial"/>
              </a:rPr>
              <a:t>פער גדול בין האחות ל-AI, בדיקת בטיחות שנכשלה, או AI לא בטוח בתשובה.</a:t>
            </a:r>
            <a:endParaRPr b="0" i="0" sz="1800" u="none" cap="none" strike="noStrike">
              <a:solidFill>
                <a:schemeClr val="dk1"/>
              </a:solidFill>
              <a:latin typeface="Calibri"/>
              <a:ea typeface="Calibri"/>
              <a:cs typeface="Calibri"/>
              <a:sym typeface="Calibri"/>
            </a:endParaRPr>
          </a:p>
          <a:p>
            <a:pPr indent="0" lvl="0" marL="0" marR="0" rtl="1" algn="r">
              <a:spcBef>
                <a:spcPts val="1200"/>
              </a:spcBef>
              <a:spcAft>
                <a:spcPts val="0"/>
              </a:spcAft>
              <a:buClr>
                <a:srgbClr val="9397AB"/>
              </a:buClr>
              <a:buSzPts val="1800"/>
              <a:buFont typeface="Arial"/>
              <a:buNone/>
            </a:pPr>
            <a:r>
              <a:rPr b="1" i="0" lang="iw-IL" sz="1800" u="none" cap="none" strike="noStrike">
                <a:solidFill>
                  <a:srgbClr val="9397AB"/>
                </a:solidFill>
                <a:latin typeface="Arial"/>
                <a:ea typeface="Arial"/>
                <a:cs typeface="Arial"/>
                <a:sym typeface="Arial"/>
              </a:rPr>
              <a:t>מה קורה: </a:t>
            </a:r>
            <a:r>
              <a:rPr b="0" i="0" lang="iw-IL" sz="1800" u="none" cap="none" strike="noStrike">
                <a:solidFill>
                  <a:srgbClr val="E9E9ED"/>
                </a:solidFill>
                <a:latin typeface="Arial"/>
                <a:ea typeface="Arial"/>
                <a:cs typeface="Arial"/>
                <a:sym typeface="Arial"/>
              </a:rPr>
              <a:t>המקרה נעצר עד שאחות אחראית מחליטה.</a:t>
            </a:r>
            <a:endParaRPr b="0" i="0" sz="1800" u="none" cap="none" strike="noStrike">
              <a:solidFill>
                <a:schemeClr val="dk1"/>
              </a:solidFill>
              <a:latin typeface="Calibri"/>
              <a:ea typeface="Calibri"/>
              <a:cs typeface="Calibri"/>
              <a:sym typeface="Calibri"/>
            </a:endParaRPr>
          </a:p>
        </p:txBody>
      </p:sp>
      <p:sp>
        <p:nvSpPr>
          <p:cNvPr id="114" name="Google Shape;114;p4"/>
          <p:cNvSpPr/>
          <p:nvPr/>
        </p:nvSpPr>
        <p:spPr>
          <a:xfrm>
            <a:off x="9326880" y="6263640"/>
            <a:ext cx="3840480" cy="3291840"/>
          </a:xfrm>
          <a:prstGeom prst="roundRect">
            <a:avLst>
              <a:gd fmla="val 3333"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txBox="1"/>
          <p:nvPr/>
        </p:nvSpPr>
        <p:spPr>
          <a:xfrm>
            <a:off x="9601200" y="6537960"/>
            <a:ext cx="329184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2000"/>
              <a:buFont typeface="Arial"/>
              <a:buNone/>
            </a:pPr>
            <a:r>
              <a:rPr b="1" i="0" lang="iw-IL" sz="2000" u="none" cap="none" strike="noStrike">
                <a:solidFill>
                  <a:srgbClr val="E9E9ED"/>
                </a:solidFill>
                <a:latin typeface="Arial"/>
                <a:ea typeface="Arial"/>
                <a:cs typeface="Arial"/>
                <a:sym typeface="Arial"/>
              </a:rPr>
              <a:t>חסום (BLK)</a:t>
            </a:r>
            <a:endParaRPr b="0" i="0" sz="2000" u="none" cap="none" strike="noStrike">
              <a:solidFill>
                <a:schemeClr val="dk1"/>
              </a:solidFill>
              <a:latin typeface="Calibri"/>
              <a:ea typeface="Calibri"/>
              <a:cs typeface="Calibri"/>
              <a:sym typeface="Calibri"/>
            </a:endParaRPr>
          </a:p>
        </p:txBody>
      </p:sp>
      <p:sp>
        <p:nvSpPr>
          <p:cNvPr id="116" name="Google Shape;116;p4"/>
          <p:cNvSpPr txBox="1"/>
          <p:nvPr/>
        </p:nvSpPr>
        <p:spPr>
          <a:xfrm>
            <a:off x="9601200" y="7132320"/>
            <a:ext cx="3291840" cy="2286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9397AB"/>
              </a:buClr>
              <a:buSzPts val="1800"/>
              <a:buFont typeface="Arial"/>
              <a:buNone/>
            </a:pPr>
            <a:r>
              <a:rPr b="1" i="0" lang="iw-IL" sz="1800" u="none" cap="none" strike="noStrike">
                <a:solidFill>
                  <a:srgbClr val="9397AB"/>
                </a:solidFill>
                <a:latin typeface="Arial"/>
                <a:ea typeface="Arial"/>
                <a:cs typeface="Arial"/>
                <a:sym typeface="Arial"/>
              </a:rPr>
              <a:t>מתי: </a:t>
            </a:r>
            <a:r>
              <a:rPr b="0" i="0" lang="iw-IL" sz="1800" u="none" cap="none" strike="noStrike">
                <a:solidFill>
                  <a:srgbClr val="CFD3E5"/>
                </a:solidFill>
                <a:latin typeface="Arial"/>
                <a:ea typeface="Arial"/>
                <a:cs typeface="Arial"/>
                <a:sym typeface="Arial"/>
              </a:rPr>
              <a:t>מישהו ניסה פעולה שלא מותרת.</a:t>
            </a:r>
            <a:endParaRPr b="0" i="0" sz="1800" u="none" cap="none" strike="noStrike">
              <a:solidFill>
                <a:schemeClr val="dk1"/>
              </a:solidFill>
              <a:latin typeface="Calibri"/>
              <a:ea typeface="Calibri"/>
              <a:cs typeface="Calibri"/>
              <a:sym typeface="Calibri"/>
            </a:endParaRPr>
          </a:p>
          <a:p>
            <a:pPr indent="0" lvl="0" marL="0" marR="0" rtl="1" algn="r">
              <a:spcBef>
                <a:spcPts val="1200"/>
              </a:spcBef>
              <a:spcAft>
                <a:spcPts val="0"/>
              </a:spcAft>
              <a:buClr>
                <a:srgbClr val="9397AB"/>
              </a:buClr>
              <a:buSzPts val="1800"/>
              <a:buFont typeface="Arial"/>
              <a:buNone/>
            </a:pPr>
            <a:r>
              <a:rPr b="1" i="0" lang="iw-IL" sz="1800" u="none" cap="none" strike="noStrike">
                <a:solidFill>
                  <a:srgbClr val="9397AB"/>
                </a:solidFill>
                <a:latin typeface="Arial"/>
                <a:ea typeface="Arial"/>
                <a:cs typeface="Arial"/>
                <a:sym typeface="Arial"/>
              </a:rPr>
              <a:t>מה קורה: </a:t>
            </a:r>
            <a:r>
              <a:rPr b="0" i="0" lang="iw-IL" sz="1800" u="none" cap="none" strike="noStrike">
                <a:solidFill>
                  <a:srgbClr val="E9E9ED"/>
                </a:solidFill>
                <a:latin typeface="Arial"/>
                <a:ea typeface="Arial"/>
                <a:cs typeface="Arial"/>
                <a:sym typeface="Arial"/>
              </a:rPr>
              <a:t>הפעולה נדחית, המקרה לא זז, והסירוב נרשם עם הסבר.</a:t>
            </a:r>
            <a:endParaRPr b="0" i="0" sz="1800" u="none" cap="none" strike="noStrike">
              <a:solidFill>
                <a:schemeClr val="dk1"/>
              </a:solidFill>
              <a:latin typeface="Calibri"/>
              <a:ea typeface="Calibri"/>
              <a:cs typeface="Calibri"/>
              <a:sym typeface="Calibri"/>
            </a:endParaRPr>
          </a:p>
        </p:txBody>
      </p:sp>
      <p:sp>
        <p:nvSpPr>
          <p:cNvPr id="117" name="Google Shape;117;p4"/>
          <p:cNvSpPr/>
          <p:nvPr/>
        </p:nvSpPr>
        <p:spPr>
          <a:xfrm>
            <a:off x="5120640" y="6263640"/>
            <a:ext cx="3840480" cy="3291840"/>
          </a:xfrm>
          <a:prstGeom prst="roundRect">
            <a:avLst>
              <a:gd fmla="val 3333"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txBox="1"/>
          <p:nvPr/>
        </p:nvSpPr>
        <p:spPr>
          <a:xfrm>
            <a:off x="5394960" y="6537960"/>
            <a:ext cx="329184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2000"/>
              <a:buFont typeface="Arial"/>
              <a:buNone/>
            </a:pPr>
            <a:r>
              <a:rPr b="1" i="0" lang="iw-IL" sz="2000" u="none" cap="none" strike="noStrike">
                <a:solidFill>
                  <a:srgbClr val="E9E9ED"/>
                </a:solidFill>
                <a:latin typeface="Arial"/>
                <a:ea typeface="Arial"/>
                <a:cs typeface="Arial"/>
                <a:sym typeface="Arial"/>
              </a:rPr>
              <a:t>כשל</a:t>
            </a:r>
            <a:endParaRPr b="0" i="0" sz="2000" u="none" cap="none" strike="noStrike">
              <a:solidFill>
                <a:schemeClr val="dk1"/>
              </a:solidFill>
              <a:latin typeface="Calibri"/>
              <a:ea typeface="Calibri"/>
              <a:cs typeface="Calibri"/>
              <a:sym typeface="Calibri"/>
            </a:endParaRPr>
          </a:p>
        </p:txBody>
      </p:sp>
      <p:sp>
        <p:nvSpPr>
          <p:cNvPr id="119" name="Google Shape;119;p4"/>
          <p:cNvSpPr txBox="1"/>
          <p:nvPr/>
        </p:nvSpPr>
        <p:spPr>
          <a:xfrm>
            <a:off x="5394960" y="7132320"/>
            <a:ext cx="3291840" cy="2286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9397AB"/>
              </a:buClr>
              <a:buSzPts val="1800"/>
              <a:buFont typeface="Arial"/>
              <a:buNone/>
            </a:pPr>
            <a:r>
              <a:rPr b="1" i="0" lang="iw-IL" sz="1800" u="none" cap="none" strike="noStrike">
                <a:solidFill>
                  <a:srgbClr val="9397AB"/>
                </a:solidFill>
                <a:latin typeface="Arial"/>
                <a:ea typeface="Arial"/>
                <a:cs typeface="Arial"/>
                <a:sym typeface="Arial"/>
              </a:rPr>
              <a:t>מתי: </a:t>
            </a:r>
            <a:r>
              <a:rPr b="0" i="0" lang="iw-IL" sz="1800" u="none" cap="none" strike="noStrike">
                <a:solidFill>
                  <a:srgbClr val="CFD3E5"/>
                </a:solidFill>
                <a:latin typeface="Arial"/>
                <a:ea typeface="Arial"/>
                <a:cs typeface="Arial"/>
                <a:sym typeface="Arial"/>
              </a:rPr>
              <a:t>רכיב קריטי נפל ואין לו חלופה בטוחה (למשל קריסה בשלב הסרת הפרטים המזהים).</a:t>
            </a:r>
            <a:endParaRPr b="0" i="0" sz="1800" u="none" cap="none" strike="noStrike">
              <a:solidFill>
                <a:schemeClr val="dk1"/>
              </a:solidFill>
              <a:latin typeface="Calibri"/>
              <a:ea typeface="Calibri"/>
              <a:cs typeface="Calibri"/>
              <a:sym typeface="Calibri"/>
            </a:endParaRPr>
          </a:p>
          <a:p>
            <a:pPr indent="0" lvl="0" marL="0" marR="0" rtl="1" algn="r">
              <a:spcBef>
                <a:spcPts val="1200"/>
              </a:spcBef>
              <a:spcAft>
                <a:spcPts val="0"/>
              </a:spcAft>
              <a:buClr>
                <a:srgbClr val="9397AB"/>
              </a:buClr>
              <a:buSzPts val="1800"/>
              <a:buFont typeface="Arial"/>
              <a:buNone/>
            </a:pPr>
            <a:r>
              <a:rPr b="1" i="0" lang="iw-IL" sz="1800" u="none" cap="none" strike="noStrike">
                <a:solidFill>
                  <a:srgbClr val="9397AB"/>
                </a:solidFill>
                <a:latin typeface="Arial"/>
                <a:ea typeface="Arial"/>
                <a:cs typeface="Arial"/>
                <a:sym typeface="Arial"/>
              </a:rPr>
              <a:t>מה קורה: </a:t>
            </a:r>
            <a:r>
              <a:rPr b="0" i="0" lang="iw-IL" sz="1800" u="none" cap="none" strike="noStrike">
                <a:solidFill>
                  <a:srgbClr val="E9E9ED"/>
                </a:solidFill>
                <a:latin typeface="Arial"/>
                <a:ea typeface="Arial"/>
                <a:cs typeface="Arial"/>
                <a:sym typeface="Arial"/>
              </a:rPr>
              <a:t>המקרה נעצר, הטכנאי מקבל התראה, וכשהרכיב חוזר המקרה ממשיך מאותה נקודה.</a:t>
            </a:r>
            <a:endParaRPr b="0" i="0" sz="1800" u="none" cap="none" strike="noStrike">
              <a:solidFill>
                <a:schemeClr val="dk1"/>
              </a:solidFill>
              <a:latin typeface="Calibri"/>
              <a:ea typeface="Calibri"/>
              <a:cs typeface="Calibri"/>
              <a:sym typeface="Calibri"/>
            </a:endParaRPr>
          </a:p>
        </p:txBody>
      </p:sp>
      <p:sp>
        <p:nvSpPr>
          <p:cNvPr id="120" name="Google Shape;120;p4"/>
          <p:cNvSpPr/>
          <p:nvPr/>
        </p:nvSpPr>
        <p:spPr>
          <a:xfrm>
            <a:off x="914400" y="6263640"/>
            <a:ext cx="3840480" cy="3291840"/>
          </a:xfrm>
          <a:prstGeom prst="roundRect">
            <a:avLst>
              <a:gd fmla="val 3333"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txBox="1"/>
          <p:nvPr/>
        </p:nvSpPr>
        <p:spPr>
          <a:xfrm>
            <a:off x="1188720" y="6537960"/>
            <a:ext cx="329184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2000"/>
              <a:buFont typeface="Arial"/>
              <a:buNone/>
            </a:pPr>
            <a:r>
              <a:rPr b="1" i="0" lang="iw-IL" sz="2000" u="none" cap="none" strike="noStrike">
                <a:solidFill>
                  <a:srgbClr val="E9E9ED"/>
                </a:solidFill>
                <a:latin typeface="Arial"/>
                <a:ea typeface="Arial"/>
                <a:cs typeface="Arial"/>
                <a:sym typeface="Arial"/>
              </a:rPr>
              <a:t>נדחה</a:t>
            </a:r>
            <a:endParaRPr b="0" i="0" sz="2000" u="none" cap="none" strike="noStrike">
              <a:solidFill>
                <a:schemeClr val="dk1"/>
              </a:solidFill>
              <a:latin typeface="Calibri"/>
              <a:ea typeface="Calibri"/>
              <a:cs typeface="Calibri"/>
              <a:sym typeface="Calibri"/>
            </a:endParaRPr>
          </a:p>
        </p:txBody>
      </p:sp>
      <p:sp>
        <p:nvSpPr>
          <p:cNvPr id="122" name="Google Shape;122;p4"/>
          <p:cNvSpPr txBox="1"/>
          <p:nvPr/>
        </p:nvSpPr>
        <p:spPr>
          <a:xfrm>
            <a:off x="1188720" y="7132320"/>
            <a:ext cx="3291840" cy="2286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9397AB"/>
              </a:buClr>
              <a:buSzPts val="1800"/>
              <a:buFont typeface="Arial"/>
              <a:buNone/>
            </a:pPr>
            <a:r>
              <a:rPr b="1" i="0" lang="iw-IL" sz="1800" u="none" cap="none" strike="noStrike">
                <a:solidFill>
                  <a:srgbClr val="9397AB"/>
                </a:solidFill>
                <a:latin typeface="Arial"/>
                <a:ea typeface="Arial"/>
                <a:cs typeface="Arial"/>
                <a:sym typeface="Arial"/>
              </a:rPr>
              <a:t>מתי: </a:t>
            </a:r>
            <a:r>
              <a:rPr b="0" i="0" lang="iw-IL" sz="1800" u="none" cap="none" strike="noStrike">
                <a:solidFill>
                  <a:srgbClr val="CFD3E5"/>
                </a:solidFill>
                <a:latin typeface="Arial"/>
                <a:ea typeface="Arial"/>
                <a:cs typeface="Arial"/>
                <a:sym typeface="Arial"/>
              </a:rPr>
              <a:t>טופס שלא ניתן לרשום (בלי מזהה מקרה תקין), או מקרה כפול לאותו מטופל.</a:t>
            </a:r>
            <a:endParaRPr b="0" i="0" sz="1800" u="none" cap="none" strike="noStrike">
              <a:solidFill>
                <a:schemeClr val="dk1"/>
              </a:solidFill>
              <a:latin typeface="Calibri"/>
              <a:ea typeface="Calibri"/>
              <a:cs typeface="Calibri"/>
              <a:sym typeface="Calibri"/>
            </a:endParaRPr>
          </a:p>
          <a:p>
            <a:pPr indent="0" lvl="0" marL="0" marR="0" rtl="1" algn="r">
              <a:spcBef>
                <a:spcPts val="1200"/>
              </a:spcBef>
              <a:spcAft>
                <a:spcPts val="0"/>
              </a:spcAft>
              <a:buClr>
                <a:srgbClr val="9397AB"/>
              </a:buClr>
              <a:buSzPts val="1800"/>
              <a:buFont typeface="Arial"/>
              <a:buNone/>
            </a:pPr>
            <a:r>
              <a:rPr b="1" i="0" lang="iw-IL" sz="1800" u="none" cap="none" strike="noStrike">
                <a:solidFill>
                  <a:srgbClr val="9397AB"/>
                </a:solidFill>
                <a:latin typeface="Arial"/>
                <a:ea typeface="Arial"/>
                <a:cs typeface="Arial"/>
                <a:sym typeface="Arial"/>
              </a:rPr>
              <a:t>מה קורה: </a:t>
            </a:r>
            <a:r>
              <a:rPr b="0" i="0" lang="iw-IL" sz="1800" u="none" cap="none" strike="noStrike">
                <a:solidFill>
                  <a:srgbClr val="E9E9ED"/>
                </a:solidFill>
                <a:latin typeface="Arial"/>
                <a:ea typeface="Arial"/>
                <a:cs typeface="Arial"/>
                <a:sym typeface="Arial"/>
              </a:rPr>
              <a:t>המקרה מסתיים מיד ולא נכנס למערכת.</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6"/>
        </a:solidFill>
      </p:bgPr>
    </p:bg>
    <p:spTree>
      <p:nvGrpSpPr>
        <p:cNvPr id="127" name="Shape 127"/>
        <p:cNvGrpSpPr/>
        <p:nvPr/>
      </p:nvGrpSpPr>
      <p:grpSpPr>
        <a:xfrm>
          <a:off x="0" y="0"/>
          <a:ext cx="0" cy="0"/>
          <a:chOff x="0" y="0"/>
          <a:chExt cx="0" cy="0"/>
        </a:xfrm>
      </p:grpSpPr>
      <p:sp>
        <p:nvSpPr>
          <p:cNvPr id="128" name="Google Shape;128;p5"/>
          <p:cNvSpPr txBox="1"/>
          <p:nvPr/>
        </p:nvSpPr>
        <p:spPr>
          <a:xfrm>
            <a:off x="91440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97AB"/>
              </a:buClr>
              <a:buSzPts val="1600"/>
              <a:buFont typeface="Courier New"/>
              <a:buNone/>
            </a:pPr>
            <a:r>
              <a:rPr b="0" i="0" lang="iw-IL" sz="1600" u="none" cap="none" strike="noStrike">
                <a:solidFill>
                  <a:srgbClr val="9397AB"/>
                </a:solidFill>
                <a:latin typeface="Courier New"/>
                <a:ea typeface="Courier New"/>
                <a:cs typeface="Courier New"/>
                <a:sym typeface="Courier New"/>
              </a:rPr>
              <a:t>05 · Events &amp; Transitions</a:t>
            </a:r>
            <a:endParaRPr b="0" i="0" sz="1600" u="none" cap="none" strike="noStrike">
              <a:solidFill>
                <a:schemeClr val="dk1"/>
              </a:solidFill>
              <a:latin typeface="Calibri"/>
              <a:ea typeface="Calibri"/>
              <a:cs typeface="Calibri"/>
              <a:sym typeface="Calibri"/>
            </a:endParaRPr>
          </a:p>
        </p:txBody>
      </p:sp>
      <p:sp>
        <p:nvSpPr>
          <p:cNvPr id="129" name="Google Shape;129;p5"/>
          <p:cNvSpPr txBox="1"/>
          <p:nvPr/>
        </p:nvSpPr>
        <p:spPr>
          <a:xfrm>
            <a:off x="3657600" y="411480"/>
            <a:ext cx="13716000" cy="10972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4800"/>
              <a:buFont typeface="Arial"/>
              <a:buNone/>
            </a:pPr>
            <a:r>
              <a:rPr lang="iw-IL" sz="4800">
                <a:solidFill>
                  <a:srgbClr val="E9E9ED"/>
                </a:solidFill>
              </a:rPr>
              <a:t>טבלת מעברים (חלקית)</a:t>
            </a:r>
            <a:endParaRPr b="0" i="0" sz="4800" u="none" cap="none" strike="noStrike">
              <a:solidFill>
                <a:schemeClr val="dk1"/>
              </a:solidFill>
              <a:latin typeface="Calibri"/>
              <a:ea typeface="Calibri"/>
              <a:cs typeface="Calibri"/>
              <a:sym typeface="Calibri"/>
            </a:endParaRPr>
          </a:p>
        </p:txBody>
      </p:sp>
      <p:graphicFrame>
        <p:nvGraphicFramePr>
          <p:cNvPr id="130" name="Google Shape;130;p5"/>
          <p:cNvGraphicFramePr/>
          <p:nvPr/>
        </p:nvGraphicFramePr>
        <p:xfrm>
          <a:off x="914400" y="1783080"/>
          <a:ext cx="3000000" cy="3000000"/>
        </p:xfrm>
        <a:graphic>
          <a:graphicData uri="http://schemas.openxmlformats.org/drawingml/2006/table">
            <a:tbl>
              <a:tblPr>
                <a:noFill/>
                <a:tableStyleId>{04CC930A-5F64-4B84-AD67-B738C2A8A3AE}</a:tableStyleId>
              </a:tblPr>
              <a:tblGrid>
                <a:gridCol w="2926075"/>
                <a:gridCol w="2468875"/>
                <a:gridCol w="4572000"/>
                <a:gridCol w="3474725"/>
                <a:gridCol w="3017525"/>
              </a:tblGrid>
              <a:tr h="457200">
                <a:tc>
                  <a:txBody>
                    <a:bodyPr/>
                    <a:lstStyle/>
                    <a:p>
                      <a:pPr indent="0" lvl="0" marL="0" marR="0" rtl="1" algn="r">
                        <a:spcBef>
                          <a:spcPts val="0"/>
                        </a:spcBef>
                        <a:spcAft>
                          <a:spcPts val="0"/>
                        </a:spcAft>
                        <a:buClr>
                          <a:srgbClr val="D2CEFD"/>
                        </a:buClr>
                        <a:buSzPts val="1550"/>
                        <a:buFont typeface="Arial"/>
                        <a:buNone/>
                      </a:pPr>
                      <a:r>
                        <a:rPr b="1" lang="iw-IL" sz="1550" u="none" cap="none" strike="noStrike">
                          <a:solidFill>
                            <a:srgbClr val="D2CEFD"/>
                          </a:solidFill>
                          <a:latin typeface="Arial"/>
                          <a:ea typeface="Arial"/>
                          <a:cs typeface="Arial"/>
                          <a:sym typeface="Arial"/>
                        </a:rPr>
                        <a:t>מצב הבא</a:t>
                      </a:r>
                      <a:endParaRPr sz="15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c>
                  <a:txBody>
                    <a:bodyPr/>
                    <a:lstStyle/>
                    <a:p>
                      <a:pPr indent="0" lvl="0" marL="0" marR="0" rtl="1" algn="r">
                        <a:spcBef>
                          <a:spcPts val="0"/>
                        </a:spcBef>
                        <a:spcAft>
                          <a:spcPts val="0"/>
                        </a:spcAft>
                        <a:buClr>
                          <a:srgbClr val="D2CEFD"/>
                        </a:buClr>
                        <a:buSzPts val="1550"/>
                        <a:buFont typeface="Arial"/>
                        <a:buNone/>
                      </a:pPr>
                      <a:r>
                        <a:rPr b="1" lang="iw-IL" sz="1550" u="none" cap="none" strike="noStrike">
                          <a:solidFill>
                            <a:srgbClr val="D2CEFD"/>
                          </a:solidFill>
                          <a:latin typeface="Arial"/>
                          <a:ea typeface="Arial"/>
                          <a:cs typeface="Arial"/>
                          <a:sym typeface="Arial"/>
                        </a:rPr>
                        <a:t>מי בודק</a:t>
                      </a:r>
                      <a:endParaRPr sz="15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c>
                  <a:txBody>
                    <a:bodyPr/>
                    <a:lstStyle/>
                    <a:p>
                      <a:pPr indent="0" lvl="0" marL="0" marR="0" rtl="1" algn="r">
                        <a:spcBef>
                          <a:spcPts val="0"/>
                        </a:spcBef>
                        <a:spcAft>
                          <a:spcPts val="0"/>
                        </a:spcAft>
                        <a:buClr>
                          <a:srgbClr val="D2CEFD"/>
                        </a:buClr>
                        <a:buSzPts val="1550"/>
                        <a:buFont typeface="Arial"/>
                        <a:buNone/>
                      </a:pPr>
                      <a:r>
                        <a:rPr b="1" lang="iw-IL" sz="1550" u="none" cap="none" strike="noStrike">
                          <a:solidFill>
                            <a:srgbClr val="D2CEFD"/>
                          </a:solidFill>
                          <a:latin typeface="Arial"/>
                          <a:ea typeface="Arial"/>
                          <a:cs typeface="Arial"/>
                          <a:sym typeface="Arial"/>
                        </a:rPr>
                        <a:t>תנאי (Guard)</a:t>
                      </a:r>
                      <a:endParaRPr sz="15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c>
                  <a:txBody>
                    <a:bodyPr/>
                    <a:lstStyle/>
                    <a:p>
                      <a:pPr indent="0" lvl="0" marL="0" marR="0" rtl="1" algn="r">
                        <a:spcBef>
                          <a:spcPts val="0"/>
                        </a:spcBef>
                        <a:spcAft>
                          <a:spcPts val="0"/>
                        </a:spcAft>
                        <a:buClr>
                          <a:srgbClr val="D2CEFD"/>
                        </a:buClr>
                        <a:buSzPts val="1550"/>
                        <a:buFont typeface="Arial"/>
                        <a:buNone/>
                      </a:pPr>
                      <a:r>
                        <a:rPr b="1" lang="iw-IL" sz="1550" u="none" cap="none" strike="noStrike">
                          <a:solidFill>
                            <a:srgbClr val="D2CEFD"/>
                          </a:solidFill>
                          <a:latin typeface="Arial"/>
                          <a:ea typeface="Arial"/>
                          <a:cs typeface="Arial"/>
                          <a:sym typeface="Arial"/>
                        </a:rPr>
                        <a:t>Event</a:t>
                      </a:r>
                      <a:endParaRPr sz="15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c>
                  <a:txBody>
                    <a:bodyPr/>
                    <a:lstStyle/>
                    <a:p>
                      <a:pPr indent="0" lvl="0" marL="0" marR="0" rtl="1" algn="r">
                        <a:spcBef>
                          <a:spcPts val="0"/>
                        </a:spcBef>
                        <a:spcAft>
                          <a:spcPts val="0"/>
                        </a:spcAft>
                        <a:buClr>
                          <a:srgbClr val="D2CEFD"/>
                        </a:buClr>
                        <a:buSzPts val="1550"/>
                        <a:buFont typeface="Arial"/>
                        <a:buNone/>
                      </a:pPr>
                      <a:r>
                        <a:rPr b="1" lang="iw-IL" sz="1550" u="none" cap="none" strike="noStrike">
                          <a:solidFill>
                            <a:srgbClr val="D2CEFD"/>
                          </a:solidFill>
                          <a:latin typeface="Arial"/>
                          <a:ea typeface="Arial"/>
                          <a:cs typeface="Arial"/>
                          <a:sym typeface="Arial"/>
                        </a:rPr>
                        <a:t>מצב נוכחי</a:t>
                      </a:r>
                      <a:endParaRPr sz="15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r>
              <a:tr h="475500">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data_parsed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Schema</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כל השדות קיימים והקלט תקין</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0" algn="r">
                        <a:spcBef>
                          <a:spcPts val="0"/>
                        </a:spcBef>
                        <a:spcAft>
                          <a:spcPts val="0"/>
                        </a:spcAft>
                        <a:buClr>
                          <a:srgbClr val="D2CEFD"/>
                        </a:buClr>
                        <a:buSzPts val="1300"/>
                        <a:buFont typeface="Courier New"/>
                        <a:buNone/>
                      </a:pPr>
                      <a:r>
                        <a:rPr lang="iw-IL" sz="1300" u="none" cap="none" strike="noStrike">
                          <a:solidFill>
                            <a:srgbClr val="D2CEFD"/>
                          </a:solidFill>
                          <a:latin typeface="Courier New"/>
                          <a:ea typeface="Courier New"/>
                          <a:cs typeface="Courier New"/>
                          <a:sym typeface="Courier New"/>
                        </a:rPr>
                        <a:t>DATA_PARSED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parsing</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475500">
                <a:tc>
                  <a:txBody>
                    <a:bodyPr/>
                    <a:lstStyle/>
                    <a:p>
                      <a:pPr indent="0" lvl="0" marL="0" marR="0" rtl="0" algn="r">
                        <a:spcBef>
                          <a:spcPts val="0"/>
                        </a:spcBef>
                        <a:spcAft>
                          <a:spcPts val="0"/>
                        </a:spcAft>
                        <a:buClr>
                          <a:srgbClr val="F2B8B5"/>
                        </a:buClr>
                        <a:buSzPts val="1300"/>
                        <a:buFont typeface="Courier New"/>
                        <a:buNone/>
                      </a:pPr>
                      <a:r>
                        <a:rPr lang="iw-IL" sz="1300" u="none" cap="none" strike="noStrike">
                          <a:solidFill>
                            <a:srgbClr val="F2B8B5"/>
                          </a:solidFill>
                          <a:latin typeface="Courier New"/>
                          <a:ea typeface="Courier New"/>
                          <a:cs typeface="Courier New"/>
                          <a:sym typeface="Courier New"/>
                        </a:rPr>
                        <a:t>input_rejected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Schema</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הטופס לא תואם את המבנה הצפוי</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0" algn="r">
                        <a:spcBef>
                          <a:spcPts val="0"/>
                        </a:spcBef>
                        <a:spcAft>
                          <a:spcPts val="0"/>
                        </a:spcAft>
                        <a:buClr>
                          <a:srgbClr val="D2CEFD"/>
                        </a:buClr>
                        <a:buSzPts val="1300"/>
                        <a:buFont typeface="Courier New"/>
                        <a:buNone/>
                      </a:pPr>
                      <a:r>
                        <a:rPr lang="iw-IL" sz="1300" u="none" cap="none" strike="noStrike">
                          <a:solidFill>
                            <a:srgbClr val="D2CEFD"/>
                          </a:solidFill>
                          <a:latin typeface="Courier New"/>
                          <a:ea typeface="Courier New"/>
                          <a:cs typeface="Courier New"/>
                          <a:sym typeface="Courier New"/>
                        </a:rPr>
                        <a:t>INVALID_INPUT_DETECTED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parsing</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475500">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acuity_proposed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בדיקת פלט</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הפלט של ה-AI עבר בדיקה</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0" algn="r">
                        <a:spcBef>
                          <a:spcPts val="0"/>
                        </a:spcBef>
                        <a:spcAft>
                          <a:spcPts val="0"/>
                        </a:spcAft>
                        <a:buClr>
                          <a:srgbClr val="D2CEFD"/>
                        </a:buClr>
                        <a:buSzPts val="1300"/>
                        <a:buFont typeface="Courier New"/>
                        <a:buNone/>
                      </a:pPr>
                      <a:r>
                        <a:rPr lang="iw-IL" sz="1300" u="none" cap="none" strike="noStrike">
                          <a:solidFill>
                            <a:srgbClr val="D2CEFD"/>
                          </a:solidFill>
                          <a:latin typeface="Courier New"/>
                          <a:ea typeface="Courier New"/>
                          <a:cs typeface="Courier New"/>
                          <a:sym typeface="Courier New"/>
                        </a:rPr>
                        <a:t>ACUITY_PROPOSED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classifying</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475500">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safety_validating</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Z3 (</a:t>
                      </a:r>
                      <a:r>
                        <a:rPr lang="iw-IL" sz="1600">
                          <a:solidFill>
                            <a:srgbClr val="E9E9ED"/>
                          </a:solidFill>
                        </a:rPr>
                        <a:t>בתכנון</a:t>
                      </a:r>
                      <a:r>
                        <a:rPr lang="iw-IL" sz="1600" u="none" cap="none" strike="noStrike">
                          <a:solidFill>
                            <a:srgbClr val="E9E9ED"/>
                          </a:solidFill>
                          <a:latin typeface="Arial"/>
                          <a:ea typeface="Arial"/>
                          <a:cs typeface="Arial"/>
                          <a:sym typeface="Arial"/>
                        </a:rPr>
                        <a:t>)</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פער של 0 או 1 מהאחות</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9397AB"/>
                        </a:buClr>
                        <a:buSzPts val="1600"/>
                        <a:buFont typeface="Arial"/>
                        <a:buNone/>
                      </a:pPr>
                      <a:r>
                        <a:rPr lang="iw-IL" sz="1600" u="none" cap="none" strike="noStrike">
                          <a:solidFill>
                            <a:srgbClr val="9397AB"/>
                          </a:solidFill>
                          <a:latin typeface="Arial"/>
                          <a:ea typeface="Arial"/>
                          <a:cs typeface="Arial"/>
                          <a:sym typeface="Arial"/>
                        </a:rPr>
                        <a:t>אוטומטי</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acuity_proposed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475500">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awaiting_human_approval</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Z3 (</a:t>
                      </a:r>
                      <a:r>
                        <a:rPr lang="iw-IL" sz="1600">
                          <a:solidFill>
                            <a:srgbClr val="E9E9ED"/>
                          </a:solidFill>
                        </a:rPr>
                        <a:t>בתכנון</a:t>
                      </a:r>
                      <a:r>
                        <a:rPr lang="iw-IL" sz="1600" u="none" cap="none" strike="noStrike">
                          <a:solidFill>
                            <a:srgbClr val="E9E9ED"/>
                          </a:solidFill>
                          <a:latin typeface="Arial"/>
                          <a:ea typeface="Arial"/>
                          <a:cs typeface="Arial"/>
                          <a:sym typeface="Arial"/>
                        </a:rPr>
                        <a:t>)</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פער של 2 ומעלה</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9397AB"/>
                        </a:buClr>
                        <a:buSzPts val="1600"/>
                        <a:buFont typeface="Arial"/>
                        <a:buNone/>
                      </a:pPr>
                      <a:r>
                        <a:rPr lang="iw-IL" sz="1600" u="none" cap="none" strike="noStrike">
                          <a:solidFill>
                            <a:srgbClr val="9397AB"/>
                          </a:solidFill>
                          <a:latin typeface="Arial"/>
                          <a:ea typeface="Arial"/>
                          <a:cs typeface="Arial"/>
                          <a:sym typeface="Arial"/>
                        </a:rPr>
                        <a:t>אוטומטי</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acuity_proposed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475500">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verdict_proposed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Prolog</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בדיקת הבטיחות עברה</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0" algn="r">
                        <a:spcBef>
                          <a:spcPts val="0"/>
                        </a:spcBef>
                        <a:spcAft>
                          <a:spcPts val="0"/>
                        </a:spcAft>
                        <a:buClr>
                          <a:srgbClr val="D2CEFD"/>
                        </a:buClr>
                        <a:buSzPts val="1300"/>
                        <a:buFont typeface="Courier New"/>
                        <a:buNone/>
                      </a:pPr>
                      <a:r>
                        <a:rPr lang="iw-IL" sz="1300" u="none" cap="none" strike="noStrike">
                          <a:solidFill>
                            <a:srgbClr val="D2CEFD"/>
                          </a:solidFill>
                          <a:latin typeface="Courier New"/>
                          <a:ea typeface="Courier New"/>
                          <a:cs typeface="Courier New"/>
                          <a:sym typeface="Courier New"/>
                        </a:rPr>
                        <a:t>VERDICT_PROPOSED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safety_validating</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475500">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awaiting_human_approval</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Prolog</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בדיקת הבטיחות נכשלה</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0" algn="r">
                        <a:spcBef>
                          <a:spcPts val="0"/>
                        </a:spcBef>
                        <a:spcAft>
                          <a:spcPts val="0"/>
                        </a:spcAft>
                        <a:buClr>
                          <a:srgbClr val="D2CEFD"/>
                        </a:buClr>
                        <a:buSzPts val="1300"/>
                        <a:buFont typeface="Courier New"/>
                        <a:buNone/>
                      </a:pPr>
                      <a:r>
                        <a:rPr lang="iw-IL" sz="1300" u="none" cap="none" strike="noStrike">
                          <a:solidFill>
                            <a:srgbClr val="D2CEFD"/>
                          </a:solidFill>
                          <a:latin typeface="Courier New"/>
                          <a:ea typeface="Courier New"/>
                          <a:cs typeface="Courier New"/>
                          <a:sym typeface="Courier New"/>
                        </a:rPr>
                        <a:t>VERDICT_PROPOSED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safety_validating</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475500">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safety_validating</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Prolog</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מי שעונה הוא אחות אחראית</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0" algn="r">
                        <a:spcBef>
                          <a:spcPts val="0"/>
                        </a:spcBef>
                        <a:spcAft>
                          <a:spcPts val="0"/>
                        </a:spcAft>
                        <a:buClr>
                          <a:srgbClr val="D2CEFD"/>
                        </a:buClr>
                        <a:buSzPts val="1300"/>
                        <a:buFont typeface="Courier New"/>
                        <a:buNone/>
                      </a:pPr>
                      <a:r>
                        <a:rPr lang="iw-IL" sz="1300" u="none" cap="none" strike="noStrike">
                          <a:solidFill>
                            <a:srgbClr val="D2CEFD"/>
                          </a:solidFill>
                          <a:latin typeface="Courier New"/>
                          <a:ea typeface="Courier New"/>
                          <a:cs typeface="Courier New"/>
                          <a:sym typeface="Courier New"/>
                        </a:rPr>
                        <a:t>APPROVAL_RESPONSE_RECEIVED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awaiting_human_approval</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475500">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treatment_started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OPA</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עבר בדיקה, אושר, ותפקיד מורשה</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0" algn="r">
                        <a:spcBef>
                          <a:spcPts val="0"/>
                        </a:spcBef>
                        <a:spcAft>
                          <a:spcPts val="0"/>
                        </a:spcAft>
                        <a:buClr>
                          <a:srgbClr val="D2CEFD"/>
                        </a:buClr>
                        <a:buSzPts val="1300"/>
                        <a:buFont typeface="Courier New"/>
                        <a:buNone/>
                      </a:pPr>
                      <a:r>
                        <a:rPr lang="iw-IL" sz="1300" u="none" cap="none" strike="noStrike">
                          <a:solidFill>
                            <a:srgbClr val="D2CEFD"/>
                          </a:solidFill>
                          <a:latin typeface="Courier New"/>
                          <a:ea typeface="Courier New"/>
                          <a:cs typeface="Courier New"/>
                          <a:sym typeface="Courier New"/>
                        </a:rPr>
                        <a:t>MOVE_REQUESTED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monitoring</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475500">
                <a:tc>
                  <a:txBody>
                    <a:bodyPr/>
                    <a:lstStyle/>
                    <a:p>
                      <a:pPr indent="0" lvl="0" marL="0" marR="0" rtl="0" algn="r">
                        <a:spcBef>
                          <a:spcPts val="0"/>
                        </a:spcBef>
                        <a:spcAft>
                          <a:spcPts val="0"/>
                        </a:spcAft>
                        <a:buClr>
                          <a:srgbClr val="CFD3E5"/>
                        </a:buClr>
                        <a:buSzPts val="1300"/>
                        <a:buFont typeface="Courier New"/>
                        <a:buNone/>
                      </a:pPr>
                      <a:r>
                        <a:rPr lang="iw-IL" sz="1300" u="none" cap="none" strike="noStrike">
                          <a:solidFill>
                            <a:srgbClr val="CFD3E5"/>
                          </a:solidFill>
                          <a:latin typeface="Courier New"/>
                          <a:ea typeface="Courier New"/>
                          <a:cs typeface="Courier New"/>
                          <a:sym typeface="Courier New"/>
                        </a:rPr>
                        <a:t>case_closed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OPA</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סיבת שחרור תקינה ותפקיד של אחראית</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0" algn="r">
                        <a:spcBef>
                          <a:spcPts val="0"/>
                        </a:spcBef>
                        <a:spcAft>
                          <a:spcPts val="0"/>
                        </a:spcAft>
                        <a:buClr>
                          <a:srgbClr val="D2CEFD"/>
                        </a:buClr>
                        <a:buSzPts val="1300"/>
                        <a:buFont typeface="Courier New"/>
                        <a:buNone/>
                      </a:pPr>
                      <a:r>
                        <a:rPr lang="iw-IL" sz="1300" u="none" cap="none" strike="noStrike">
                          <a:solidFill>
                            <a:srgbClr val="D2CEFD"/>
                          </a:solidFill>
                          <a:latin typeface="Courier New"/>
                          <a:ea typeface="Courier New"/>
                          <a:cs typeface="Courier New"/>
                          <a:sym typeface="Courier New"/>
                        </a:rPr>
                        <a:t>RELEASE_REQUESTED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9397AB"/>
                        </a:buClr>
                        <a:buSzPts val="1600"/>
                        <a:buFont typeface="Arial"/>
                        <a:buNone/>
                      </a:pPr>
                      <a:r>
                        <a:rPr lang="iw-IL" sz="1600" u="none" cap="none" strike="noStrike">
                          <a:solidFill>
                            <a:srgbClr val="9397AB"/>
                          </a:solidFill>
                          <a:latin typeface="Arial"/>
                          <a:ea typeface="Arial"/>
                          <a:cs typeface="Arial"/>
                          <a:sym typeface="Arial"/>
                        </a:rPr>
                        <a:t>כל מצב פעיל</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475500">
                <a:tc>
                  <a:txBody>
                    <a:bodyPr/>
                    <a:lstStyle/>
                    <a:p>
                      <a:pPr indent="0" lvl="0" marL="0" marR="0" rtl="1" algn="r">
                        <a:spcBef>
                          <a:spcPts val="0"/>
                        </a:spcBef>
                        <a:spcAft>
                          <a:spcPts val="0"/>
                        </a:spcAft>
                        <a:buClr>
                          <a:srgbClr val="F2B8B5"/>
                        </a:buClr>
                        <a:buSzPts val="1600"/>
                        <a:buFont typeface="Arial"/>
                        <a:buNone/>
                      </a:pPr>
                      <a:r>
                        <a:rPr b="1" lang="iw-IL" sz="1600" u="none" cap="none" strike="noStrike">
                          <a:solidFill>
                            <a:srgbClr val="F2B8B5"/>
                          </a:solidFill>
                          <a:latin typeface="Arial"/>
                          <a:ea typeface="Arial"/>
                          <a:cs typeface="Arial"/>
                          <a:sym typeface="Arial"/>
                        </a:rPr>
                        <a:t>BLK, נשאר במקום</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OPA, Prolog, תנאי בגרף</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600"/>
                        <a:buFont typeface="Arial"/>
                        <a:buNone/>
                      </a:pPr>
                      <a:r>
                        <a:rPr lang="iw-IL" sz="1600" u="none" cap="none" strike="noStrike">
                          <a:solidFill>
                            <a:srgbClr val="E9E9ED"/>
                          </a:solidFill>
                          <a:latin typeface="Arial"/>
                          <a:ea typeface="Arial"/>
                          <a:cs typeface="Arial"/>
                          <a:sym typeface="Arial"/>
                        </a:rPr>
                        <a:t>תנאי כלשהו נכשל</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0" algn="r">
                        <a:spcBef>
                          <a:spcPts val="0"/>
                        </a:spcBef>
                        <a:spcAft>
                          <a:spcPts val="0"/>
                        </a:spcAft>
                        <a:buClr>
                          <a:srgbClr val="D2CEFD"/>
                        </a:buClr>
                        <a:buSzPts val="1300"/>
                        <a:buFont typeface="Courier New"/>
                        <a:buNone/>
                      </a:pPr>
                      <a:r>
                        <a:rPr lang="iw-IL" sz="1300" u="none" cap="none" strike="noStrike">
                          <a:solidFill>
                            <a:srgbClr val="D2CEFD"/>
                          </a:solidFill>
                          <a:latin typeface="Courier New"/>
                          <a:ea typeface="Courier New"/>
                          <a:cs typeface="Courier New"/>
                          <a:sym typeface="Courier New"/>
                        </a:rPr>
                        <a:t>ACTION_DENIED</a:t>
                      </a:r>
                      <a:endParaRPr sz="1300" u="none" cap="none" strike="noStrike">
                        <a:latin typeface="Courier New"/>
                        <a:ea typeface="Courier New"/>
                        <a:cs typeface="Courier New"/>
                        <a:sym typeface="Courier New"/>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9397AB"/>
                        </a:buClr>
                        <a:buSzPts val="1600"/>
                        <a:buFont typeface="Arial"/>
                        <a:buNone/>
                      </a:pPr>
                      <a:r>
                        <a:rPr lang="iw-IL" sz="1600" u="none" cap="none" strike="noStrike">
                          <a:solidFill>
                            <a:srgbClr val="9397AB"/>
                          </a:solidFill>
                          <a:latin typeface="Arial"/>
                          <a:ea typeface="Arial"/>
                          <a:cs typeface="Arial"/>
                          <a:sym typeface="Arial"/>
                        </a:rPr>
                        <a:t>כל מצב</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bl>
          </a:graphicData>
        </a:graphic>
      </p:graphicFrame>
      <p:sp>
        <p:nvSpPr>
          <p:cNvPr id="131" name="Google Shape;131;p5"/>
          <p:cNvSpPr/>
          <p:nvPr/>
        </p:nvSpPr>
        <p:spPr>
          <a:xfrm>
            <a:off x="12252960" y="8229600"/>
            <a:ext cx="5120640" cy="1463040"/>
          </a:xfrm>
          <a:prstGeom prst="roundRect">
            <a:avLst>
              <a:gd fmla="val 7500"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txBox="1"/>
          <p:nvPr/>
        </p:nvSpPr>
        <p:spPr>
          <a:xfrm>
            <a:off x="12573000" y="8366760"/>
            <a:ext cx="4480560" cy="4114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800"/>
              <a:buFont typeface="Arial"/>
              <a:buNone/>
            </a:pPr>
            <a:r>
              <a:rPr b="0" i="0" lang="iw-IL" sz="1800" u="none" cap="none" strike="noStrike">
                <a:solidFill>
                  <a:srgbClr val="D2CEFD"/>
                </a:solidFill>
                <a:latin typeface="Arial"/>
                <a:ea typeface="Arial"/>
                <a:cs typeface="Arial"/>
                <a:sym typeface="Arial"/>
              </a:rPr>
              <a:t>הגרף הוא הטבלה</a:t>
            </a:r>
            <a:endParaRPr b="0" i="0" sz="1800" u="none" cap="none" strike="noStrike">
              <a:solidFill>
                <a:schemeClr val="dk1"/>
              </a:solidFill>
              <a:latin typeface="Calibri"/>
              <a:ea typeface="Calibri"/>
              <a:cs typeface="Calibri"/>
              <a:sym typeface="Calibri"/>
            </a:endParaRPr>
          </a:p>
        </p:txBody>
      </p:sp>
      <p:sp>
        <p:nvSpPr>
          <p:cNvPr id="133" name="Google Shape;133;p5"/>
          <p:cNvSpPr txBox="1"/>
          <p:nvPr/>
        </p:nvSpPr>
        <p:spPr>
          <a:xfrm>
            <a:off x="12573000" y="8823960"/>
            <a:ext cx="4480560" cy="914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650"/>
              <a:buFont typeface="Arial"/>
              <a:buNone/>
            </a:pPr>
            <a:r>
              <a:rPr b="0" i="0" lang="iw-IL" sz="1650" u="none" cap="none" strike="noStrike">
                <a:solidFill>
                  <a:srgbClr val="E9E9ED"/>
                </a:solidFill>
                <a:latin typeface="Arial"/>
                <a:ea typeface="Arial"/>
                <a:cs typeface="Arial"/>
                <a:sym typeface="Arial"/>
              </a:rPr>
              <a:t>כל מעבר מותר מוגדר כנתון ב-LangGraph. מעבר שלא בטבלה פשוט לא קיים.</a:t>
            </a:r>
            <a:endParaRPr b="0" i="0" sz="1650" u="none" cap="none" strike="noStrike">
              <a:solidFill>
                <a:schemeClr val="dk1"/>
              </a:solidFill>
              <a:latin typeface="Calibri"/>
              <a:ea typeface="Calibri"/>
              <a:cs typeface="Calibri"/>
              <a:sym typeface="Calibri"/>
            </a:endParaRPr>
          </a:p>
        </p:txBody>
      </p:sp>
      <p:sp>
        <p:nvSpPr>
          <p:cNvPr id="134" name="Google Shape;134;p5"/>
          <p:cNvSpPr/>
          <p:nvPr/>
        </p:nvSpPr>
        <p:spPr>
          <a:xfrm>
            <a:off x="6583680" y="8229600"/>
            <a:ext cx="5120640" cy="1463040"/>
          </a:xfrm>
          <a:prstGeom prst="roundRect">
            <a:avLst>
              <a:gd fmla="val 7500"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txBox="1"/>
          <p:nvPr/>
        </p:nvSpPr>
        <p:spPr>
          <a:xfrm>
            <a:off x="6903720" y="8366760"/>
            <a:ext cx="4480560" cy="4114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800"/>
              <a:buFont typeface="Arial"/>
              <a:buNone/>
            </a:pPr>
            <a:r>
              <a:rPr b="0" i="0" lang="iw-IL" sz="1800" u="none" cap="none" strike="noStrike">
                <a:solidFill>
                  <a:srgbClr val="D2CEFD"/>
                </a:solidFill>
                <a:latin typeface="Arial"/>
                <a:ea typeface="Arial"/>
                <a:cs typeface="Arial"/>
                <a:sym typeface="Arial"/>
              </a:rPr>
              <a:t>אין קיצור דרך לטיפול</a:t>
            </a:r>
            <a:endParaRPr b="0" i="0" sz="1800" u="none" cap="none" strike="noStrike">
              <a:solidFill>
                <a:schemeClr val="dk1"/>
              </a:solidFill>
              <a:latin typeface="Calibri"/>
              <a:ea typeface="Calibri"/>
              <a:cs typeface="Calibri"/>
              <a:sym typeface="Calibri"/>
            </a:endParaRPr>
          </a:p>
        </p:txBody>
      </p:sp>
      <p:sp>
        <p:nvSpPr>
          <p:cNvPr id="136" name="Google Shape;136;p5"/>
          <p:cNvSpPr txBox="1"/>
          <p:nvPr/>
        </p:nvSpPr>
        <p:spPr>
          <a:xfrm>
            <a:off x="6903720" y="8823960"/>
            <a:ext cx="4480560" cy="914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650"/>
              <a:buFont typeface="Arial"/>
              <a:buNone/>
            </a:pPr>
            <a:r>
              <a:rPr b="0" i="0" lang="iw-IL" sz="1650" u="none" cap="none" strike="noStrike">
                <a:solidFill>
                  <a:srgbClr val="E9E9ED"/>
                </a:solidFill>
                <a:latin typeface="Arial"/>
                <a:ea typeface="Arial"/>
                <a:cs typeface="Arial"/>
                <a:sym typeface="Arial"/>
              </a:rPr>
              <a:t>מקרה שלא עבר בדיקת בטיחות ואישור לא יכול להגיע לטיפול.</a:t>
            </a:r>
            <a:endParaRPr b="0" i="0" sz="1650" u="none" cap="none" strike="noStrike">
              <a:solidFill>
                <a:schemeClr val="dk1"/>
              </a:solidFill>
              <a:latin typeface="Calibri"/>
              <a:ea typeface="Calibri"/>
              <a:cs typeface="Calibri"/>
              <a:sym typeface="Calibri"/>
            </a:endParaRPr>
          </a:p>
        </p:txBody>
      </p:sp>
      <p:sp>
        <p:nvSpPr>
          <p:cNvPr id="137" name="Google Shape;137;p5"/>
          <p:cNvSpPr/>
          <p:nvPr/>
        </p:nvSpPr>
        <p:spPr>
          <a:xfrm>
            <a:off x="914400" y="8229600"/>
            <a:ext cx="5120640" cy="1463040"/>
          </a:xfrm>
          <a:prstGeom prst="roundRect">
            <a:avLst>
              <a:gd fmla="val 7500"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txBox="1"/>
          <p:nvPr/>
        </p:nvSpPr>
        <p:spPr>
          <a:xfrm>
            <a:off x="1234440" y="8366760"/>
            <a:ext cx="4480560" cy="4114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800"/>
              <a:buFont typeface="Arial"/>
              <a:buNone/>
            </a:pPr>
            <a:r>
              <a:rPr b="0" i="0" lang="iw-IL" sz="1800" u="none" cap="none" strike="noStrike">
                <a:solidFill>
                  <a:srgbClr val="D2CEFD"/>
                </a:solidFill>
                <a:latin typeface="Arial"/>
                <a:ea typeface="Arial"/>
                <a:cs typeface="Arial"/>
                <a:sym typeface="Arial"/>
              </a:rPr>
              <a:t>תנאי שנכשל מחזיר חסימה</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1234440" y="8823960"/>
            <a:ext cx="4480560" cy="914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650"/>
              <a:buFont typeface="Arial"/>
              <a:buNone/>
            </a:pPr>
            <a:r>
              <a:rPr b="0" i="0" lang="iw-IL" sz="1650" u="none" cap="none" strike="noStrike">
                <a:solidFill>
                  <a:srgbClr val="E9E9ED"/>
                </a:solidFill>
                <a:latin typeface="Arial"/>
                <a:ea typeface="Arial"/>
                <a:cs typeface="Arial"/>
                <a:sym typeface="Arial"/>
              </a:rPr>
              <a:t>המקרה נשאר במקום, והסירוב נרשם ביומן עם השכבה שחסמה.</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6"/>
        </a:solidFill>
      </p:bgPr>
    </p:bg>
    <p:spTree>
      <p:nvGrpSpPr>
        <p:cNvPr id="144" name="Shape 144"/>
        <p:cNvGrpSpPr/>
        <p:nvPr/>
      </p:nvGrpSpPr>
      <p:grpSpPr>
        <a:xfrm>
          <a:off x="0" y="0"/>
          <a:ext cx="0" cy="0"/>
          <a:chOff x="0" y="0"/>
          <a:chExt cx="0" cy="0"/>
        </a:xfrm>
      </p:grpSpPr>
      <p:sp>
        <p:nvSpPr>
          <p:cNvPr id="145" name="Google Shape;145;p6"/>
          <p:cNvSpPr txBox="1"/>
          <p:nvPr/>
        </p:nvSpPr>
        <p:spPr>
          <a:xfrm>
            <a:off x="91440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97AB"/>
              </a:buClr>
              <a:buSzPts val="1600"/>
              <a:buFont typeface="Courier New"/>
              <a:buNone/>
            </a:pPr>
            <a:r>
              <a:rPr b="0" i="0" lang="iw-IL" sz="1600" u="none" cap="none" strike="noStrike">
                <a:solidFill>
                  <a:srgbClr val="9397AB"/>
                </a:solidFill>
                <a:latin typeface="Courier New"/>
                <a:ea typeface="Courier New"/>
                <a:cs typeface="Courier New"/>
                <a:sym typeface="Courier New"/>
              </a:rPr>
              <a:t>06 · Temporal Logic</a:t>
            </a:r>
            <a:endParaRPr b="0" i="0" sz="1600" u="none" cap="none" strike="noStrike">
              <a:solidFill>
                <a:schemeClr val="dk1"/>
              </a:solidFill>
              <a:latin typeface="Calibri"/>
              <a:ea typeface="Calibri"/>
              <a:cs typeface="Calibri"/>
              <a:sym typeface="Calibri"/>
            </a:endParaRPr>
          </a:p>
        </p:txBody>
      </p:sp>
      <p:sp>
        <p:nvSpPr>
          <p:cNvPr id="146" name="Google Shape;146;p6"/>
          <p:cNvSpPr txBox="1"/>
          <p:nvPr/>
        </p:nvSpPr>
        <p:spPr>
          <a:xfrm>
            <a:off x="3657600" y="411480"/>
            <a:ext cx="13716000" cy="10972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4800"/>
              <a:buFont typeface="Arial"/>
              <a:buNone/>
            </a:pPr>
            <a:r>
              <a:rPr b="0" i="0" lang="iw-IL" sz="4800" u="none" cap="none" strike="noStrike">
                <a:solidFill>
                  <a:srgbClr val="E9E9ED"/>
                </a:solidFill>
                <a:latin typeface="Arial"/>
                <a:ea typeface="Arial"/>
                <a:cs typeface="Arial"/>
                <a:sym typeface="Arial"/>
              </a:rPr>
              <a:t>כללים לאורך זמן</a:t>
            </a:r>
            <a:endParaRPr b="0" i="0" sz="4800" u="none" cap="none" strike="noStrike">
              <a:solidFill>
                <a:schemeClr val="dk1"/>
              </a:solidFill>
              <a:latin typeface="Calibri"/>
              <a:ea typeface="Calibri"/>
              <a:cs typeface="Calibri"/>
              <a:sym typeface="Calibri"/>
            </a:endParaRPr>
          </a:p>
        </p:txBody>
      </p:sp>
      <p:sp>
        <p:nvSpPr>
          <p:cNvPr id="147" name="Google Shape;147;p6"/>
          <p:cNvSpPr txBox="1"/>
          <p:nvPr/>
        </p:nvSpPr>
        <p:spPr>
          <a:xfrm>
            <a:off x="914400" y="1691640"/>
            <a:ext cx="16459200" cy="50292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900"/>
              <a:buFont typeface="Arial"/>
              <a:buNone/>
            </a:pPr>
            <a:r>
              <a:rPr b="0" i="0" lang="iw-IL" sz="1900" u="none" cap="none" strike="noStrike">
                <a:solidFill>
                  <a:srgbClr val="CFD3E5"/>
                </a:solidFill>
                <a:latin typeface="Arial"/>
                <a:ea typeface="Arial"/>
                <a:cs typeface="Arial"/>
                <a:sym typeface="Arial"/>
              </a:rPr>
              <a:t>חלק מהכללים לא עוסקים ברגע אחד, אלא בסדר של האירועים. במפרט יש 22 כללים כאלה. הנה הדוגמאות המרכזיות:</a:t>
            </a:r>
            <a:endParaRPr b="0" i="0" sz="1900" u="none" cap="none" strike="noStrike">
              <a:solidFill>
                <a:schemeClr val="dk1"/>
              </a:solidFill>
              <a:latin typeface="Calibri"/>
              <a:ea typeface="Calibri"/>
              <a:cs typeface="Calibri"/>
              <a:sym typeface="Calibri"/>
            </a:endParaRPr>
          </a:p>
        </p:txBody>
      </p:sp>
      <p:sp>
        <p:nvSpPr>
          <p:cNvPr id="148" name="Google Shape;148;p6"/>
          <p:cNvSpPr/>
          <p:nvPr/>
        </p:nvSpPr>
        <p:spPr>
          <a:xfrm>
            <a:off x="12252960" y="2377440"/>
            <a:ext cx="5120640" cy="5074920"/>
          </a:xfrm>
          <a:prstGeom prst="roundRect">
            <a:avLst>
              <a:gd fmla="val 2162"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txBox="1"/>
          <p:nvPr/>
        </p:nvSpPr>
        <p:spPr>
          <a:xfrm>
            <a:off x="12573000" y="2651760"/>
            <a:ext cx="448056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2000"/>
              <a:buFont typeface="Arial"/>
              <a:buNone/>
            </a:pPr>
            <a:r>
              <a:rPr b="1" i="0" lang="iw-IL" sz="2000" u="none" cap="none" strike="noStrike">
                <a:solidFill>
                  <a:srgbClr val="D2CEFD"/>
                </a:solidFill>
                <a:latin typeface="Arial"/>
                <a:ea typeface="Arial"/>
                <a:cs typeface="Arial"/>
                <a:sym typeface="Arial"/>
              </a:rPr>
              <a:t>תמיד (Safety)</a:t>
            </a:r>
            <a:endParaRPr b="0" i="0" sz="2000" u="none" cap="none" strike="noStrike">
              <a:solidFill>
                <a:schemeClr val="dk1"/>
              </a:solidFill>
              <a:latin typeface="Calibri"/>
              <a:ea typeface="Calibri"/>
              <a:cs typeface="Calibri"/>
              <a:sym typeface="Calibri"/>
            </a:endParaRPr>
          </a:p>
        </p:txBody>
      </p:sp>
      <p:sp>
        <p:nvSpPr>
          <p:cNvPr id="150" name="Google Shape;150;p6"/>
          <p:cNvSpPr txBox="1"/>
          <p:nvPr/>
        </p:nvSpPr>
        <p:spPr>
          <a:xfrm>
            <a:off x="12481560" y="3291840"/>
            <a:ext cx="4663440" cy="397764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אף מטופל לא נמצא בתור אחרי מטופל פחות דחוף ממנו.</a:t>
            </a:r>
            <a:endParaRPr b="0" i="0" sz="2100" u="none" cap="none" strike="noStrike">
              <a:solidFill>
                <a:schemeClr val="dk1"/>
              </a:solidFill>
              <a:latin typeface="Calibri"/>
              <a:ea typeface="Calibri"/>
              <a:cs typeface="Calibri"/>
              <a:sym typeface="Calibri"/>
            </a:endParaRPr>
          </a:p>
          <a:p>
            <a:pPr indent="0" lvl="0" marL="0" marR="0" rtl="0" algn="r">
              <a:spcBef>
                <a:spcPts val="300"/>
              </a:spcBef>
              <a:spcAft>
                <a:spcPts val="0"/>
              </a:spcAft>
              <a:buClr>
                <a:srgbClr val="9184D9"/>
              </a:buClr>
              <a:buSzPts val="1250"/>
              <a:buFont typeface="Courier New"/>
              <a:buNone/>
            </a:pPr>
            <a:r>
              <a:rPr b="0" i="0" lang="iw-IL" sz="1250" u="none" cap="none" strike="noStrike">
                <a:solidFill>
                  <a:srgbClr val="9184D9"/>
                </a:solidFill>
                <a:latin typeface="Courier New"/>
                <a:ea typeface="Courier New"/>
                <a:cs typeface="Courier New"/>
                <a:sym typeface="Courier New"/>
              </a:rPr>
              <a:t>G(acuity(a) &lt; acuity(b) → key(a) &lt; key(b))</a:t>
            </a:r>
            <a:endParaRPr b="0" i="0" sz="2100" u="none" cap="none" strike="noStrike">
              <a:solidFill>
                <a:schemeClr val="dk1"/>
              </a:solidFill>
              <a:latin typeface="Calibri"/>
              <a:ea typeface="Calibri"/>
              <a:cs typeface="Calibri"/>
              <a:sym typeface="Calibri"/>
            </a:endParaRPr>
          </a:p>
          <a:p>
            <a:pPr indent="0" lvl="0" marL="0" marR="0" rtl="1" algn="r">
              <a:spcBef>
                <a:spcPts val="180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כניסה לטיפול רק אחרי בדיקת בטיחות ואישור.</a:t>
            </a:r>
            <a:endParaRPr b="0" i="0" sz="2100" u="none" cap="none" strike="noStrike">
              <a:solidFill>
                <a:schemeClr val="dk1"/>
              </a:solidFill>
              <a:latin typeface="Calibri"/>
              <a:ea typeface="Calibri"/>
              <a:cs typeface="Calibri"/>
              <a:sym typeface="Calibri"/>
            </a:endParaRPr>
          </a:p>
          <a:p>
            <a:pPr indent="0" lvl="0" marL="0" marR="0" rtl="0" algn="r">
              <a:spcBef>
                <a:spcPts val="300"/>
              </a:spcBef>
              <a:spcAft>
                <a:spcPts val="0"/>
              </a:spcAft>
              <a:buClr>
                <a:srgbClr val="9184D9"/>
              </a:buClr>
              <a:buSzPts val="1250"/>
              <a:buFont typeface="Courier New"/>
              <a:buNone/>
            </a:pPr>
            <a:r>
              <a:rPr b="0" i="0" lang="iw-IL" sz="1250" u="none" cap="none" strike="noStrike">
                <a:solidFill>
                  <a:srgbClr val="9184D9"/>
                </a:solidFill>
                <a:latin typeface="Courier New"/>
                <a:ea typeface="Courier New"/>
                <a:cs typeface="Courier New"/>
                <a:sym typeface="Courier New"/>
              </a:rPr>
              <a:t>G(enter_treatment → safety_passed ∧ approved)</a:t>
            </a:r>
            <a:endParaRPr b="0" i="0" sz="2100" u="none" cap="none" strike="noStrike">
              <a:solidFill>
                <a:schemeClr val="dk1"/>
              </a:solidFill>
              <a:latin typeface="Calibri"/>
              <a:ea typeface="Calibri"/>
              <a:cs typeface="Calibri"/>
              <a:sym typeface="Calibri"/>
            </a:endParaRPr>
          </a:p>
          <a:p>
            <a:pPr indent="0" lvl="0" marL="0" marR="0" rtl="1" algn="r">
              <a:spcBef>
                <a:spcPts val="180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טיפול מתחיל פעם אחת בלבד.</a:t>
            </a:r>
            <a:endParaRPr b="0" i="0" sz="2100" u="none" cap="none" strike="noStrike">
              <a:solidFill>
                <a:schemeClr val="dk1"/>
              </a:solidFill>
              <a:latin typeface="Calibri"/>
              <a:ea typeface="Calibri"/>
              <a:cs typeface="Calibri"/>
              <a:sym typeface="Calibri"/>
            </a:endParaRPr>
          </a:p>
          <a:p>
            <a:pPr indent="0" lvl="0" marL="0" marR="0" rtl="0" algn="r">
              <a:spcBef>
                <a:spcPts val="300"/>
              </a:spcBef>
              <a:spcAft>
                <a:spcPts val="0"/>
              </a:spcAft>
              <a:buClr>
                <a:srgbClr val="9184D9"/>
              </a:buClr>
              <a:buSzPts val="1250"/>
              <a:buFont typeface="Courier New"/>
              <a:buNone/>
            </a:pPr>
            <a:r>
              <a:rPr b="0" i="0" lang="iw-IL" sz="1250" u="none" cap="none" strike="noStrike">
                <a:solidFill>
                  <a:srgbClr val="9184D9"/>
                </a:solidFill>
                <a:latin typeface="Courier New"/>
                <a:ea typeface="Courier New"/>
                <a:cs typeface="Courier New"/>
                <a:sym typeface="Courier New"/>
              </a:rPr>
              <a:t>G(treatment_started → X G ¬treatment_started)</a:t>
            </a:r>
            <a:endParaRPr b="0" i="0" sz="2100" u="none" cap="none" strike="noStrike">
              <a:solidFill>
                <a:schemeClr val="dk1"/>
              </a:solidFill>
              <a:latin typeface="Calibri"/>
              <a:ea typeface="Calibri"/>
              <a:cs typeface="Calibri"/>
              <a:sym typeface="Calibri"/>
            </a:endParaRPr>
          </a:p>
        </p:txBody>
      </p:sp>
      <p:sp>
        <p:nvSpPr>
          <p:cNvPr id="151" name="Google Shape;151;p6"/>
          <p:cNvSpPr/>
          <p:nvPr/>
        </p:nvSpPr>
        <p:spPr>
          <a:xfrm>
            <a:off x="6583680" y="2377440"/>
            <a:ext cx="5120640" cy="5074920"/>
          </a:xfrm>
          <a:prstGeom prst="roundRect">
            <a:avLst>
              <a:gd fmla="val 2162"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txBox="1"/>
          <p:nvPr/>
        </p:nvSpPr>
        <p:spPr>
          <a:xfrm>
            <a:off x="6903720" y="2651760"/>
            <a:ext cx="448056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2000"/>
              <a:buFont typeface="Arial"/>
              <a:buNone/>
            </a:pPr>
            <a:r>
              <a:rPr b="1" i="0" lang="iw-IL" sz="2000" u="none" cap="none" strike="noStrike">
                <a:solidFill>
                  <a:srgbClr val="D2CEFD"/>
                </a:solidFill>
                <a:latin typeface="Arial"/>
                <a:ea typeface="Arial"/>
                <a:cs typeface="Arial"/>
                <a:sym typeface="Arial"/>
              </a:rPr>
              <a:t>בסוף, בתוך זמן קצוב (Liveness)</a:t>
            </a:r>
            <a:endParaRPr b="0" i="0" sz="2000" u="none" cap="none" strike="noStrike">
              <a:solidFill>
                <a:schemeClr val="dk1"/>
              </a:solidFill>
              <a:latin typeface="Calibri"/>
              <a:ea typeface="Calibri"/>
              <a:cs typeface="Calibri"/>
              <a:sym typeface="Calibri"/>
            </a:endParaRPr>
          </a:p>
        </p:txBody>
      </p:sp>
      <p:sp>
        <p:nvSpPr>
          <p:cNvPr id="153" name="Google Shape;153;p6"/>
          <p:cNvSpPr txBox="1"/>
          <p:nvPr/>
        </p:nvSpPr>
        <p:spPr>
          <a:xfrm>
            <a:off x="6812280" y="3291840"/>
            <a:ext cx="4663440" cy="397764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מטופל בתור עובר הערכה חוזרת בזמן, לפי רמת הדחיפות.</a:t>
            </a:r>
            <a:endParaRPr b="0" i="0" sz="2100" u="none" cap="none" strike="noStrike">
              <a:solidFill>
                <a:schemeClr val="dk1"/>
              </a:solidFill>
              <a:latin typeface="Calibri"/>
              <a:ea typeface="Calibri"/>
              <a:cs typeface="Calibri"/>
              <a:sym typeface="Calibri"/>
            </a:endParaRPr>
          </a:p>
          <a:p>
            <a:pPr indent="0" lvl="0" marL="0" marR="0" rtl="0" algn="r">
              <a:spcBef>
                <a:spcPts val="300"/>
              </a:spcBef>
              <a:spcAft>
                <a:spcPts val="0"/>
              </a:spcAft>
              <a:buClr>
                <a:srgbClr val="9184D9"/>
              </a:buClr>
              <a:buSzPts val="1250"/>
              <a:buFont typeface="Courier New"/>
              <a:buNone/>
            </a:pPr>
            <a:r>
              <a:rPr b="0" i="0" lang="iw-IL" sz="1250" u="none" cap="none" strike="noStrike">
                <a:solidFill>
                  <a:srgbClr val="9184D9"/>
                </a:solidFill>
                <a:latin typeface="Courier New"/>
                <a:ea typeface="Courier New"/>
                <a:cs typeface="Courier New"/>
                <a:sym typeface="Courier New"/>
              </a:rPr>
              <a:t>G(enter_queue → F≤T reassessment_required)</a:t>
            </a:r>
            <a:endParaRPr b="0" i="0" sz="2100" u="none" cap="none" strike="noStrike">
              <a:solidFill>
                <a:schemeClr val="dk1"/>
              </a:solidFill>
              <a:latin typeface="Calibri"/>
              <a:ea typeface="Calibri"/>
              <a:cs typeface="Calibri"/>
              <a:sym typeface="Calibri"/>
            </a:endParaRPr>
          </a:p>
          <a:p>
            <a:pPr indent="0" lvl="0" marL="0" marR="0" rtl="1" algn="r">
              <a:spcBef>
                <a:spcPts val="180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מקרה שאף אחד לא טיפל בו מוסלם, ושוב מוסלם, עד שמישהו פועל.</a:t>
            </a:r>
            <a:endParaRPr b="0" i="0" sz="2100" u="none" cap="none" strike="noStrike">
              <a:solidFill>
                <a:schemeClr val="dk1"/>
              </a:solidFill>
              <a:latin typeface="Calibri"/>
              <a:ea typeface="Calibri"/>
              <a:cs typeface="Calibri"/>
              <a:sym typeface="Calibri"/>
            </a:endParaRPr>
          </a:p>
          <a:p>
            <a:pPr indent="0" lvl="0" marL="0" marR="0" rtl="0" algn="r">
              <a:spcBef>
                <a:spcPts val="300"/>
              </a:spcBef>
              <a:spcAft>
                <a:spcPts val="0"/>
              </a:spcAft>
              <a:buClr>
                <a:srgbClr val="9184D9"/>
              </a:buClr>
              <a:buSzPts val="1250"/>
              <a:buFont typeface="Courier New"/>
              <a:buNone/>
            </a:pPr>
            <a:r>
              <a:rPr b="0" i="0" lang="iw-IL" sz="1250" u="none" cap="none" strike="noStrike">
                <a:solidFill>
                  <a:srgbClr val="9184D9"/>
                </a:solidFill>
                <a:latin typeface="Courier New"/>
                <a:ea typeface="Courier New"/>
                <a:cs typeface="Courier New"/>
                <a:sym typeface="Courier New"/>
              </a:rPr>
              <a:t>G(waiting ∧ ¬acted → F≤T escalated)</a:t>
            </a:r>
            <a:endParaRPr b="0" i="0" sz="2100" u="none" cap="none" strike="noStrike">
              <a:solidFill>
                <a:schemeClr val="dk1"/>
              </a:solidFill>
              <a:latin typeface="Calibri"/>
              <a:ea typeface="Calibri"/>
              <a:cs typeface="Calibri"/>
              <a:sym typeface="Calibri"/>
            </a:endParaRPr>
          </a:p>
          <a:p>
            <a:pPr indent="0" lvl="0" marL="0" marR="0" rtl="1" algn="r">
              <a:spcBef>
                <a:spcPts val="180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א</a:t>
            </a:r>
            <a:r>
              <a:rPr b="0" i="0" lang="iw-IL" sz="1900" u="none" cap="none" strike="noStrike">
                <a:solidFill>
                  <a:srgbClr val="E9E9ED"/>
                </a:solidFill>
                <a:latin typeface="Arial"/>
                <a:ea typeface="Arial"/>
                <a:cs typeface="Arial"/>
                <a:sym typeface="Arial"/>
                <a:extLst>
                  <a:ext uri="http://customooxmlschemas.google.com/">
                    <go:slidesCustomData xmlns:go="http://customooxmlschemas.google.com/" textRoundtripDataId="0"/>
                  </a:ext>
                </a:extLst>
              </a:rPr>
              <a:t>חרי כמה סבבי תיקון שנכשלו, המקרה עובר לאחראית משמרת.</a:t>
            </a:r>
            <a:endParaRPr b="0" i="0" sz="2100" u="none" cap="none" strike="noStrike">
              <a:solidFill>
                <a:schemeClr val="dk1"/>
              </a:solidFill>
              <a:latin typeface="Calibri"/>
              <a:ea typeface="Calibri"/>
              <a:cs typeface="Calibri"/>
              <a:sym typeface="Calibri"/>
              <a:extLst>
                <a:ext uri="http://customooxmlschemas.google.com/">
                  <go:slidesCustomData xmlns:go="http://customooxmlschemas.google.com/" textRoundtripDataId="1"/>
                </a:ext>
              </a:extLst>
            </a:endParaRPr>
          </a:p>
          <a:p>
            <a:pPr indent="0" lvl="0" marL="0" marR="0" rtl="0" algn="r">
              <a:spcBef>
                <a:spcPts val="300"/>
              </a:spcBef>
              <a:spcAft>
                <a:spcPts val="0"/>
              </a:spcAft>
              <a:buClr>
                <a:srgbClr val="9184D9"/>
              </a:buClr>
              <a:buSzPts val="1250"/>
              <a:buFont typeface="Courier New"/>
              <a:buNone/>
            </a:pPr>
            <a:r>
              <a:rPr b="0" i="0" lang="iw-IL" sz="1250" u="none" cap="none" strike="noStrike">
                <a:solidFill>
                  <a:srgbClr val="9184D9"/>
                </a:solidFill>
                <a:latin typeface="Courier New"/>
                <a:ea typeface="Courier New"/>
                <a:cs typeface="Courier New"/>
                <a:sym typeface="Courier New"/>
                <a:extLst>
                  <a:ext uri="http://customooxmlschemas.google.com/">
                    <go:slidesCustomData xmlns:go="http://customooxmlschemas.google.com/" textRoundtripDataId="2"/>
                  </a:ext>
                </a:extLst>
              </a:rPr>
              <a:t>G(correction_rounds ≥ N → F handed_up)</a:t>
            </a:r>
            <a:endParaRPr b="0" i="0" sz="2100" u="none" cap="none" strike="noStrike">
              <a:solidFill>
                <a:schemeClr val="dk1"/>
              </a:solidFill>
              <a:latin typeface="Calibri"/>
              <a:ea typeface="Calibri"/>
              <a:cs typeface="Calibri"/>
              <a:sym typeface="Calibri"/>
            </a:endParaRPr>
          </a:p>
        </p:txBody>
      </p:sp>
      <p:sp>
        <p:nvSpPr>
          <p:cNvPr id="154" name="Google Shape;154;p6"/>
          <p:cNvSpPr/>
          <p:nvPr/>
        </p:nvSpPr>
        <p:spPr>
          <a:xfrm>
            <a:off x="914400" y="2377440"/>
            <a:ext cx="5120640" cy="5074920"/>
          </a:xfrm>
          <a:prstGeom prst="roundRect">
            <a:avLst>
              <a:gd fmla="val 2162" name="adj"/>
            </a:avLst>
          </a:prstGeom>
          <a:solidFill>
            <a:srgbClr val="2A1F2A"/>
          </a:solidFill>
          <a:ln cap="flat" cmpd="sng" w="12700">
            <a:solidFill>
              <a:srgbClr val="4A2E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txBox="1"/>
          <p:nvPr/>
        </p:nvSpPr>
        <p:spPr>
          <a:xfrm>
            <a:off x="1234440" y="2651760"/>
            <a:ext cx="448056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F2B8B5"/>
              </a:buClr>
              <a:buSzPts val="2000"/>
              <a:buFont typeface="Arial"/>
              <a:buNone/>
            </a:pPr>
            <a:r>
              <a:rPr b="1" i="0" lang="iw-IL" sz="2000" u="none" cap="none" strike="noStrike">
                <a:solidFill>
                  <a:srgbClr val="F2B8B5"/>
                </a:solidFill>
                <a:latin typeface="Arial"/>
                <a:ea typeface="Arial"/>
                <a:cs typeface="Arial"/>
                <a:sym typeface="Arial"/>
              </a:rPr>
              <a:t>רצפים אסורים</a:t>
            </a:r>
            <a:endParaRPr b="0" i="0" sz="2000" u="none" cap="none" strike="noStrike">
              <a:solidFill>
                <a:schemeClr val="dk1"/>
              </a:solidFill>
              <a:latin typeface="Calibri"/>
              <a:ea typeface="Calibri"/>
              <a:cs typeface="Calibri"/>
              <a:sym typeface="Calibri"/>
            </a:endParaRPr>
          </a:p>
        </p:txBody>
      </p:sp>
      <p:sp>
        <p:nvSpPr>
          <p:cNvPr id="156" name="Google Shape;156;p6"/>
          <p:cNvSpPr txBox="1"/>
          <p:nvPr/>
        </p:nvSpPr>
        <p:spPr>
          <a:xfrm>
            <a:off x="1143000" y="3291840"/>
            <a:ext cx="4663440" cy="397764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כניסה לתור אחרי בדיקת בטיחות שנכשלה, בלי תיקון ובדיקה חוזרת.</a:t>
            </a:r>
            <a:endParaRPr b="0" i="0" sz="2100" u="none" cap="none" strike="noStrike">
              <a:solidFill>
                <a:schemeClr val="dk1"/>
              </a:solidFill>
              <a:latin typeface="Calibri"/>
              <a:ea typeface="Calibri"/>
              <a:cs typeface="Calibri"/>
              <a:sym typeface="Calibri"/>
            </a:endParaRPr>
          </a:p>
          <a:p>
            <a:pPr indent="0" lvl="0" marL="0" marR="0" rtl="0" algn="r">
              <a:spcBef>
                <a:spcPts val="300"/>
              </a:spcBef>
              <a:spcAft>
                <a:spcPts val="0"/>
              </a:spcAft>
              <a:buClr>
                <a:srgbClr val="C99AA8"/>
              </a:buClr>
              <a:buSzPts val="1250"/>
              <a:buFont typeface="Courier New"/>
              <a:buNone/>
            </a:pPr>
            <a:r>
              <a:rPr b="0" i="0" lang="iw-IL" sz="1250" u="none" cap="none" strike="noStrike">
                <a:solidFill>
                  <a:srgbClr val="C99AA8"/>
                </a:solidFill>
                <a:latin typeface="Courier New"/>
                <a:ea typeface="Courier New"/>
                <a:cs typeface="Courier New"/>
                <a:sym typeface="Courier New"/>
              </a:rPr>
              <a:t>safety_failed → enter_queue</a:t>
            </a:r>
            <a:endParaRPr b="0" i="0" sz="2100" u="none" cap="none" strike="noStrike">
              <a:solidFill>
                <a:schemeClr val="dk1"/>
              </a:solidFill>
              <a:latin typeface="Calibri"/>
              <a:ea typeface="Calibri"/>
              <a:cs typeface="Calibri"/>
              <a:sym typeface="Calibri"/>
            </a:endParaRPr>
          </a:p>
          <a:p>
            <a:pPr indent="0" lvl="0" marL="0" marR="0" rtl="1" algn="r">
              <a:spcBef>
                <a:spcPts val="180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שדה לא מאושר או טקסט חופשי שמגיע ל-AI.</a:t>
            </a:r>
            <a:endParaRPr b="0" i="0" sz="2100" u="none" cap="none" strike="noStrike">
              <a:solidFill>
                <a:schemeClr val="dk1"/>
              </a:solidFill>
              <a:latin typeface="Calibri"/>
              <a:ea typeface="Calibri"/>
              <a:cs typeface="Calibri"/>
              <a:sym typeface="Calibri"/>
            </a:endParaRPr>
          </a:p>
          <a:p>
            <a:pPr indent="0" lvl="0" marL="0" marR="0" rtl="0" algn="r">
              <a:spcBef>
                <a:spcPts val="300"/>
              </a:spcBef>
              <a:spcAft>
                <a:spcPts val="0"/>
              </a:spcAft>
              <a:buClr>
                <a:srgbClr val="C99AA8"/>
              </a:buClr>
              <a:buSzPts val="1250"/>
              <a:buFont typeface="Courier New"/>
              <a:buNone/>
            </a:pPr>
            <a:r>
              <a:rPr b="0" i="0" lang="iw-IL" sz="1250" u="none" cap="none" strike="noStrike">
                <a:solidFill>
                  <a:srgbClr val="C99AA8"/>
                </a:solidFill>
                <a:latin typeface="Courier New"/>
                <a:ea typeface="Courier New"/>
                <a:cs typeface="Courier New"/>
                <a:sym typeface="Courier New"/>
              </a:rPr>
              <a:t>unapproved_field → model_call</a:t>
            </a:r>
            <a:endParaRPr b="0" i="0" sz="2100" u="none" cap="none" strike="noStrike">
              <a:solidFill>
                <a:schemeClr val="dk1"/>
              </a:solidFill>
              <a:latin typeface="Calibri"/>
              <a:ea typeface="Calibri"/>
              <a:cs typeface="Calibri"/>
              <a:sym typeface="Calibri"/>
            </a:endParaRPr>
          </a:p>
          <a:p>
            <a:pPr indent="0" lvl="0" marL="0" marR="0" rtl="1" algn="r">
              <a:spcBef>
                <a:spcPts val="180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שינוי במקרה אחרי שהוא נסגר.</a:t>
            </a:r>
            <a:endParaRPr b="0" i="0" sz="2100" u="none" cap="none" strike="noStrike">
              <a:solidFill>
                <a:schemeClr val="dk1"/>
              </a:solidFill>
              <a:latin typeface="Calibri"/>
              <a:ea typeface="Calibri"/>
              <a:cs typeface="Calibri"/>
              <a:sym typeface="Calibri"/>
            </a:endParaRPr>
          </a:p>
          <a:p>
            <a:pPr indent="0" lvl="0" marL="0" marR="0" rtl="0" algn="r">
              <a:spcBef>
                <a:spcPts val="300"/>
              </a:spcBef>
              <a:spcAft>
                <a:spcPts val="0"/>
              </a:spcAft>
              <a:buClr>
                <a:srgbClr val="C99AA8"/>
              </a:buClr>
              <a:buSzPts val="1250"/>
              <a:buFont typeface="Courier New"/>
              <a:buNone/>
            </a:pPr>
            <a:r>
              <a:rPr b="0" i="0" lang="iw-IL" sz="1250" u="none" cap="none" strike="noStrike">
                <a:solidFill>
                  <a:srgbClr val="C99AA8"/>
                </a:solidFill>
                <a:latin typeface="Courier New"/>
                <a:ea typeface="Courier New"/>
                <a:cs typeface="Courier New"/>
                <a:sym typeface="Courier New"/>
              </a:rPr>
              <a:t>case_closed → field_changed</a:t>
            </a:r>
            <a:endParaRPr b="0" i="0" sz="2100" u="none" cap="none" strike="noStrike">
              <a:solidFill>
                <a:schemeClr val="dk1"/>
              </a:solidFill>
              <a:latin typeface="Calibri"/>
              <a:ea typeface="Calibri"/>
              <a:cs typeface="Calibri"/>
              <a:sym typeface="Calibri"/>
            </a:endParaRPr>
          </a:p>
        </p:txBody>
      </p:sp>
      <p:sp>
        <p:nvSpPr>
          <p:cNvPr id="157" name="Google Shape;157;p6"/>
          <p:cNvSpPr/>
          <p:nvPr/>
        </p:nvSpPr>
        <p:spPr>
          <a:xfrm>
            <a:off x="914400" y="7726680"/>
            <a:ext cx="16459200" cy="1417320"/>
          </a:xfrm>
          <a:prstGeom prst="roundRect">
            <a:avLst>
              <a:gd fmla="val 7742"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txBox="1"/>
          <p:nvPr/>
        </p:nvSpPr>
        <p:spPr>
          <a:xfrm>
            <a:off x="1280160" y="7882128"/>
            <a:ext cx="15727680" cy="1143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D2CEFD"/>
              </a:buClr>
              <a:buSzPts val="1800"/>
              <a:buFont typeface="Arial"/>
              <a:buNone/>
            </a:pPr>
            <a:r>
              <a:rPr b="1" i="0" lang="iw-IL" sz="1800" u="none" cap="none" strike="noStrike">
                <a:solidFill>
                  <a:srgbClr val="D2CEFD"/>
                </a:solidFill>
                <a:latin typeface="Arial"/>
                <a:ea typeface="Arial"/>
                <a:cs typeface="Arial"/>
                <a:sym typeface="Arial"/>
              </a:rPr>
              <a:t>איך אוכפים: </a:t>
            </a:r>
            <a:r>
              <a:rPr b="0" i="0" lang="iw-IL" sz="1800" u="none" cap="none" strike="noStrike">
                <a:solidFill>
                  <a:srgbClr val="E9E9ED"/>
                </a:solidFill>
                <a:latin typeface="Arial"/>
                <a:ea typeface="Arial"/>
                <a:cs typeface="Arial"/>
                <a:sym typeface="Arial"/>
              </a:rPr>
              <a:t>לפני כל צעד, בדיקות ומדיניות חוסמות מעבר אסור. טיימרים מוודאים ש"בסוף" באמת קורה. אחרי הריצה, בדיקה נפרדת (trace check) קוראת את כל יומן המקרה ומסמנת את הרשומה המדויקת שבה הופר אחד מששת כללי הרצף.</a:t>
            </a:r>
            <a:endParaRPr b="0" i="0" sz="1800" u="none" cap="none" strike="noStrike">
              <a:solidFill>
                <a:schemeClr val="dk1"/>
              </a:solidFill>
              <a:latin typeface="Calibri"/>
              <a:ea typeface="Calibri"/>
              <a:cs typeface="Calibri"/>
              <a:sym typeface="Calibri"/>
            </a:endParaRPr>
          </a:p>
        </p:txBody>
      </p:sp>
      <p:sp>
        <p:nvSpPr>
          <p:cNvPr id="159" name="Google Shape;159;p6"/>
          <p:cNvSpPr txBox="1"/>
          <p:nvPr/>
        </p:nvSpPr>
        <p:spPr>
          <a:xfrm>
            <a:off x="914400" y="9326880"/>
            <a:ext cx="16459200" cy="4114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9397AB"/>
              </a:buClr>
              <a:buSzPts val="1600"/>
              <a:buFont typeface="Arial"/>
              <a:buNone/>
            </a:pPr>
            <a:r>
              <a:rPr b="0" i="0" lang="iw-IL" sz="1600" u="none" cap="none" strike="noStrike">
                <a:solidFill>
                  <a:srgbClr val="9397AB"/>
                </a:solidFill>
                <a:latin typeface="Arial"/>
                <a:ea typeface="Arial"/>
                <a:cs typeface="Arial"/>
                <a:sym typeface="Arial"/>
              </a:rPr>
              <a:t>מקרא:  </a:t>
            </a:r>
            <a:r>
              <a:rPr b="0" i="0" lang="iw-IL" sz="1600" u="none" cap="none" strike="noStrike">
                <a:solidFill>
                  <a:srgbClr val="9397AB"/>
                </a:solidFill>
                <a:latin typeface="Courier New"/>
                <a:ea typeface="Courier New"/>
                <a:cs typeface="Courier New"/>
                <a:sym typeface="Courier New"/>
              </a:rPr>
              <a:t>G</a:t>
            </a:r>
            <a:r>
              <a:rPr b="0" i="0" lang="iw-IL" sz="1600" u="none" cap="none" strike="noStrike">
                <a:solidFill>
                  <a:srgbClr val="9397AB"/>
                </a:solidFill>
                <a:latin typeface="Arial"/>
                <a:ea typeface="Arial"/>
                <a:cs typeface="Arial"/>
                <a:sym typeface="Arial"/>
              </a:rPr>
              <a:t> = תמיד   ·   </a:t>
            </a:r>
            <a:r>
              <a:rPr b="0" i="0" lang="iw-IL" sz="1600" u="none" cap="none" strike="noStrike">
                <a:solidFill>
                  <a:srgbClr val="9397AB"/>
                </a:solidFill>
                <a:latin typeface="Courier New"/>
                <a:ea typeface="Courier New"/>
                <a:cs typeface="Courier New"/>
                <a:sym typeface="Courier New"/>
              </a:rPr>
              <a:t>F</a:t>
            </a:r>
            <a:r>
              <a:rPr b="0" i="0" lang="iw-IL" sz="1600" u="none" cap="none" strike="noStrike">
                <a:solidFill>
                  <a:srgbClr val="9397AB"/>
                </a:solidFill>
                <a:latin typeface="Arial"/>
                <a:ea typeface="Arial"/>
                <a:cs typeface="Arial"/>
                <a:sym typeface="Arial"/>
              </a:rPr>
              <a:t> = בסוף   ·   </a:t>
            </a:r>
            <a:r>
              <a:rPr b="0" i="0" lang="iw-IL" sz="1600" u="none" cap="none" strike="noStrike">
                <a:solidFill>
                  <a:srgbClr val="9397AB"/>
                </a:solidFill>
                <a:latin typeface="Courier New"/>
                <a:ea typeface="Courier New"/>
                <a:cs typeface="Courier New"/>
                <a:sym typeface="Courier New"/>
              </a:rPr>
              <a:t>X</a:t>
            </a:r>
            <a:r>
              <a:rPr b="0" i="0" lang="iw-IL" sz="1600" u="none" cap="none" strike="noStrike">
                <a:solidFill>
                  <a:srgbClr val="9397AB"/>
                </a:solidFill>
                <a:latin typeface="Arial"/>
                <a:ea typeface="Arial"/>
                <a:cs typeface="Arial"/>
                <a:sym typeface="Arial"/>
              </a:rPr>
              <a:t> = בשלב הבא   ·   </a:t>
            </a:r>
            <a:r>
              <a:rPr b="0" i="0" lang="iw-IL" sz="1600" u="none" cap="none" strike="noStrike">
                <a:solidFill>
                  <a:srgbClr val="9397AB"/>
                </a:solidFill>
                <a:latin typeface="Courier New"/>
                <a:ea typeface="Courier New"/>
                <a:cs typeface="Courier New"/>
                <a:sym typeface="Courier New"/>
              </a:rPr>
              <a:t>F≤T</a:t>
            </a:r>
            <a:r>
              <a:rPr b="0" i="0" lang="iw-IL" sz="1600" u="none" cap="none" strike="noStrike">
                <a:solidFill>
                  <a:srgbClr val="9397AB"/>
                </a:solidFill>
                <a:latin typeface="Arial"/>
                <a:ea typeface="Arial"/>
                <a:cs typeface="Arial"/>
                <a:sym typeface="Arial"/>
              </a:rPr>
              <a:t> = בסוף, בתוך זמן 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6"/>
        </a:solidFill>
      </p:bgPr>
    </p:bg>
    <p:spTree>
      <p:nvGrpSpPr>
        <p:cNvPr id="164" name="Shape 164"/>
        <p:cNvGrpSpPr/>
        <p:nvPr/>
      </p:nvGrpSpPr>
      <p:grpSpPr>
        <a:xfrm>
          <a:off x="0" y="0"/>
          <a:ext cx="0" cy="0"/>
          <a:chOff x="0" y="0"/>
          <a:chExt cx="0" cy="0"/>
        </a:xfrm>
      </p:grpSpPr>
      <p:sp>
        <p:nvSpPr>
          <p:cNvPr id="165" name="Google Shape;165;p7"/>
          <p:cNvSpPr txBox="1"/>
          <p:nvPr/>
        </p:nvSpPr>
        <p:spPr>
          <a:xfrm>
            <a:off x="91440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97AB"/>
              </a:buClr>
              <a:buSzPts val="1600"/>
              <a:buFont typeface="Courier New"/>
              <a:buNone/>
            </a:pPr>
            <a:r>
              <a:rPr b="0" i="0" lang="iw-IL" sz="1600" u="none" cap="none" strike="noStrike">
                <a:solidFill>
                  <a:srgbClr val="9397AB"/>
                </a:solidFill>
                <a:latin typeface="Courier New"/>
                <a:ea typeface="Courier New"/>
                <a:cs typeface="Courier New"/>
                <a:sym typeface="Courier New"/>
              </a:rPr>
              <a:t>07 · Neuro-Symbolic</a:t>
            </a:r>
            <a:endParaRPr b="0" i="0" sz="1600" u="none" cap="none" strike="noStrike">
              <a:solidFill>
                <a:schemeClr val="dk1"/>
              </a:solidFill>
              <a:latin typeface="Calibri"/>
              <a:ea typeface="Calibri"/>
              <a:cs typeface="Calibri"/>
              <a:sym typeface="Calibri"/>
            </a:endParaRPr>
          </a:p>
        </p:txBody>
      </p:sp>
      <p:sp>
        <p:nvSpPr>
          <p:cNvPr id="166" name="Google Shape;166;p7"/>
          <p:cNvSpPr txBox="1"/>
          <p:nvPr/>
        </p:nvSpPr>
        <p:spPr>
          <a:xfrm>
            <a:off x="3657600" y="411480"/>
            <a:ext cx="13716000" cy="10972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4800"/>
              <a:buFont typeface="Arial"/>
              <a:buNone/>
            </a:pPr>
            <a:r>
              <a:rPr b="0" i="0" lang="iw-IL" sz="4800" u="none" cap="none" strike="noStrike">
                <a:solidFill>
                  <a:srgbClr val="E9E9ED"/>
                </a:solidFill>
                <a:latin typeface="Arial"/>
                <a:ea typeface="Arial"/>
                <a:cs typeface="Arial"/>
                <a:sym typeface="Arial"/>
              </a:rPr>
              <a:t>ה-AI מציע, הכללים מחליטים</a:t>
            </a:r>
            <a:endParaRPr b="0" i="0" sz="4800" u="none" cap="none" strike="noStrike">
              <a:solidFill>
                <a:schemeClr val="dk1"/>
              </a:solidFill>
              <a:latin typeface="Calibri"/>
              <a:ea typeface="Calibri"/>
              <a:cs typeface="Calibri"/>
              <a:sym typeface="Calibri"/>
            </a:endParaRPr>
          </a:p>
        </p:txBody>
      </p:sp>
      <p:sp>
        <p:nvSpPr>
          <p:cNvPr id="167" name="Google Shape;167;p7"/>
          <p:cNvSpPr/>
          <p:nvPr/>
        </p:nvSpPr>
        <p:spPr>
          <a:xfrm>
            <a:off x="9875520" y="1920240"/>
            <a:ext cx="7498080" cy="3017520"/>
          </a:xfrm>
          <a:prstGeom prst="roundRect">
            <a:avLst>
              <a:gd fmla="val 3636" name="adj"/>
            </a:avLst>
          </a:prstGeom>
          <a:solidFill>
            <a:srgbClr val="2B2960"/>
          </a:solidFill>
          <a:ln cap="flat" cmpd="sng" w="12700">
            <a:solidFill>
              <a:srgbClr val="4C539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txBox="1"/>
          <p:nvPr/>
        </p:nvSpPr>
        <p:spPr>
          <a:xfrm>
            <a:off x="10241280" y="2194560"/>
            <a:ext cx="676650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2000"/>
              <a:buFont typeface="Arial"/>
              <a:buNone/>
            </a:pPr>
            <a:r>
              <a:rPr b="1" i="0" lang="iw-IL" sz="2000" u="none" cap="none" strike="noStrike">
                <a:solidFill>
                  <a:srgbClr val="D2CEFD"/>
                </a:solidFill>
                <a:latin typeface="Arial"/>
                <a:ea typeface="Arial"/>
                <a:cs typeface="Arial"/>
                <a:sym typeface="Arial"/>
              </a:rPr>
              <a:t>החלק הנוירוני (AI)</a:t>
            </a:r>
            <a:endParaRPr b="0" i="0" sz="2000" u="none" cap="none" strike="noStrike">
              <a:solidFill>
                <a:schemeClr val="dk1"/>
              </a:solidFill>
              <a:latin typeface="Calibri"/>
              <a:ea typeface="Calibri"/>
              <a:cs typeface="Calibri"/>
              <a:sym typeface="Calibri"/>
            </a:endParaRPr>
          </a:p>
        </p:txBody>
      </p:sp>
      <p:sp>
        <p:nvSpPr>
          <p:cNvPr id="169" name="Google Shape;169;p7"/>
          <p:cNvSpPr txBox="1"/>
          <p:nvPr/>
        </p:nvSpPr>
        <p:spPr>
          <a:xfrm>
            <a:off x="10241280" y="2834640"/>
            <a:ext cx="6766560" cy="1920240"/>
          </a:xfrm>
          <a:prstGeom prst="rect">
            <a:avLst/>
          </a:prstGeom>
          <a:noFill/>
          <a:ln>
            <a:noFill/>
          </a:ln>
        </p:spPr>
        <p:txBody>
          <a:bodyPr anchorCtr="0" anchor="t" bIns="0" lIns="0" spcFirstLastPara="1" rIns="0" wrap="square" tIns="0">
            <a:noAutofit/>
          </a:bodyPr>
          <a:lstStyle/>
          <a:p>
            <a:pPr indent="-228600" lvl="0" marL="228600" marR="0" rtl="1" algn="r">
              <a:spcBef>
                <a:spcPts val="0"/>
              </a:spcBef>
              <a:spcAft>
                <a:spcPts val="0"/>
              </a:spcAft>
              <a:buClr>
                <a:srgbClr val="E9E9ED"/>
              </a:buClr>
              <a:buSzPts val="2000"/>
              <a:buFont typeface="Arial"/>
              <a:buChar char="•"/>
            </a:pPr>
            <a:r>
              <a:rPr b="0" i="0" lang="iw-IL" sz="2000" u="none" cap="none" strike="noStrike">
                <a:solidFill>
                  <a:srgbClr val="E9E9ED"/>
                </a:solidFill>
                <a:latin typeface="Arial"/>
                <a:ea typeface="Arial"/>
                <a:cs typeface="Arial"/>
                <a:sym typeface="Arial"/>
              </a:rPr>
              <a:t>מודל AI</a:t>
            </a:r>
            <a:r>
              <a:rPr lang="iw-IL" sz="2000">
                <a:solidFill>
                  <a:srgbClr val="E9E9ED"/>
                </a:solidFill>
              </a:rPr>
              <a:t> </a:t>
            </a:r>
            <a:r>
              <a:rPr b="0" i="0" lang="iw-IL" sz="2000" u="none" cap="none" strike="noStrike">
                <a:solidFill>
                  <a:srgbClr val="E9E9ED"/>
                </a:solidFill>
                <a:latin typeface="Arial"/>
                <a:ea typeface="Arial"/>
                <a:cs typeface="Arial"/>
                <a:sym typeface="Arial"/>
              </a:rPr>
              <a:t>שמציע רמת דחיפות.</a:t>
            </a:r>
            <a:endParaRPr b="0" i="0" sz="2000" u="none" cap="none" strike="noStrike">
              <a:solidFill>
                <a:schemeClr val="dk1"/>
              </a:solidFill>
              <a:latin typeface="Calibri"/>
              <a:ea typeface="Calibri"/>
              <a:cs typeface="Calibri"/>
              <a:sym typeface="Calibri"/>
            </a:endParaRPr>
          </a:p>
          <a:p>
            <a:pPr indent="-228600" lvl="0" marL="228600" marR="0" rtl="1" algn="r">
              <a:spcBef>
                <a:spcPts val="1000"/>
              </a:spcBef>
              <a:spcAft>
                <a:spcPts val="0"/>
              </a:spcAft>
              <a:buClr>
                <a:srgbClr val="E9E9ED"/>
              </a:buClr>
              <a:buSzPts val="2000"/>
              <a:buFont typeface="Arial"/>
              <a:buChar char="•"/>
            </a:pPr>
            <a:r>
              <a:rPr b="0" i="0" lang="iw-IL" sz="2000" u="none" cap="none" strike="noStrike">
                <a:solidFill>
                  <a:srgbClr val="E9E9ED"/>
                </a:solidFill>
                <a:latin typeface="Arial"/>
                <a:ea typeface="Arial"/>
                <a:cs typeface="Arial"/>
                <a:sym typeface="Arial"/>
              </a:rPr>
              <a:t>קורא תלונה, מדדים חיוניים והיסטוריה, בלי פרטים מזהים.</a:t>
            </a:r>
            <a:endParaRPr b="0" i="0" sz="2000" u="none" cap="none" strike="noStrike">
              <a:solidFill>
                <a:schemeClr val="dk1"/>
              </a:solidFill>
              <a:latin typeface="Calibri"/>
              <a:ea typeface="Calibri"/>
              <a:cs typeface="Calibri"/>
              <a:sym typeface="Calibri"/>
            </a:endParaRPr>
          </a:p>
          <a:p>
            <a:pPr indent="-228600" lvl="0" marL="228600" marR="0" rtl="1" algn="r">
              <a:spcBef>
                <a:spcPts val="1000"/>
              </a:spcBef>
              <a:spcAft>
                <a:spcPts val="0"/>
              </a:spcAft>
              <a:buClr>
                <a:srgbClr val="E9E9ED"/>
              </a:buClr>
              <a:buSzPts val="2000"/>
              <a:buFont typeface="Arial"/>
              <a:buChar char="•"/>
            </a:pPr>
            <a:r>
              <a:rPr b="0" i="0" lang="iw-IL" sz="2000" u="none" cap="none" strike="noStrike">
                <a:solidFill>
                  <a:srgbClr val="E9E9ED"/>
                </a:solidFill>
                <a:latin typeface="Arial"/>
                <a:ea typeface="Arial"/>
                <a:cs typeface="Arial"/>
                <a:sym typeface="Arial"/>
              </a:rPr>
              <a:t>מחזיר רמה (מ-1 עד 5) וציון ביטחון.</a:t>
            </a:r>
            <a:endParaRPr b="0" i="0" sz="2000" u="none" cap="none" strike="noStrike">
              <a:solidFill>
                <a:schemeClr val="dk1"/>
              </a:solidFill>
              <a:latin typeface="Calibri"/>
              <a:ea typeface="Calibri"/>
              <a:cs typeface="Calibri"/>
              <a:sym typeface="Calibri"/>
            </a:endParaRPr>
          </a:p>
        </p:txBody>
      </p:sp>
      <p:sp>
        <p:nvSpPr>
          <p:cNvPr id="170" name="Google Shape;170;p7"/>
          <p:cNvSpPr txBox="1"/>
          <p:nvPr/>
        </p:nvSpPr>
        <p:spPr>
          <a:xfrm>
            <a:off x="8412480" y="3017520"/>
            <a:ext cx="146304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2CEFD"/>
              </a:buClr>
              <a:buSzPts val="4400"/>
              <a:buFont typeface="Arial"/>
              <a:buNone/>
            </a:pPr>
            <a:r>
              <a:rPr b="0" i="0" lang="iw-IL" sz="4400" u="none" cap="none" strike="noStrike">
                <a:solidFill>
                  <a:srgbClr val="D2CEFD"/>
                </a:solidFill>
                <a:latin typeface="Arial"/>
                <a:ea typeface="Arial"/>
                <a:cs typeface="Arial"/>
                <a:sym typeface="Arial"/>
              </a:rPr>
              <a:t>←</a:t>
            </a:r>
            <a:endParaRPr b="0" i="0" sz="4400" u="none" cap="none" strike="noStrike">
              <a:solidFill>
                <a:schemeClr val="dk1"/>
              </a:solidFill>
              <a:latin typeface="Calibri"/>
              <a:ea typeface="Calibri"/>
              <a:cs typeface="Calibri"/>
              <a:sym typeface="Calibri"/>
            </a:endParaRPr>
          </a:p>
        </p:txBody>
      </p:sp>
      <p:sp>
        <p:nvSpPr>
          <p:cNvPr id="171" name="Google Shape;171;p7"/>
          <p:cNvSpPr txBox="1"/>
          <p:nvPr/>
        </p:nvSpPr>
        <p:spPr>
          <a:xfrm>
            <a:off x="8412480" y="3749040"/>
            <a:ext cx="1463040" cy="365760"/>
          </a:xfrm>
          <a:prstGeom prst="rect">
            <a:avLst/>
          </a:prstGeom>
          <a:noFill/>
          <a:ln>
            <a:noFill/>
          </a:ln>
        </p:spPr>
        <p:txBody>
          <a:bodyPr anchorCtr="0" anchor="t" bIns="0" lIns="0" spcFirstLastPara="1" rIns="0" wrap="square" tIns="0">
            <a:noAutofit/>
          </a:bodyPr>
          <a:lstStyle/>
          <a:p>
            <a:pPr indent="0" lvl="0" marL="0" marR="0" rtl="1" algn="ctr">
              <a:spcBef>
                <a:spcPts val="0"/>
              </a:spcBef>
              <a:spcAft>
                <a:spcPts val="0"/>
              </a:spcAft>
              <a:buClr>
                <a:srgbClr val="9397AB"/>
              </a:buClr>
              <a:buSzPts val="1500"/>
              <a:buFont typeface="Arial"/>
              <a:buNone/>
            </a:pPr>
            <a:r>
              <a:rPr b="0" i="0" lang="iw-IL" sz="1500" u="none" cap="none" strike="noStrike">
                <a:solidFill>
                  <a:srgbClr val="9397AB"/>
                </a:solidFill>
                <a:latin typeface="Arial"/>
                <a:ea typeface="Arial"/>
                <a:cs typeface="Arial"/>
                <a:sym typeface="Arial"/>
              </a:rPr>
              <a:t>הצעה</a:t>
            </a:r>
            <a:endParaRPr b="0" i="0" sz="1500" u="none" cap="none" strike="noStrike">
              <a:solidFill>
                <a:schemeClr val="dk1"/>
              </a:solidFill>
              <a:latin typeface="Calibri"/>
              <a:ea typeface="Calibri"/>
              <a:cs typeface="Calibri"/>
              <a:sym typeface="Calibri"/>
            </a:endParaRPr>
          </a:p>
        </p:txBody>
      </p:sp>
      <p:sp>
        <p:nvSpPr>
          <p:cNvPr id="172" name="Google Shape;172;p7"/>
          <p:cNvSpPr/>
          <p:nvPr/>
        </p:nvSpPr>
        <p:spPr>
          <a:xfrm>
            <a:off x="914400" y="1920240"/>
            <a:ext cx="7498080" cy="3017520"/>
          </a:xfrm>
          <a:prstGeom prst="roundRect">
            <a:avLst>
              <a:gd fmla="val 3636"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txBox="1"/>
          <p:nvPr/>
        </p:nvSpPr>
        <p:spPr>
          <a:xfrm>
            <a:off x="1280160" y="2194560"/>
            <a:ext cx="676656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2000"/>
              <a:buFont typeface="Arial"/>
              <a:buNone/>
            </a:pPr>
            <a:r>
              <a:rPr b="1" i="0" lang="iw-IL" sz="2000" u="none" cap="none" strike="noStrike">
                <a:solidFill>
                  <a:srgbClr val="D2CEFD"/>
                </a:solidFill>
                <a:latin typeface="Arial"/>
                <a:ea typeface="Arial"/>
                <a:cs typeface="Arial"/>
                <a:sym typeface="Arial"/>
              </a:rPr>
              <a:t>החלק הסימבולי (כללים)</a:t>
            </a:r>
            <a:endParaRPr b="0" i="0" sz="2000" u="none" cap="none" strike="noStrike">
              <a:solidFill>
                <a:schemeClr val="dk1"/>
              </a:solidFill>
              <a:latin typeface="Calibri"/>
              <a:ea typeface="Calibri"/>
              <a:cs typeface="Calibri"/>
              <a:sym typeface="Calibri"/>
            </a:endParaRPr>
          </a:p>
        </p:txBody>
      </p:sp>
      <p:sp>
        <p:nvSpPr>
          <p:cNvPr id="174" name="Google Shape;174;p7"/>
          <p:cNvSpPr txBox="1"/>
          <p:nvPr/>
        </p:nvSpPr>
        <p:spPr>
          <a:xfrm>
            <a:off x="1280160" y="2834640"/>
            <a:ext cx="6766560" cy="1920240"/>
          </a:xfrm>
          <a:prstGeom prst="rect">
            <a:avLst/>
          </a:prstGeom>
          <a:noFill/>
          <a:ln>
            <a:noFill/>
          </a:ln>
        </p:spPr>
        <p:txBody>
          <a:bodyPr anchorCtr="0" anchor="t" bIns="0" lIns="0" spcFirstLastPara="1" rIns="0" wrap="square" tIns="0">
            <a:noAutofit/>
          </a:bodyPr>
          <a:lstStyle/>
          <a:p>
            <a:pPr indent="-228600" lvl="0" marL="228600" marR="0" rtl="1" algn="r">
              <a:spcBef>
                <a:spcPts val="0"/>
              </a:spcBef>
              <a:spcAft>
                <a:spcPts val="0"/>
              </a:spcAft>
              <a:buClr>
                <a:srgbClr val="E9E9ED"/>
              </a:buClr>
              <a:buSzPts val="2000"/>
              <a:buFont typeface="Arial"/>
              <a:buChar char="•"/>
            </a:pPr>
            <a:r>
              <a:rPr b="0" i="0" lang="iw-IL" sz="2000" u="none" cap="none" strike="noStrike">
                <a:solidFill>
                  <a:srgbClr val="E9E9ED"/>
                </a:solidFill>
                <a:latin typeface="Arial"/>
                <a:ea typeface="Arial"/>
                <a:cs typeface="Arial"/>
                <a:sym typeface="Arial"/>
              </a:rPr>
              <a:t>חמישה מנועים: OPA, Z3, Prolog, Datalog ו-BPpy.</a:t>
            </a:r>
            <a:endParaRPr b="0" i="0" sz="2000" u="none" cap="none" strike="noStrike">
              <a:solidFill>
                <a:schemeClr val="dk1"/>
              </a:solidFill>
              <a:latin typeface="Calibri"/>
              <a:ea typeface="Calibri"/>
              <a:cs typeface="Calibri"/>
              <a:sym typeface="Calibri"/>
            </a:endParaRPr>
          </a:p>
          <a:p>
            <a:pPr indent="-228600" lvl="0" marL="228600" marR="0" rtl="1" algn="r">
              <a:spcBef>
                <a:spcPts val="1000"/>
              </a:spcBef>
              <a:spcAft>
                <a:spcPts val="0"/>
              </a:spcAft>
              <a:buClr>
                <a:srgbClr val="E9E9ED"/>
              </a:buClr>
              <a:buSzPts val="2000"/>
              <a:buFont typeface="Arial"/>
              <a:buChar char="•"/>
            </a:pPr>
            <a:r>
              <a:rPr b="0" i="0" lang="iw-IL" sz="2000" u="none" cap="none" strike="noStrike">
                <a:solidFill>
                  <a:srgbClr val="E9E9ED"/>
                </a:solidFill>
                <a:latin typeface="Arial"/>
                <a:ea typeface="Arial"/>
                <a:cs typeface="Arial"/>
                <a:sym typeface="Arial"/>
              </a:rPr>
              <a:t>בודקים הרשאות, פרטיות, עקביות וסדר תור.</a:t>
            </a:r>
            <a:endParaRPr b="0" i="0" sz="2000" u="none" cap="none" strike="noStrike">
              <a:solidFill>
                <a:schemeClr val="dk1"/>
              </a:solidFill>
              <a:latin typeface="Calibri"/>
              <a:ea typeface="Calibri"/>
              <a:cs typeface="Calibri"/>
              <a:sym typeface="Calibri"/>
            </a:endParaRPr>
          </a:p>
          <a:p>
            <a:pPr indent="-228600" lvl="0" marL="228600" marR="0" rtl="1" algn="r">
              <a:spcBef>
                <a:spcPts val="1000"/>
              </a:spcBef>
              <a:spcAft>
                <a:spcPts val="0"/>
              </a:spcAft>
              <a:buClr>
                <a:srgbClr val="E9E9ED"/>
              </a:buClr>
              <a:buSzPts val="2000"/>
              <a:buFont typeface="Arial"/>
              <a:buChar char="•"/>
            </a:pPr>
            <a:r>
              <a:rPr b="0" i="0" lang="iw-IL" sz="2000" u="none" cap="none" strike="noStrike">
                <a:solidFill>
                  <a:srgbClr val="E9E9ED"/>
                </a:solidFill>
                <a:latin typeface="Arial"/>
                <a:ea typeface="Arial"/>
                <a:cs typeface="Arial"/>
                <a:sym typeface="Arial"/>
              </a:rPr>
              <a:t>מחליטים אם מותר להמשיך.</a:t>
            </a:r>
            <a:endParaRPr b="0" i="0" sz="2000" u="none" cap="none" strike="noStrike">
              <a:solidFill>
                <a:schemeClr val="dk1"/>
              </a:solidFill>
              <a:latin typeface="Calibri"/>
              <a:ea typeface="Calibri"/>
              <a:cs typeface="Calibri"/>
              <a:sym typeface="Calibri"/>
            </a:endParaRPr>
          </a:p>
        </p:txBody>
      </p:sp>
      <p:sp>
        <p:nvSpPr>
          <p:cNvPr id="175" name="Google Shape;175;p7"/>
          <p:cNvSpPr/>
          <p:nvPr/>
        </p:nvSpPr>
        <p:spPr>
          <a:xfrm>
            <a:off x="12252960" y="5303520"/>
            <a:ext cx="5120640" cy="4251960"/>
          </a:xfrm>
          <a:prstGeom prst="roundRect">
            <a:avLst>
              <a:gd fmla="val 2581"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txBox="1"/>
          <p:nvPr/>
        </p:nvSpPr>
        <p:spPr>
          <a:xfrm>
            <a:off x="12573000" y="5577840"/>
            <a:ext cx="448056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מה ה-AI אף פעם לא מחליט</a:t>
            </a:r>
            <a:endParaRPr b="0" i="0" sz="1900" u="none" cap="none" strike="noStrike">
              <a:solidFill>
                <a:schemeClr val="dk1"/>
              </a:solidFill>
              <a:latin typeface="Calibri"/>
              <a:ea typeface="Calibri"/>
              <a:cs typeface="Calibri"/>
              <a:sym typeface="Calibri"/>
            </a:endParaRPr>
          </a:p>
        </p:txBody>
      </p:sp>
      <p:sp>
        <p:nvSpPr>
          <p:cNvPr id="177" name="Google Shape;177;p7"/>
          <p:cNvSpPr txBox="1"/>
          <p:nvPr/>
        </p:nvSpPr>
        <p:spPr>
          <a:xfrm>
            <a:off x="12573000" y="6172200"/>
            <a:ext cx="4480560" cy="164592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50"/>
              <a:buFont typeface="Arial"/>
              <a:buNone/>
            </a:pPr>
            <a:r>
              <a:rPr b="0" i="0" lang="iw-IL" sz="1950" u="none" cap="none" strike="noStrike">
                <a:solidFill>
                  <a:srgbClr val="E9E9ED"/>
                </a:solidFill>
                <a:latin typeface="Arial"/>
                <a:ea typeface="Arial"/>
                <a:cs typeface="Arial"/>
                <a:sym typeface="Arial"/>
              </a:rPr>
              <a:t>רמת הדחיפות הסופית, הסדר בתור, הרשאות, טיפול בפרטים מזהים, תחילת טיפול ושחרור.</a:t>
            </a:r>
            <a:endParaRPr b="0" i="0" sz="1950" u="none" cap="none" strike="noStrike">
              <a:solidFill>
                <a:schemeClr val="dk1"/>
              </a:solidFill>
              <a:latin typeface="Calibri"/>
              <a:ea typeface="Calibri"/>
              <a:cs typeface="Calibri"/>
              <a:sym typeface="Calibri"/>
            </a:endParaRPr>
          </a:p>
        </p:txBody>
      </p:sp>
      <p:sp>
        <p:nvSpPr>
          <p:cNvPr id="178" name="Google Shape;178;p7"/>
          <p:cNvSpPr txBox="1"/>
          <p:nvPr/>
        </p:nvSpPr>
        <p:spPr>
          <a:xfrm>
            <a:off x="12573000" y="7909560"/>
            <a:ext cx="4480560" cy="146304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9397AB"/>
              </a:buClr>
              <a:buSzPts val="1700"/>
              <a:buFont typeface="Arial"/>
              <a:buNone/>
            </a:pPr>
            <a:r>
              <a:t/>
            </a:r>
            <a:endParaRPr b="0" i="0" sz="1700" u="none" cap="none" strike="noStrike">
              <a:solidFill>
                <a:schemeClr val="dk1"/>
              </a:solidFill>
              <a:latin typeface="Calibri"/>
              <a:ea typeface="Calibri"/>
              <a:cs typeface="Calibri"/>
              <a:sym typeface="Calibri"/>
            </a:endParaRPr>
          </a:p>
        </p:txBody>
      </p:sp>
      <p:sp>
        <p:nvSpPr>
          <p:cNvPr id="179" name="Google Shape;179;p7"/>
          <p:cNvSpPr/>
          <p:nvPr/>
        </p:nvSpPr>
        <p:spPr>
          <a:xfrm>
            <a:off x="6583680" y="5303520"/>
            <a:ext cx="5120640" cy="4251960"/>
          </a:xfrm>
          <a:prstGeom prst="roundRect">
            <a:avLst>
              <a:gd fmla="val 2581"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txBox="1"/>
          <p:nvPr/>
        </p:nvSpPr>
        <p:spPr>
          <a:xfrm>
            <a:off x="6903720" y="5577840"/>
            <a:ext cx="448056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כשה-AI והאחות לא מסכימים</a:t>
            </a:r>
            <a:endParaRPr b="0" i="0" sz="1900" u="none" cap="none" strike="noStrike">
              <a:solidFill>
                <a:schemeClr val="dk1"/>
              </a:solidFill>
              <a:latin typeface="Calibri"/>
              <a:ea typeface="Calibri"/>
              <a:cs typeface="Calibri"/>
              <a:sym typeface="Calibri"/>
            </a:endParaRPr>
          </a:p>
        </p:txBody>
      </p:sp>
      <p:sp>
        <p:nvSpPr>
          <p:cNvPr id="181" name="Google Shape;181;p7"/>
          <p:cNvSpPr txBox="1"/>
          <p:nvPr/>
        </p:nvSpPr>
        <p:spPr>
          <a:xfrm>
            <a:off x="6903720" y="6172200"/>
            <a:ext cx="4480560" cy="3246120"/>
          </a:xfrm>
          <a:prstGeom prst="rect">
            <a:avLst/>
          </a:prstGeom>
          <a:noFill/>
          <a:ln>
            <a:noFill/>
          </a:ln>
        </p:spPr>
        <p:txBody>
          <a:bodyPr anchorCtr="0" anchor="t" bIns="0" lIns="0" spcFirstLastPara="1" rIns="0" wrap="square" tIns="0">
            <a:noAutofit/>
          </a:bodyPr>
          <a:lstStyle/>
          <a:p>
            <a:pPr indent="-228600" lvl="0" marL="228600" marR="0" rtl="1" algn="r">
              <a:spcBef>
                <a:spcPts val="0"/>
              </a:spcBef>
              <a:spcAft>
                <a:spcPts val="0"/>
              </a:spcAft>
              <a:buClr>
                <a:srgbClr val="E9E9ED"/>
              </a:buClr>
              <a:buSzPts val="1900"/>
              <a:buFont typeface="Arial"/>
              <a:buChar char="•"/>
            </a:pPr>
            <a:r>
              <a:rPr b="0" i="0" lang="iw-IL" sz="1900" u="none" cap="none" strike="noStrike">
                <a:solidFill>
                  <a:srgbClr val="E9E9ED"/>
                </a:solidFill>
                <a:latin typeface="Arial"/>
                <a:ea typeface="Arial"/>
                <a:cs typeface="Arial"/>
                <a:sym typeface="Arial"/>
              </a:rPr>
              <a:t>אותה רמה ← נשארים איתה.</a:t>
            </a:r>
            <a:endParaRPr b="0" i="0" sz="1900" u="none" cap="none" strike="noStrike">
              <a:solidFill>
                <a:schemeClr val="dk1"/>
              </a:solidFill>
              <a:latin typeface="Calibri"/>
              <a:ea typeface="Calibri"/>
              <a:cs typeface="Calibri"/>
              <a:sym typeface="Calibri"/>
            </a:endParaRPr>
          </a:p>
          <a:p>
            <a:pPr indent="-228600" lvl="0" marL="228600" marR="0" rtl="1" algn="r">
              <a:spcBef>
                <a:spcPts val="1000"/>
              </a:spcBef>
              <a:spcAft>
                <a:spcPts val="0"/>
              </a:spcAft>
              <a:buClr>
                <a:srgbClr val="E9E9ED"/>
              </a:buClr>
              <a:buSzPts val="1900"/>
              <a:buFont typeface="Arial"/>
              <a:buChar char="•"/>
            </a:pPr>
            <a:r>
              <a:rPr b="0" i="0" lang="iw-IL" sz="1900" u="none" cap="none" strike="noStrike">
                <a:solidFill>
                  <a:srgbClr val="E9E9ED"/>
                </a:solidFill>
                <a:latin typeface="Arial"/>
                <a:ea typeface="Arial"/>
                <a:cs typeface="Arial"/>
                <a:sym typeface="Arial"/>
              </a:rPr>
              <a:t>הפרש של רמה אחת ← הרמה של האחות.</a:t>
            </a:r>
            <a:endParaRPr b="0" i="0" sz="1900" u="none" cap="none" strike="noStrike">
              <a:solidFill>
                <a:schemeClr val="dk1"/>
              </a:solidFill>
              <a:latin typeface="Calibri"/>
              <a:ea typeface="Calibri"/>
              <a:cs typeface="Calibri"/>
              <a:sym typeface="Calibri"/>
            </a:endParaRPr>
          </a:p>
          <a:p>
            <a:pPr indent="-228600" lvl="0" marL="228600" marR="0" rtl="1" algn="r">
              <a:spcBef>
                <a:spcPts val="1000"/>
              </a:spcBef>
              <a:spcAft>
                <a:spcPts val="0"/>
              </a:spcAft>
              <a:buClr>
                <a:srgbClr val="E9E9ED"/>
              </a:buClr>
              <a:buSzPts val="1900"/>
              <a:buFont typeface="Arial"/>
              <a:buChar char="•"/>
            </a:pPr>
            <a:r>
              <a:rPr b="0" i="0" lang="iw-IL" sz="1900" u="none" cap="none" strike="noStrike">
                <a:solidFill>
                  <a:srgbClr val="E9E9ED"/>
                </a:solidFill>
                <a:latin typeface="Arial"/>
                <a:ea typeface="Arial"/>
                <a:cs typeface="Arial"/>
                <a:sym typeface="Arial"/>
              </a:rPr>
              <a:t>הפרש של 2 ומעלה ← אחות אחראית מחליטה, וההחלטה שלה סופית.</a:t>
            </a:r>
            <a:endParaRPr b="0" i="0" sz="1900" u="none" cap="none" strike="noStrike">
              <a:solidFill>
                <a:schemeClr val="dk1"/>
              </a:solidFill>
              <a:latin typeface="Calibri"/>
              <a:ea typeface="Calibri"/>
              <a:cs typeface="Calibri"/>
              <a:sym typeface="Calibri"/>
            </a:endParaRPr>
          </a:p>
          <a:p>
            <a:pPr indent="-228600" lvl="0" marL="228600" marR="0" rtl="1" algn="r">
              <a:spcBef>
                <a:spcPts val="1000"/>
              </a:spcBef>
              <a:spcAft>
                <a:spcPts val="0"/>
              </a:spcAft>
              <a:buClr>
                <a:srgbClr val="E9E9ED"/>
              </a:buClr>
              <a:buSzPts val="1900"/>
              <a:buFont typeface="Arial"/>
              <a:buChar char="•"/>
            </a:pPr>
            <a:r>
              <a:rPr b="0" i="0" lang="iw-IL" sz="1900" u="none" cap="none" strike="noStrike">
                <a:solidFill>
                  <a:srgbClr val="E9E9ED"/>
                </a:solidFill>
                <a:latin typeface="Arial"/>
                <a:ea typeface="Arial"/>
                <a:cs typeface="Arial"/>
                <a:sym typeface="Arial"/>
              </a:rPr>
              <a:t>ה-AI לא בטוח (ביטחון מתחת ל-70%) ← אחות אחראית מחליטה.</a:t>
            </a:r>
            <a:endParaRPr b="0" i="0" sz="1900" u="none" cap="none" strike="noStrike">
              <a:solidFill>
                <a:schemeClr val="dk1"/>
              </a:solidFill>
              <a:latin typeface="Calibri"/>
              <a:ea typeface="Calibri"/>
              <a:cs typeface="Calibri"/>
              <a:sym typeface="Calibri"/>
            </a:endParaRPr>
          </a:p>
        </p:txBody>
      </p:sp>
      <p:sp>
        <p:nvSpPr>
          <p:cNvPr id="182" name="Google Shape;182;p7"/>
          <p:cNvSpPr/>
          <p:nvPr/>
        </p:nvSpPr>
        <p:spPr>
          <a:xfrm>
            <a:off x="914400" y="5303520"/>
            <a:ext cx="5120640" cy="4251960"/>
          </a:xfrm>
          <a:prstGeom prst="roundRect">
            <a:avLst>
              <a:gd fmla="val 2581"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txBox="1"/>
          <p:nvPr/>
        </p:nvSpPr>
        <p:spPr>
          <a:xfrm>
            <a:off x="1234440" y="5577840"/>
            <a:ext cx="448056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900"/>
              <a:buFont typeface="Arial"/>
              <a:buNone/>
            </a:pPr>
            <a:r>
              <a:rPr b="0" i="0" lang="iw-IL" sz="1900" u="none" cap="none" strike="noStrike">
                <a:solidFill>
                  <a:srgbClr val="D2CEFD"/>
                </a:solidFill>
                <a:latin typeface="Arial"/>
                <a:ea typeface="Arial"/>
                <a:cs typeface="Arial"/>
                <a:sym typeface="Arial"/>
              </a:rPr>
              <a:t>כשה-AI מחזיר תשובה לא תקינה</a:t>
            </a:r>
            <a:endParaRPr b="0" i="0" sz="1900" u="none" cap="none" strike="noStrike">
              <a:solidFill>
                <a:schemeClr val="dk1"/>
              </a:solidFill>
              <a:latin typeface="Calibri"/>
              <a:ea typeface="Calibri"/>
              <a:cs typeface="Calibri"/>
              <a:sym typeface="Calibri"/>
            </a:endParaRPr>
          </a:p>
        </p:txBody>
      </p:sp>
      <p:sp>
        <p:nvSpPr>
          <p:cNvPr id="184" name="Google Shape;184;p7"/>
          <p:cNvSpPr txBox="1"/>
          <p:nvPr/>
        </p:nvSpPr>
        <p:spPr>
          <a:xfrm>
            <a:off x="1234440" y="6172200"/>
            <a:ext cx="4480560" cy="324612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50"/>
              <a:buFont typeface="Arial"/>
              <a:buNone/>
            </a:pPr>
            <a:r>
              <a:rPr b="0" i="0" lang="iw-IL" sz="1950" u="none" cap="none" strike="noStrike">
                <a:solidFill>
                  <a:srgbClr val="E9E9ED"/>
                </a:solidFill>
                <a:latin typeface="Arial"/>
                <a:ea typeface="Arial"/>
                <a:cs typeface="Arial"/>
                <a:sym typeface="Arial"/>
              </a:rPr>
              <a:t>תשובה שלא בפורמט או מחוץ לטווח 5 עד 1 נזרקת, וה-AI נשאל שוב. אחרי שני כישלונות ממשיכים עם הרמה של האחות, והמקרה מסומן. רמה שסותרת את הרשומה נתפסת בבדיקת הבטיחות (Prolog) ועוברת לאחות אחראית.</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6"/>
        </a:solidFill>
      </p:bgPr>
    </p:bg>
    <p:spTree>
      <p:nvGrpSpPr>
        <p:cNvPr id="189" name="Shape 189"/>
        <p:cNvGrpSpPr/>
        <p:nvPr/>
      </p:nvGrpSpPr>
      <p:grpSpPr>
        <a:xfrm>
          <a:off x="0" y="0"/>
          <a:ext cx="0" cy="0"/>
          <a:chOff x="0" y="0"/>
          <a:chExt cx="0" cy="0"/>
        </a:xfrm>
      </p:grpSpPr>
      <p:sp>
        <p:nvSpPr>
          <p:cNvPr id="190" name="Google Shape;190;p8"/>
          <p:cNvSpPr txBox="1"/>
          <p:nvPr/>
        </p:nvSpPr>
        <p:spPr>
          <a:xfrm>
            <a:off x="91440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97AB"/>
              </a:buClr>
              <a:buSzPts val="1600"/>
              <a:buFont typeface="Courier New"/>
              <a:buNone/>
            </a:pPr>
            <a:r>
              <a:rPr b="0" i="0" lang="iw-IL" sz="1600" u="none" cap="none" strike="noStrike">
                <a:solidFill>
                  <a:srgbClr val="9397AB"/>
                </a:solidFill>
                <a:latin typeface="Courier New"/>
                <a:ea typeface="Courier New"/>
                <a:cs typeface="Courier New"/>
                <a:sym typeface="Courier New"/>
              </a:rPr>
              <a:t>08 · Rule Engines</a:t>
            </a:r>
            <a:endParaRPr b="0" i="0" sz="1600" u="none" cap="none" strike="noStrike">
              <a:solidFill>
                <a:schemeClr val="dk1"/>
              </a:solidFill>
              <a:latin typeface="Calibri"/>
              <a:ea typeface="Calibri"/>
              <a:cs typeface="Calibri"/>
              <a:sym typeface="Calibri"/>
            </a:endParaRPr>
          </a:p>
        </p:txBody>
      </p:sp>
      <p:sp>
        <p:nvSpPr>
          <p:cNvPr id="191" name="Google Shape;191;p8"/>
          <p:cNvSpPr txBox="1"/>
          <p:nvPr/>
        </p:nvSpPr>
        <p:spPr>
          <a:xfrm>
            <a:off x="3657600" y="411480"/>
            <a:ext cx="13716000" cy="10972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4800"/>
              <a:buFont typeface="Arial"/>
              <a:buNone/>
            </a:pPr>
            <a:r>
              <a:rPr b="0" i="0" lang="iw-IL" sz="4800" u="none" cap="none" strike="noStrike">
                <a:solidFill>
                  <a:srgbClr val="E9E9ED"/>
                </a:solidFill>
                <a:latin typeface="Arial"/>
                <a:ea typeface="Arial"/>
                <a:cs typeface="Arial"/>
                <a:sym typeface="Arial"/>
              </a:rPr>
              <a:t>מנועי הכללים</a:t>
            </a:r>
            <a:endParaRPr b="0" i="0" sz="4800" u="none" cap="none" strike="noStrike">
              <a:solidFill>
                <a:schemeClr val="dk1"/>
              </a:solidFill>
              <a:latin typeface="Calibri"/>
              <a:ea typeface="Calibri"/>
              <a:cs typeface="Calibri"/>
              <a:sym typeface="Calibri"/>
            </a:endParaRPr>
          </a:p>
        </p:txBody>
      </p:sp>
      <p:sp>
        <p:nvSpPr>
          <p:cNvPr id="192" name="Google Shape;192;p8"/>
          <p:cNvSpPr txBox="1"/>
          <p:nvPr/>
        </p:nvSpPr>
        <p:spPr>
          <a:xfrm>
            <a:off x="914400" y="1572768"/>
            <a:ext cx="16459200" cy="4114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1800"/>
              <a:buFont typeface="Arial"/>
              <a:buNone/>
            </a:pPr>
            <a:r>
              <a:rPr b="1" i="0" lang="iw-IL" sz="1800" u="none" cap="none" strike="noStrike">
                <a:solidFill>
                  <a:srgbClr val="D2CEFD"/>
                </a:solidFill>
                <a:latin typeface="Arial"/>
                <a:ea typeface="Arial"/>
                <a:cs typeface="Arial"/>
                <a:sym typeface="Arial"/>
              </a:rPr>
              <a:t>כלל ברזל (fail-closed): </a:t>
            </a:r>
            <a:r>
              <a:rPr b="0" i="0" lang="iw-IL" sz="1800" u="none" cap="none" strike="noStrike">
                <a:solidFill>
                  <a:srgbClr val="CFD3E5"/>
                </a:solidFill>
                <a:latin typeface="Arial"/>
                <a:ea typeface="Arial"/>
                <a:cs typeface="Arial"/>
                <a:sym typeface="Arial"/>
              </a:rPr>
              <a:t>מנוע שלא מצליח לענות לא מאשר. חוסר תשובה נחשב "לא". המנוע החמישי, BPpy, בוחר את הפעולה של כל טיימר במוניטור (שקף 9).</a:t>
            </a:r>
            <a:endParaRPr b="0" i="0" sz="1800" u="none" cap="none" strike="noStrike">
              <a:solidFill>
                <a:schemeClr val="dk1"/>
              </a:solidFill>
              <a:latin typeface="Calibri"/>
              <a:ea typeface="Calibri"/>
              <a:cs typeface="Calibri"/>
              <a:sym typeface="Calibri"/>
            </a:endParaRPr>
          </a:p>
        </p:txBody>
      </p:sp>
      <p:sp>
        <p:nvSpPr>
          <p:cNvPr id="193" name="Google Shape;193;p8"/>
          <p:cNvSpPr/>
          <p:nvPr/>
        </p:nvSpPr>
        <p:spPr>
          <a:xfrm>
            <a:off x="9372600" y="2148840"/>
            <a:ext cx="8001000" cy="3611880"/>
          </a:xfrm>
          <a:prstGeom prst="roundRect">
            <a:avLst>
              <a:gd fmla="val 3038"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txBox="1"/>
          <p:nvPr/>
        </p:nvSpPr>
        <p:spPr>
          <a:xfrm>
            <a:off x="14264640" y="2350008"/>
            <a:ext cx="2743200" cy="5486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2CEFD"/>
              </a:buClr>
              <a:buSzPts val="2600"/>
              <a:buFont typeface="Arial"/>
              <a:buNone/>
            </a:pPr>
            <a:r>
              <a:rPr b="1" i="0" lang="iw-IL" sz="2600" u="none" cap="none" strike="noStrike">
                <a:solidFill>
                  <a:srgbClr val="D2CEFD"/>
                </a:solidFill>
                <a:latin typeface="Arial"/>
                <a:ea typeface="Arial"/>
                <a:cs typeface="Arial"/>
                <a:sym typeface="Arial"/>
              </a:rPr>
              <a:t>OPA</a:t>
            </a:r>
            <a:endParaRPr b="0" i="0" sz="2600" u="none" cap="none" strike="noStrike">
              <a:solidFill>
                <a:schemeClr val="dk1"/>
              </a:solidFill>
              <a:latin typeface="Calibri"/>
              <a:ea typeface="Calibri"/>
              <a:cs typeface="Calibri"/>
              <a:sym typeface="Calibri"/>
            </a:endParaRPr>
          </a:p>
        </p:txBody>
      </p:sp>
      <p:sp>
        <p:nvSpPr>
          <p:cNvPr id="195" name="Google Shape;195;p8"/>
          <p:cNvSpPr/>
          <p:nvPr/>
        </p:nvSpPr>
        <p:spPr>
          <a:xfrm>
            <a:off x="9738360" y="2423160"/>
            <a:ext cx="1737360" cy="420624"/>
          </a:xfrm>
          <a:prstGeom prst="roundRect">
            <a:avLst>
              <a:gd fmla="val 21739" name="adj"/>
            </a:avLst>
          </a:prstGeom>
          <a:solidFill>
            <a:srgbClr val="1F2A3A"/>
          </a:solidFill>
          <a:ln cap="flat" cmpd="sng" w="9525">
            <a:solidFill>
              <a:srgbClr val="1F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txBox="1"/>
          <p:nvPr/>
        </p:nvSpPr>
        <p:spPr>
          <a:xfrm>
            <a:off x="9738360" y="2423160"/>
            <a:ext cx="1737360" cy="420624"/>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9C7F2"/>
              </a:buClr>
              <a:buSzPts val="1500"/>
              <a:buFont typeface="Arial"/>
              <a:buNone/>
            </a:pPr>
            <a:r>
              <a:rPr b="1" i="0" lang="iw-IL" sz="1500" u="none" cap="none" strike="noStrike">
                <a:solidFill>
                  <a:srgbClr val="A9C7F2"/>
                </a:solidFill>
                <a:latin typeface="Arial"/>
                <a:ea typeface="Arial"/>
                <a:cs typeface="Arial"/>
                <a:sym typeface="Arial"/>
              </a:rPr>
              <a:t>זמן ריצה</a:t>
            </a:r>
            <a:endParaRPr b="0" i="0" sz="1500" u="none" cap="none" strike="noStrike">
              <a:solidFill>
                <a:schemeClr val="dk1"/>
              </a:solidFill>
              <a:latin typeface="Calibri"/>
              <a:ea typeface="Calibri"/>
              <a:cs typeface="Calibri"/>
              <a:sym typeface="Calibri"/>
            </a:endParaRPr>
          </a:p>
        </p:txBody>
      </p:sp>
      <p:sp>
        <p:nvSpPr>
          <p:cNvPr id="197" name="Google Shape;197;p8"/>
          <p:cNvSpPr txBox="1"/>
          <p:nvPr/>
        </p:nvSpPr>
        <p:spPr>
          <a:xfrm>
            <a:off x="9738360" y="2971800"/>
            <a:ext cx="726948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האם מותר לבצע את הפעולה עכשיו?</a:t>
            </a:r>
            <a:endParaRPr b="0" i="0" sz="1900" u="none" cap="none" strike="noStrike">
              <a:solidFill>
                <a:schemeClr val="dk1"/>
              </a:solidFill>
              <a:latin typeface="Calibri"/>
              <a:ea typeface="Calibri"/>
              <a:cs typeface="Calibri"/>
              <a:sym typeface="Calibri"/>
            </a:endParaRPr>
          </a:p>
        </p:txBody>
      </p:sp>
      <p:sp>
        <p:nvSpPr>
          <p:cNvPr id="198" name="Google Shape;198;p8"/>
          <p:cNvSpPr/>
          <p:nvPr/>
        </p:nvSpPr>
        <p:spPr>
          <a:xfrm>
            <a:off x="9738360" y="3474720"/>
            <a:ext cx="7269480" cy="1417320"/>
          </a:xfrm>
          <a:prstGeom prst="roundRect">
            <a:avLst>
              <a:gd fmla="val 5161" name="adj"/>
            </a:avLst>
          </a:prstGeom>
          <a:solidFill>
            <a:srgbClr val="10111A"/>
          </a:solidFill>
          <a:ln cap="flat" cmpd="sng" w="9525">
            <a:solidFill>
              <a:srgbClr val="2E31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txBox="1"/>
          <p:nvPr/>
        </p:nvSpPr>
        <p:spPr>
          <a:xfrm>
            <a:off x="9921240" y="3520440"/>
            <a:ext cx="6903720"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allow if {</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  input.action == "move"</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  safety_settled</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  input.case.approved == true</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  input.actor_role in move_roles</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a:t>
            </a:r>
            <a:endParaRPr b="0" i="0" sz="1350" u="none" cap="none" strike="noStrike">
              <a:solidFill>
                <a:schemeClr val="dk1"/>
              </a:solidFill>
              <a:latin typeface="Calibri"/>
              <a:ea typeface="Calibri"/>
              <a:cs typeface="Calibri"/>
              <a:sym typeface="Calibri"/>
            </a:endParaRPr>
          </a:p>
        </p:txBody>
      </p:sp>
      <p:sp>
        <p:nvSpPr>
          <p:cNvPr id="200" name="Google Shape;200;p8"/>
          <p:cNvSpPr txBox="1"/>
          <p:nvPr/>
        </p:nvSpPr>
        <p:spPr>
          <a:xfrm>
            <a:off x="9738360" y="4965192"/>
            <a:ext cx="7269480" cy="73152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9397AB"/>
              </a:buClr>
              <a:buSzPts val="1600"/>
              <a:buFont typeface="Arial"/>
              <a:buNone/>
            </a:pPr>
            <a:r>
              <a:rPr b="1" i="0" lang="iw-IL" sz="1600" u="none" cap="none" strike="noStrike">
                <a:solidFill>
                  <a:srgbClr val="9397AB"/>
                </a:solidFill>
                <a:latin typeface="Arial"/>
                <a:ea typeface="Arial"/>
                <a:cs typeface="Arial"/>
                <a:sym typeface="Arial"/>
              </a:rPr>
              <a:t>השפעה על המעבר: </a:t>
            </a:r>
            <a:r>
              <a:rPr b="0" i="0" lang="iw-IL" sz="1600" u="none" cap="none" strike="noStrike">
                <a:solidFill>
                  <a:srgbClr val="E9E9ED"/>
                </a:solidFill>
                <a:latin typeface="Arial"/>
                <a:ea typeface="Arial"/>
                <a:cs typeface="Arial"/>
                <a:sym typeface="Arial"/>
              </a:rPr>
              <a:t>אם התשובה "לא", הפעולה נחסמת (BLK), והמקרה לא עובר ל-</a:t>
            </a:r>
            <a:r>
              <a:rPr b="0" i="0" lang="iw-IL" sz="1500" u="none" cap="none" strike="noStrike">
                <a:solidFill>
                  <a:srgbClr val="E9E9ED"/>
                </a:solidFill>
                <a:latin typeface="Courier New"/>
                <a:ea typeface="Courier New"/>
                <a:cs typeface="Courier New"/>
                <a:sym typeface="Courier New"/>
              </a:rPr>
              <a:t>treatment_started</a:t>
            </a:r>
            <a:r>
              <a:rPr b="0" i="0" lang="iw-IL" sz="1600" u="none" cap="none" strike="noStrike">
                <a:solidFill>
                  <a:srgbClr val="E9E9ED"/>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201" name="Google Shape;201;p8"/>
          <p:cNvSpPr/>
          <p:nvPr/>
        </p:nvSpPr>
        <p:spPr>
          <a:xfrm>
            <a:off x="914400" y="2148840"/>
            <a:ext cx="8001000" cy="3611880"/>
          </a:xfrm>
          <a:prstGeom prst="roundRect">
            <a:avLst>
              <a:gd fmla="val 3038"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txBox="1"/>
          <p:nvPr/>
        </p:nvSpPr>
        <p:spPr>
          <a:xfrm>
            <a:off x="5806440" y="2350008"/>
            <a:ext cx="2743200" cy="5486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2CEFD"/>
              </a:buClr>
              <a:buSzPts val="2600"/>
              <a:buFont typeface="Arial"/>
              <a:buNone/>
            </a:pPr>
            <a:r>
              <a:rPr b="1" i="0" lang="iw-IL" sz="2600" u="none" cap="none" strike="noStrike">
                <a:solidFill>
                  <a:srgbClr val="D2CEFD"/>
                </a:solidFill>
                <a:latin typeface="Arial"/>
                <a:ea typeface="Arial"/>
                <a:cs typeface="Arial"/>
                <a:sym typeface="Arial"/>
              </a:rPr>
              <a:t>Z3</a:t>
            </a:r>
            <a:endParaRPr b="0" i="0" sz="2600" u="none" cap="none" strike="noStrike">
              <a:solidFill>
                <a:schemeClr val="dk1"/>
              </a:solidFill>
              <a:latin typeface="Calibri"/>
              <a:ea typeface="Calibri"/>
              <a:cs typeface="Calibri"/>
              <a:sym typeface="Calibri"/>
            </a:endParaRPr>
          </a:p>
        </p:txBody>
      </p:sp>
      <p:sp>
        <p:nvSpPr>
          <p:cNvPr id="203" name="Google Shape;203;p8"/>
          <p:cNvSpPr/>
          <p:nvPr/>
        </p:nvSpPr>
        <p:spPr>
          <a:xfrm>
            <a:off x="1280160" y="2423160"/>
            <a:ext cx="1737360" cy="420624"/>
          </a:xfrm>
          <a:prstGeom prst="roundRect">
            <a:avLst>
              <a:gd fmla="val 21739" name="adj"/>
            </a:avLst>
          </a:prstGeom>
          <a:solidFill>
            <a:srgbClr val="3A2F14"/>
          </a:solidFill>
          <a:ln cap="flat" cmpd="sng" w="9525">
            <a:solidFill>
              <a:srgbClr val="3A2F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txBox="1"/>
          <p:nvPr/>
        </p:nvSpPr>
        <p:spPr>
          <a:xfrm>
            <a:off x="1280160" y="2423160"/>
            <a:ext cx="1737360" cy="420624"/>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F2D28B"/>
              </a:buClr>
              <a:buSzPts val="1500"/>
              <a:buFont typeface="Arial"/>
              <a:buNone/>
            </a:pPr>
            <a:r>
              <a:rPr b="1" i="0" lang="iw-IL" sz="1500" u="none" cap="none" strike="noStrike">
                <a:solidFill>
                  <a:srgbClr val="F2D28B"/>
                </a:solidFill>
                <a:latin typeface="Arial"/>
                <a:ea typeface="Arial"/>
                <a:cs typeface="Arial"/>
                <a:sym typeface="Arial"/>
              </a:rPr>
              <a:t>זמן תכנון</a:t>
            </a:r>
            <a:endParaRPr b="0" i="0" sz="1500" u="none" cap="none" strike="noStrike">
              <a:solidFill>
                <a:schemeClr val="dk1"/>
              </a:solidFill>
              <a:latin typeface="Calibri"/>
              <a:ea typeface="Calibri"/>
              <a:cs typeface="Calibri"/>
              <a:sym typeface="Calibri"/>
            </a:endParaRPr>
          </a:p>
        </p:txBody>
      </p:sp>
      <p:sp>
        <p:nvSpPr>
          <p:cNvPr id="205" name="Google Shape;205;p8"/>
          <p:cNvSpPr txBox="1"/>
          <p:nvPr/>
        </p:nvSpPr>
        <p:spPr>
          <a:xfrm>
            <a:off x="1280160" y="2971800"/>
            <a:ext cx="726948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האם קיים קלט כלשהו ששובר את הכללים?</a:t>
            </a:r>
            <a:endParaRPr b="0" i="0" sz="1900" u="none" cap="none" strike="noStrike">
              <a:solidFill>
                <a:schemeClr val="dk1"/>
              </a:solidFill>
              <a:latin typeface="Calibri"/>
              <a:ea typeface="Calibri"/>
              <a:cs typeface="Calibri"/>
              <a:sym typeface="Calibri"/>
            </a:endParaRPr>
          </a:p>
        </p:txBody>
      </p:sp>
      <p:sp>
        <p:nvSpPr>
          <p:cNvPr id="206" name="Google Shape;206;p8"/>
          <p:cNvSpPr/>
          <p:nvPr/>
        </p:nvSpPr>
        <p:spPr>
          <a:xfrm>
            <a:off x="1280160" y="3474720"/>
            <a:ext cx="7269480" cy="1417320"/>
          </a:xfrm>
          <a:prstGeom prst="roundRect">
            <a:avLst>
              <a:gd fmla="val 5161" name="adj"/>
            </a:avLst>
          </a:prstGeom>
          <a:solidFill>
            <a:srgbClr val="10111A"/>
          </a:solidFill>
          <a:ln cap="flat" cmpd="sng" w="9525">
            <a:solidFill>
              <a:srgbClr val="2E31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txBox="1"/>
          <p:nvPr/>
        </p:nvSpPr>
        <p:spPr>
          <a:xfrm>
            <a:off x="1463040" y="3520440"/>
            <a:ext cx="6903720"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solver = Solver()</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solver.add(Not(claim))</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if solver.check() == unsat:</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    return True, ""   # PROVED</a:t>
            </a:r>
            <a:endParaRPr b="0" i="0" sz="1350" u="none" cap="none" strike="noStrike">
              <a:solidFill>
                <a:schemeClr val="dk1"/>
              </a:solidFill>
              <a:latin typeface="Calibri"/>
              <a:ea typeface="Calibri"/>
              <a:cs typeface="Calibri"/>
              <a:sym typeface="Calibri"/>
            </a:endParaRPr>
          </a:p>
        </p:txBody>
      </p:sp>
      <p:sp>
        <p:nvSpPr>
          <p:cNvPr id="208" name="Google Shape;208;p8"/>
          <p:cNvSpPr txBox="1"/>
          <p:nvPr/>
        </p:nvSpPr>
        <p:spPr>
          <a:xfrm>
            <a:off x="1280160" y="4965192"/>
            <a:ext cx="7269480" cy="73152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9397AB"/>
              </a:buClr>
              <a:buSzPts val="1600"/>
              <a:buFont typeface="Arial"/>
              <a:buNone/>
            </a:pPr>
            <a:r>
              <a:rPr b="1" i="0" lang="iw-IL" sz="1600" u="none" cap="none" strike="noStrike">
                <a:solidFill>
                  <a:srgbClr val="9397AB"/>
                </a:solidFill>
                <a:latin typeface="Arial"/>
                <a:ea typeface="Arial"/>
                <a:cs typeface="Arial"/>
                <a:sym typeface="Arial"/>
              </a:rPr>
              <a:t>unsat</a:t>
            </a:r>
            <a:r>
              <a:rPr b="0" i="0" lang="iw-IL" sz="1600" u="none" cap="none" strike="noStrike">
                <a:solidFill>
                  <a:srgbClr val="E9E9ED"/>
                </a:solidFill>
                <a:latin typeface="Arial"/>
                <a:ea typeface="Arial"/>
                <a:cs typeface="Arial"/>
                <a:sym typeface="Arial"/>
              </a:rPr>
              <a:t> = אין קלט ששובר את הכלל, והכלל מוכח. </a:t>
            </a:r>
            <a:r>
              <a:rPr b="1" i="0" lang="iw-IL" sz="1600" u="none" cap="none" strike="noStrike">
                <a:solidFill>
                  <a:srgbClr val="9397AB"/>
                </a:solidFill>
                <a:latin typeface="Arial"/>
                <a:ea typeface="Arial"/>
                <a:cs typeface="Arial"/>
                <a:sym typeface="Arial"/>
              </a:rPr>
              <a:t>sat</a:t>
            </a:r>
            <a:r>
              <a:rPr b="0" i="0" lang="iw-IL" sz="1600" u="none" cap="none" strike="noStrike">
                <a:solidFill>
                  <a:srgbClr val="E9E9ED"/>
                </a:solidFill>
                <a:latin typeface="Arial"/>
                <a:ea typeface="Arial"/>
                <a:cs typeface="Arial"/>
                <a:sym typeface="Arial"/>
              </a:rPr>
              <a:t> = Z3 מחזיר את הדוגמה, והבדיקות נכשלות. כך מובטח שכל פער מוביל למעבר אחד בדיוק.</a:t>
            </a:r>
            <a:endParaRPr b="0" i="0" sz="1600" u="none" cap="none" strike="noStrike">
              <a:solidFill>
                <a:schemeClr val="dk1"/>
              </a:solidFill>
              <a:latin typeface="Calibri"/>
              <a:ea typeface="Calibri"/>
              <a:cs typeface="Calibri"/>
              <a:sym typeface="Calibri"/>
            </a:endParaRPr>
          </a:p>
        </p:txBody>
      </p:sp>
      <p:sp>
        <p:nvSpPr>
          <p:cNvPr id="209" name="Google Shape;209;p8"/>
          <p:cNvSpPr/>
          <p:nvPr/>
        </p:nvSpPr>
        <p:spPr>
          <a:xfrm>
            <a:off x="9372600" y="5943600"/>
            <a:ext cx="8001000" cy="3611880"/>
          </a:xfrm>
          <a:prstGeom prst="roundRect">
            <a:avLst>
              <a:gd fmla="val 3038"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txBox="1"/>
          <p:nvPr/>
        </p:nvSpPr>
        <p:spPr>
          <a:xfrm>
            <a:off x="14264640" y="6144768"/>
            <a:ext cx="2743200" cy="5486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2CEFD"/>
              </a:buClr>
              <a:buSzPts val="2600"/>
              <a:buFont typeface="Arial"/>
              <a:buNone/>
            </a:pPr>
            <a:r>
              <a:rPr b="1" i="0" lang="iw-IL" sz="2600" u="none" cap="none" strike="noStrike">
                <a:solidFill>
                  <a:srgbClr val="D2CEFD"/>
                </a:solidFill>
                <a:latin typeface="Arial"/>
                <a:ea typeface="Arial"/>
                <a:cs typeface="Arial"/>
                <a:sym typeface="Arial"/>
              </a:rPr>
              <a:t>Prolog</a:t>
            </a:r>
            <a:endParaRPr b="0" i="0" sz="2600" u="none" cap="none" strike="noStrike">
              <a:solidFill>
                <a:schemeClr val="dk1"/>
              </a:solidFill>
              <a:latin typeface="Calibri"/>
              <a:ea typeface="Calibri"/>
              <a:cs typeface="Calibri"/>
              <a:sym typeface="Calibri"/>
            </a:endParaRPr>
          </a:p>
        </p:txBody>
      </p:sp>
      <p:sp>
        <p:nvSpPr>
          <p:cNvPr id="211" name="Google Shape;211;p8"/>
          <p:cNvSpPr/>
          <p:nvPr/>
        </p:nvSpPr>
        <p:spPr>
          <a:xfrm>
            <a:off x="9738360" y="6217920"/>
            <a:ext cx="1737360" cy="420624"/>
          </a:xfrm>
          <a:prstGeom prst="roundRect">
            <a:avLst>
              <a:gd fmla="val 21739" name="adj"/>
            </a:avLst>
          </a:prstGeom>
          <a:solidFill>
            <a:srgbClr val="1F2A3A"/>
          </a:solidFill>
          <a:ln cap="flat" cmpd="sng" w="9525">
            <a:solidFill>
              <a:srgbClr val="1F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txBox="1"/>
          <p:nvPr/>
        </p:nvSpPr>
        <p:spPr>
          <a:xfrm>
            <a:off x="9738360" y="6217920"/>
            <a:ext cx="1737360" cy="420624"/>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9C7F2"/>
              </a:buClr>
              <a:buSzPts val="1500"/>
              <a:buFont typeface="Arial"/>
              <a:buNone/>
            </a:pPr>
            <a:r>
              <a:rPr b="1" i="0" lang="iw-IL" sz="1500" u="none" cap="none" strike="noStrike">
                <a:solidFill>
                  <a:srgbClr val="A9C7F2"/>
                </a:solidFill>
                <a:latin typeface="Arial"/>
                <a:ea typeface="Arial"/>
                <a:cs typeface="Arial"/>
                <a:sym typeface="Arial"/>
              </a:rPr>
              <a:t>זמן ריצה</a:t>
            </a:r>
            <a:endParaRPr b="0" i="0" sz="1500" u="none" cap="none" strike="noStrike">
              <a:solidFill>
                <a:schemeClr val="dk1"/>
              </a:solidFill>
              <a:latin typeface="Calibri"/>
              <a:ea typeface="Calibri"/>
              <a:cs typeface="Calibri"/>
              <a:sym typeface="Calibri"/>
            </a:endParaRPr>
          </a:p>
        </p:txBody>
      </p:sp>
      <p:sp>
        <p:nvSpPr>
          <p:cNvPr id="213" name="Google Shape;213;p8"/>
          <p:cNvSpPr txBox="1"/>
          <p:nvPr/>
        </p:nvSpPr>
        <p:spPr>
          <a:xfrm>
            <a:off x="9738360" y="6766560"/>
            <a:ext cx="726948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האם הרשומה של המקרה הגיונית?</a:t>
            </a:r>
            <a:endParaRPr b="0" i="0" sz="1900" u="none" cap="none" strike="noStrike">
              <a:solidFill>
                <a:schemeClr val="dk1"/>
              </a:solidFill>
              <a:latin typeface="Calibri"/>
              <a:ea typeface="Calibri"/>
              <a:cs typeface="Calibri"/>
              <a:sym typeface="Calibri"/>
            </a:endParaRPr>
          </a:p>
        </p:txBody>
      </p:sp>
      <p:sp>
        <p:nvSpPr>
          <p:cNvPr id="214" name="Google Shape;214;p8"/>
          <p:cNvSpPr/>
          <p:nvPr/>
        </p:nvSpPr>
        <p:spPr>
          <a:xfrm>
            <a:off x="9738360" y="7269480"/>
            <a:ext cx="7269480" cy="1417320"/>
          </a:xfrm>
          <a:prstGeom prst="roundRect">
            <a:avLst>
              <a:gd fmla="val 5161" name="adj"/>
            </a:avLst>
          </a:prstGeom>
          <a:solidFill>
            <a:srgbClr val="10111A"/>
          </a:solidFill>
          <a:ln cap="flat" cmpd="sng" w="9525">
            <a:solidFill>
              <a:srgbClr val="2E31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txBox="1"/>
          <p:nvPr/>
        </p:nvSpPr>
        <p:spPr>
          <a:xfrm>
            <a:off x="9921240" y="7315200"/>
            <a:ext cx="6903720"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violation(auto_resolved_on_major_gap) :-</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    acuity_source(auto_resolved),</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    gap(G), integer(G), G &gt;= 2.</a:t>
            </a:r>
            <a:endParaRPr b="0" i="0" sz="1350" u="none" cap="none" strike="noStrike">
              <a:solidFill>
                <a:schemeClr val="dk1"/>
              </a:solidFill>
              <a:latin typeface="Calibri"/>
              <a:ea typeface="Calibri"/>
              <a:cs typeface="Calibri"/>
              <a:sym typeface="Calibri"/>
            </a:endParaRPr>
          </a:p>
        </p:txBody>
      </p:sp>
      <p:sp>
        <p:nvSpPr>
          <p:cNvPr id="216" name="Google Shape;216;p8"/>
          <p:cNvSpPr txBox="1"/>
          <p:nvPr/>
        </p:nvSpPr>
        <p:spPr>
          <a:xfrm>
            <a:off x="9738360" y="8759952"/>
            <a:ext cx="7269480" cy="73152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9397AB"/>
              </a:buClr>
              <a:buSzPts val="1600"/>
              <a:buFont typeface="Arial"/>
              <a:buNone/>
            </a:pPr>
            <a:r>
              <a:rPr b="1" i="0" lang="iw-IL" sz="1600" u="none" cap="none" strike="noStrike">
                <a:solidFill>
                  <a:srgbClr val="9397AB"/>
                </a:solidFill>
                <a:latin typeface="Arial"/>
                <a:ea typeface="Arial"/>
                <a:cs typeface="Arial"/>
                <a:sym typeface="Arial"/>
              </a:rPr>
              <a:t>השפעה על המעבר: </a:t>
            </a:r>
            <a:r>
              <a:rPr b="0" i="0" lang="iw-IL" sz="1600" u="none" cap="none" strike="noStrike">
                <a:solidFill>
                  <a:srgbClr val="E9E9ED"/>
                </a:solidFill>
                <a:latin typeface="Arial"/>
                <a:ea typeface="Arial"/>
                <a:cs typeface="Arial"/>
                <a:sym typeface="Arial"/>
              </a:rPr>
              <a:t>הפרה מעבירה את המקרה ל-</a:t>
            </a:r>
            <a:r>
              <a:rPr b="0" i="0" lang="iw-IL" sz="1500" u="none" cap="none" strike="noStrike">
                <a:solidFill>
                  <a:srgbClr val="E9E9ED"/>
                </a:solidFill>
                <a:latin typeface="Courier New"/>
                <a:ea typeface="Courier New"/>
                <a:cs typeface="Courier New"/>
                <a:sym typeface="Courier New"/>
              </a:rPr>
              <a:t>awaiting_human_approval</a:t>
            </a:r>
            <a:r>
              <a:rPr b="0" i="0" lang="iw-IL" sz="1600" u="none" cap="none" strike="noStrike">
                <a:solidFill>
                  <a:srgbClr val="E9E9ED"/>
                </a:solidFill>
                <a:latin typeface="Arial"/>
                <a:ea typeface="Arial"/>
                <a:cs typeface="Arial"/>
                <a:sym typeface="Arial"/>
              </a:rPr>
              <a:t>, עם משפט שמסביר מה לתקן.</a:t>
            </a:r>
            <a:endParaRPr b="0" i="0" sz="1600" u="none" cap="none" strike="noStrike">
              <a:solidFill>
                <a:schemeClr val="dk1"/>
              </a:solidFill>
              <a:latin typeface="Calibri"/>
              <a:ea typeface="Calibri"/>
              <a:cs typeface="Calibri"/>
              <a:sym typeface="Calibri"/>
            </a:endParaRPr>
          </a:p>
        </p:txBody>
      </p:sp>
      <p:sp>
        <p:nvSpPr>
          <p:cNvPr id="217" name="Google Shape;217;p8"/>
          <p:cNvSpPr/>
          <p:nvPr/>
        </p:nvSpPr>
        <p:spPr>
          <a:xfrm>
            <a:off x="914400" y="5943600"/>
            <a:ext cx="8001000" cy="3611880"/>
          </a:xfrm>
          <a:prstGeom prst="roundRect">
            <a:avLst>
              <a:gd fmla="val 3038"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txBox="1"/>
          <p:nvPr/>
        </p:nvSpPr>
        <p:spPr>
          <a:xfrm>
            <a:off x="5806440" y="6144768"/>
            <a:ext cx="2743200" cy="5486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2CEFD"/>
              </a:buClr>
              <a:buSzPts val="2600"/>
              <a:buFont typeface="Arial"/>
              <a:buNone/>
            </a:pPr>
            <a:r>
              <a:rPr b="1" i="0" lang="iw-IL" sz="2600" u="none" cap="none" strike="noStrike">
                <a:solidFill>
                  <a:srgbClr val="D2CEFD"/>
                </a:solidFill>
                <a:latin typeface="Arial"/>
                <a:ea typeface="Arial"/>
                <a:cs typeface="Arial"/>
                <a:sym typeface="Arial"/>
              </a:rPr>
              <a:t>Datalog</a:t>
            </a:r>
            <a:endParaRPr b="0" i="0" sz="2600" u="none" cap="none" strike="noStrike">
              <a:solidFill>
                <a:schemeClr val="dk1"/>
              </a:solidFill>
              <a:latin typeface="Calibri"/>
              <a:ea typeface="Calibri"/>
              <a:cs typeface="Calibri"/>
              <a:sym typeface="Calibri"/>
            </a:endParaRPr>
          </a:p>
        </p:txBody>
      </p:sp>
      <p:sp>
        <p:nvSpPr>
          <p:cNvPr id="219" name="Google Shape;219;p8"/>
          <p:cNvSpPr/>
          <p:nvPr/>
        </p:nvSpPr>
        <p:spPr>
          <a:xfrm>
            <a:off x="1280160" y="6217920"/>
            <a:ext cx="1737360" cy="420624"/>
          </a:xfrm>
          <a:prstGeom prst="roundRect">
            <a:avLst>
              <a:gd fmla="val 21739" name="adj"/>
            </a:avLst>
          </a:prstGeom>
          <a:solidFill>
            <a:srgbClr val="1F2A3A"/>
          </a:solidFill>
          <a:ln cap="flat" cmpd="sng" w="9525">
            <a:solidFill>
              <a:srgbClr val="1F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txBox="1"/>
          <p:nvPr/>
        </p:nvSpPr>
        <p:spPr>
          <a:xfrm>
            <a:off x="1280160" y="6217920"/>
            <a:ext cx="1737360" cy="420624"/>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9C7F2"/>
              </a:buClr>
              <a:buSzPts val="1500"/>
              <a:buFont typeface="Arial"/>
              <a:buNone/>
            </a:pPr>
            <a:r>
              <a:rPr b="1" i="0" lang="iw-IL" sz="1500" u="none" cap="none" strike="noStrike">
                <a:solidFill>
                  <a:srgbClr val="A9C7F2"/>
                </a:solidFill>
                <a:latin typeface="Arial"/>
                <a:ea typeface="Arial"/>
                <a:cs typeface="Arial"/>
                <a:sym typeface="Arial"/>
              </a:rPr>
              <a:t>זמן ריצה</a:t>
            </a:r>
            <a:endParaRPr b="0" i="0" sz="1500" u="none" cap="none" strike="noStrike">
              <a:solidFill>
                <a:schemeClr val="dk1"/>
              </a:solidFill>
              <a:latin typeface="Calibri"/>
              <a:ea typeface="Calibri"/>
              <a:cs typeface="Calibri"/>
              <a:sym typeface="Calibri"/>
            </a:endParaRPr>
          </a:p>
        </p:txBody>
      </p:sp>
      <p:sp>
        <p:nvSpPr>
          <p:cNvPr id="221" name="Google Shape;221;p8"/>
          <p:cNvSpPr txBox="1"/>
          <p:nvPr/>
        </p:nvSpPr>
        <p:spPr>
          <a:xfrm>
            <a:off x="1280160" y="6766560"/>
            <a:ext cx="726948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0" i="0" lang="iw-IL" sz="1900" u="none" cap="none" strike="noStrike">
                <a:solidFill>
                  <a:srgbClr val="E9E9ED"/>
                </a:solidFill>
                <a:latin typeface="Arial"/>
                <a:ea typeface="Arial"/>
                <a:cs typeface="Arial"/>
                <a:sym typeface="Arial"/>
              </a:rPr>
              <a:t>האם יש מטופל שממתין בלי טיימר לבדיקה חוזרת?</a:t>
            </a:r>
            <a:endParaRPr b="0" i="0" sz="1900" u="none" cap="none" strike="noStrike">
              <a:solidFill>
                <a:schemeClr val="dk1"/>
              </a:solidFill>
              <a:latin typeface="Calibri"/>
              <a:ea typeface="Calibri"/>
              <a:cs typeface="Calibri"/>
              <a:sym typeface="Calibri"/>
            </a:endParaRPr>
          </a:p>
        </p:txBody>
      </p:sp>
      <p:sp>
        <p:nvSpPr>
          <p:cNvPr id="222" name="Google Shape;222;p8"/>
          <p:cNvSpPr/>
          <p:nvPr/>
        </p:nvSpPr>
        <p:spPr>
          <a:xfrm>
            <a:off x="1280160" y="7269480"/>
            <a:ext cx="7269480" cy="1417320"/>
          </a:xfrm>
          <a:prstGeom prst="roundRect">
            <a:avLst>
              <a:gd fmla="val 5161" name="adj"/>
            </a:avLst>
          </a:prstGeom>
          <a:solidFill>
            <a:srgbClr val="10111A"/>
          </a:solidFill>
          <a:ln cap="flat" cmpd="sng" w="9525">
            <a:solidFill>
              <a:srgbClr val="2E31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txBox="1"/>
          <p:nvPr/>
        </p:nvSpPr>
        <p:spPr>
          <a:xfrm>
            <a:off x="1463040" y="7315200"/>
            <a:ext cx="6903720"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unwatched(C) &lt;=</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C6F5"/>
              </a:buClr>
              <a:buSzPts val="1350"/>
              <a:buFont typeface="Courier New"/>
              <a:buNone/>
            </a:pPr>
            <a:r>
              <a:rPr b="0" i="0" lang="iw-IL" sz="1350" u="none" cap="none" strike="noStrike">
                <a:solidFill>
                  <a:srgbClr val="C9C6F5"/>
                </a:solidFill>
                <a:latin typeface="Courier New"/>
                <a:ea typeface="Courier New"/>
                <a:cs typeface="Courier New"/>
                <a:sym typeface="Courier New"/>
              </a:rPr>
              <a:t>    waiting(C) &amp; ~live_timer(C, 'reassessment', T)</a:t>
            </a:r>
            <a:endParaRPr b="0" i="0" sz="1350" u="none" cap="none" strike="noStrike">
              <a:solidFill>
                <a:schemeClr val="dk1"/>
              </a:solidFill>
              <a:latin typeface="Calibri"/>
              <a:ea typeface="Calibri"/>
              <a:cs typeface="Calibri"/>
              <a:sym typeface="Calibri"/>
            </a:endParaRPr>
          </a:p>
        </p:txBody>
      </p:sp>
      <p:sp>
        <p:nvSpPr>
          <p:cNvPr id="224" name="Google Shape;224;p8"/>
          <p:cNvSpPr txBox="1"/>
          <p:nvPr/>
        </p:nvSpPr>
        <p:spPr>
          <a:xfrm>
            <a:off x="1280160" y="8759952"/>
            <a:ext cx="7269480" cy="73152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9397AB"/>
              </a:buClr>
              <a:buSzPts val="1600"/>
              <a:buFont typeface="Arial"/>
              <a:buNone/>
            </a:pPr>
            <a:r>
              <a:rPr b="1" i="0" lang="iw-IL" sz="1600" u="none" cap="none" strike="noStrike">
                <a:solidFill>
                  <a:srgbClr val="9397AB"/>
                </a:solidFill>
                <a:latin typeface="Arial"/>
                <a:ea typeface="Arial"/>
                <a:cs typeface="Arial"/>
                <a:sym typeface="Arial"/>
              </a:rPr>
              <a:t>השפעה על המעבר: </a:t>
            </a:r>
            <a:r>
              <a:rPr b="0" i="0" lang="iw-IL" sz="1600" u="none" cap="none" strike="noStrike">
                <a:solidFill>
                  <a:srgbClr val="E9E9ED"/>
                </a:solidFill>
                <a:latin typeface="Arial"/>
                <a:ea typeface="Arial"/>
                <a:cs typeface="Arial"/>
                <a:sym typeface="Arial"/>
              </a:rPr>
              <a:t>אף מקרה לא זז. ממצא נשלח לטכנאי, והטיימרים לא משתנים.</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6"/>
        </a:solidFill>
      </p:bgPr>
    </p:bg>
    <p:spTree>
      <p:nvGrpSpPr>
        <p:cNvPr id="229" name="Shape 229"/>
        <p:cNvGrpSpPr/>
        <p:nvPr/>
      </p:nvGrpSpPr>
      <p:grpSpPr>
        <a:xfrm>
          <a:off x="0" y="0"/>
          <a:ext cx="0" cy="0"/>
          <a:chOff x="0" y="0"/>
          <a:chExt cx="0" cy="0"/>
        </a:xfrm>
      </p:grpSpPr>
      <p:sp>
        <p:nvSpPr>
          <p:cNvPr id="230" name="Google Shape;230;p9"/>
          <p:cNvSpPr txBox="1"/>
          <p:nvPr/>
        </p:nvSpPr>
        <p:spPr>
          <a:xfrm>
            <a:off x="91440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97AB"/>
              </a:buClr>
              <a:buSzPts val="1600"/>
              <a:buFont typeface="Courier New"/>
              <a:buNone/>
            </a:pPr>
            <a:r>
              <a:rPr b="0" i="0" lang="iw-IL" sz="1600" u="none" cap="none" strike="noStrike">
                <a:solidFill>
                  <a:srgbClr val="9397AB"/>
                </a:solidFill>
                <a:latin typeface="Courier New"/>
                <a:ea typeface="Courier New"/>
                <a:cs typeface="Courier New"/>
                <a:sym typeface="Courier New"/>
              </a:rPr>
              <a:t>09 · Waiting-Room Monitor</a:t>
            </a:r>
            <a:endParaRPr b="0" i="0" sz="1600" u="none" cap="none" strike="noStrike">
              <a:solidFill>
                <a:schemeClr val="dk1"/>
              </a:solidFill>
              <a:latin typeface="Calibri"/>
              <a:ea typeface="Calibri"/>
              <a:cs typeface="Calibri"/>
              <a:sym typeface="Calibri"/>
            </a:endParaRPr>
          </a:p>
        </p:txBody>
      </p:sp>
      <p:sp>
        <p:nvSpPr>
          <p:cNvPr id="231" name="Google Shape;231;p9"/>
          <p:cNvSpPr txBox="1"/>
          <p:nvPr/>
        </p:nvSpPr>
        <p:spPr>
          <a:xfrm>
            <a:off x="3657600" y="411480"/>
            <a:ext cx="13716000" cy="10972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4800"/>
              <a:buFont typeface="Arial"/>
              <a:buNone/>
            </a:pPr>
            <a:r>
              <a:rPr b="0" i="0" lang="iw-IL" sz="4800" u="none" cap="none" strike="noStrike">
                <a:solidFill>
                  <a:srgbClr val="E9E9ED"/>
                </a:solidFill>
                <a:latin typeface="Arial"/>
                <a:ea typeface="Arial"/>
                <a:cs typeface="Arial"/>
                <a:sym typeface="Arial"/>
              </a:rPr>
              <a:t>המוניטור: איך אף מטופל לא נשכח</a:t>
            </a:r>
            <a:endParaRPr b="0" i="0" sz="4800" u="none" cap="none" strike="noStrike">
              <a:solidFill>
                <a:schemeClr val="dk1"/>
              </a:solidFill>
              <a:latin typeface="Calibri"/>
              <a:ea typeface="Calibri"/>
              <a:cs typeface="Calibri"/>
              <a:sym typeface="Calibri"/>
            </a:endParaRPr>
          </a:p>
        </p:txBody>
      </p:sp>
      <p:sp>
        <p:nvSpPr>
          <p:cNvPr id="232" name="Google Shape;232;p9"/>
          <p:cNvSpPr txBox="1"/>
          <p:nvPr/>
        </p:nvSpPr>
        <p:spPr>
          <a:xfrm>
            <a:off x="914400" y="1920250"/>
            <a:ext cx="16459200" cy="10296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900"/>
              <a:buFont typeface="Arial"/>
              <a:buNone/>
            </a:pPr>
            <a:r>
              <a:rPr b="1" i="0" lang="iw-IL" sz="1900" u="none" cap="none" strike="noStrike">
                <a:solidFill>
                  <a:srgbClr val="E9E9ED"/>
                </a:solidFill>
                <a:latin typeface="Arial"/>
                <a:ea typeface="Arial"/>
                <a:cs typeface="Arial"/>
                <a:sym typeface="Arial"/>
              </a:rPr>
              <a:t>אף אחד לא יושב מול שעון לכל מטופל. </a:t>
            </a:r>
            <a:r>
              <a:rPr b="0" i="0" lang="iw-IL" sz="1900" u="none" cap="none" strike="noStrike">
                <a:solidFill>
                  <a:srgbClr val="E9E9ED"/>
                </a:solidFill>
                <a:latin typeface="Arial"/>
                <a:ea typeface="Arial"/>
                <a:cs typeface="Arial"/>
                <a:sym typeface="Arial"/>
              </a:rPr>
              <a:t>לכן המערכת קובעת לכל מקרה "שעונים מעוררים" (טיימרים), ותהליך רקע מפעיל אותם בזמן.</a:t>
            </a:r>
            <a:endParaRPr b="0" i="0" sz="1900" u="none" cap="none" strike="noStrike">
              <a:solidFill>
                <a:schemeClr val="dk1"/>
              </a:solidFill>
              <a:latin typeface="Calibri"/>
              <a:ea typeface="Calibri"/>
              <a:cs typeface="Calibri"/>
              <a:sym typeface="Calibri"/>
            </a:endParaRPr>
          </a:p>
          <a:p>
            <a:pPr indent="0" lvl="0" marL="0" marR="0" rtl="1" algn="r">
              <a:spcBef>
                <a:spcPts val="1200"/>
              </a:spcBef>
              <a:spcAft>
                <a:spcPts val="0"/>
              </a:spcAft>
              <a:buClr>
                <a:srgbClr val="E9E9ED"/>
              </a:buClr>
              <a:buSzPts val="1900"/>
              <a:buFont typeface="Arial"/>
              <a:buNone/>
            </a:pPr>
            <a:r>
              <a:rPr b="1" i="0" lang="iw-IL" sz="1900" u="none" cap="none" strike="noStrike">
                <a:solidFill>
                  <a:srgbClr val="E9E9ED"/>
                </a:solidFill>
                <a:latin typeface="Arial"/>
                <a:ea typeface="Arial"/>
                <a:cs typeface="Arial"/>
                <a:sym typeface="Arial"/>
              </a:rPr>
              <a:t>מקרה שממתין לא רץ בלולאה. </a:t>
            </a:r>
            <a:r>
              <a:rPr b="0" i="0" lang="iw-IL" sz="1900" u="none" cap="none" strike="noStrike">
                <a:solidFill>
                  <a:srgbClr val="E9E9ED"/>
                </a:solidFill>
                <a:latin typeface="Arial"/>
                <a:ea typeface="Arial"/>
                <a:cs typeface="Arial"/>
                <a:sym typeface="Arial"/>
              </a:rPr>
              <a:t>הוא שומר את המצב שלו במסד הנתונים ועוצר. טיימר או אחות מעירים אותו בדיוק מאותה נקודה.</a:t>
            </a:r>
            <a:endParaRPr b="0" i="0" sz="1900" u="none" cap="none" strike="noStrike">
              <a:solidFill>
                <a:schemeClr val="dk1"/>
              </a:solidFill>
              <a:latin typeface="Calibri"/>
              <a:ea typeface="Calibri"/>
              <a:cs typeface="Calibri"/>
              <a:sym typeface="Calibri"/>
            </a:endParaRPr>
          </a:p>
        </p:txBody>
      </p:sp>
      <p:sp>
        <p:nvSpPr>
          <p:cNvPr id="233" name="Google Shape;233;p9"/>
          <p:cNvSpPr/>
          <p:nvPr/>
        </p:nvSpPr>
        <p:spPr>
          <a:xfrm>
            <a:off x="9509760" y="3483018"/>
            <a:ext cx="7863900" cy="5120700"/>
          </a:xfrm>
          <a:prstGeom prst="roundRect">
            <a:avLst>
              <a:gd fmla="val 2143"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9"/>
          <p:cNvSpPr txBox="1"/>
          <p:nvPr/>
        </p:nvSpPr>
        <p:spPr>
          <a:xfrm>
            <a:off x="9875520" y="3711618"/>
            <a:ext cx="713220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2000"/>
              <a:buFont typeface="Arial"/>
              <a:buNone/>
            </a:pPr>
            <a:r>
              <a:rPr b="1" i="0" lang="iw-IL" sz="2000" u="none" cap="none" strike="noStrike">
                <a:solidFill>
                  <a:srgbClr val="D2CEFD"/>
                </a:solidFill>
                <a:latin typeface="Arial"/>
                <a:ea typeface="Arial"/>
                <a:cs typeface="Arial"/>
                <a:sym typeface="Arial"/>
              </a:rPr>
              <a:t>כל 5 שניות, המוניטור:</a:t>
            </a:r>
            <a:endParaRPr b="0" i="0" sz="2000" u="none" cap="none" strike="noStrike">
              <a:solidFill>
                <a:schemeClr val="dk1"/>
              </a:solidFill>
              <a:latin typeface="Calibri"/>
              <a:ea typeface="Calibri"/>
              <a:cs typeface="Calibri"/>
              <a:sym typeface="Calibri"/>
            </a:endParaRPr>
          </a:p>
        </p:txBody>
      </p:sp>
      <p:sp>
        <p:nvSpPr>
          <p:cNvPr id="235" name="Google Shape;235;p9"/>
          <p:cNvSpPr/>
          <p:nvPr/>
        </p:nvSpPr>
        <p:spPr>
          <a:xfrm>
            <a:off x="16504920" y="4397418"/>
            <a:ext cx="457200" cy="457200"/>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txBox="1"/>
          <p:nvPr/>
        </p:nvSpPr>
        <p:spPr>
          <a:xfrm>
            <a:off x="16504920" y="439741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500"/>
              <a:buFont typeface="Arial"/>
              <a:buNone/>
            </a:pPr>
            <a:r>
              <a:rPr b="1" i="0" lang="iw-IL" sz="1500" u="none" cap="none" strike="noStrike">
                <a:solidFill>
                  <a:srgbClr val="161826"/>
                </a:solidFill>
                <a:latin typeface="Arial"/>
                <a:ea typeface="Arial"/>
                <a:cs typeface="Arial"/>
                <a:sym typeface="Arial"/>
              </a:rPr>
              <a:t>1</a:t>
            </a:r>
            <a:endParaRPr b="0" i="0" sz="1500" u="none" cap="none" strike="noStrike">
              <a:solidFill>
                <a:schemeClr val="dk1"/>
              </a:solidFill>
              <a:latin typeface="Calibri"/>
              <a:ea typeface="Calibri"/>
              <a:cs typeface="Calibri"/>
              <a:sym typeface="Calibri"/>
            </a:endParaRPr>
          </a:p>
        </p:txBody>
      </p:sp>
      <p:sp>
        <p:nvSpPr>
          <p:cNvPr id="237" name="Google Shape;237;p9"/>
          <p:cNvSpPr txBox="1"/>
          <p:nvPr/>
        </p:nvSpPr>
        <p:spPr>
          <a:xfrm>
            <a:off x="9875520" y="4351698"/>
            <a:ext cx="6446400" cy="914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800"/>
              <a:buFont typeface="Arial"/>
              <a:buNone/>
            </a:pPr>
            <a:r>
              <a:rPr b="0" i="0" lang="iw-IL" sz="1800" u="none" cap="none" strike="noStrike">
                <a:solidFill>
                  <a:srgbClr val="E9E9ED"/>
                </a:solidFill>
                <a:latin typeface="Arial"/>
                <a:ea typeface="Arial"/>
                <a:cs typeface="Arial"/>
                <a:sym typeface="Arial"/>
              </a:rPr>
              <a:t>מדווח "אני חי", כדי שאפשר יהיה לזהות שהוא קרס.</a:t>
            </a:r>
            <a:endParaRPr b="0" i="0" sz="1800" u="none" cap="none" strike="noStrike">
              <a:solidFill>
                <a:schemeClr val="dk1"/>
              </a:solidFill>
              <a:latin typeface="Calibri"/>
              <a:ea typeface="Calibri"/>
              <a:cs typeface="Calibri"/>
              <a:sym typeface="Calibri"/>
            </a:endParaRPr>
          </a:p>
        </p:txBody>
      </p:sp>
      <p:sp>
        <p:nvSpPr>
          <p:cNvPr id="238" name="Google Shape;238;p9"/>
          <p:cNvSpPr/>
          <p:nvPr/>
        </p:nvSpPr>
        <p:spPr>
          <a:xfrm>
            <a:off x="16504920" y="5421546"/>
            <a:ext cx="457200" cy="457200"/>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txBox="1"/>
          <p:nvPr/>
        </p:nvSpPr>
        <p:spPr>
          <a:xfrm>
            <a:off x="16504920" y="542154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500"/>
              <a:buFont typeface="Arial"/>
              <a:buNone/>
            </a:pPr>
            <a:r>
              <a:rPr b="1" i="0" lang="iw-IL" sz="1500" u="none" cap="none" strike="noStrike">
                <a:solidFill>
                  <a:srgbClr val="161826"/>
                </a:solidFill>
                <a:latin typeface="Arial"/>
                <a:ea typeface="Arial"/>
                <a:cs typeface="Arial"/>
                <a:sym typeface="Arial"/>
              </a:rPr>
              <a:t>2</a:t>
            </a:r>
            <a:endParaRPr b="0" i="0" sz="1500" u="none" cap="none" strike="noStrike">
              <a:solidFill>
                <a:schemeClr val="dk1"/>
              </a:solidFill>
              <a:latin typeface="Calibri"/>
              <a:ea typeface="Calibri"/>
              <a:cs typeface="Calibri"/>
              <a:sym typeface="Calibri"/>
            </a:endParaRPr>
          </a:p>
        </p:txBody>
      </p:sp>
      <p:sp>
        <p:nvSpPr>
          <p:cNvPr id="240" name="Google Shape;240;p9"/>
          <p:cNvSpPr txBox="1"/>
          <p:nvPr/>
        </p:nvSpPr>
        <p:spPr>
          <a:xfrm>
            <a:off x="9875520" y="5375826"/>
            <a:ext cx="6446400" cy="914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800"/>
              <a:buFont typeface="Arial"/>
              <a:buNone/>
            </a:pPr>
            <a:r>
              <a:rPr b="0" i="0" lang="iw-IL" sz="1800" u="none" cap="none" strike="noStrike">
                <a:solidFill>
                  <a:srgbClr val="E9E9ED"/>
                </a:solidFill>
                <a:latin typeface="Arial"/>
                <a:ea typeface="Arial"/>
                <a:cs typeface="Arial"/>
                <a:sym typeface="Arial"/>
              </a:rPr>
              <a:t>מוצא טיימרים שהגיע זמנם.</a:t>
            </a:r>
            <a:endParaRPr b="0" i="0" sz="1800" u="none" cap="none" strike="noStrike">
              <a:solidFill>
                <a:schemeClr val="dk1"/>
              </a:solidFill>
              <a:latin typeface="Calibri"/>
              <a:ea typeface="Calibri"/>
              <a:cs typeface="Calibri"/>
              <a:sym typeface="Calibri"/>
            </a:endParaRPr>
          </a:p>
        </p:txBody>
      </p:sp>
      <p:sp>
        <p:nvSpPr>
          <p:cNvPr id="241" name="Google Shape;241;p9"/>
          <p:cNvSpPr/>
          <p:nvPr/>
        </p:nvSpPr>
        <p:spPr>
          <a:xfrm>
            <a:off x="16504920" y="6445674"/>
            <a:ext cx="457200" cy="457200"/>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txBox="1"/>
          <p:nvPr/>
        </p:nvSpPr>
        <p:spPr>
          <a:xfrm>
            <a:off x="16504920" y="644567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500"/>
              <a:buFont typeface="Arial"/>
              <a:buNone/>
            </a:pPr>
            <a:r>
              <a:rPr b="1" i="0" lang="iw-IL" sz="1500" u="none" cap="none" strike="noStrike">
                <a:solidFill>
                  <a:srgbClr val="161826"/>
                </a:solidFill>
                <a:latin typeface="Arial"/>
                <a:ea typeface="Arial"/>
                <a:cs typeface="Arial"/>
                <a:sym typeface="Arial"/>
              </a:rPr>
              <a:t>3</a:t>
            </a:r>
            <a:endParaRPr b="0" i="0" sz="1500" u="none" cap="none" strike="noStrike">
              <a:solidFill>
                <a:schemeClr val="dk1"/>
              </a:solidFill>
              <a:latin typeface="Calibri"/>
              <a:ea typeface="Calibri"/>
              <a:cs typeface="Calibri"/>
              <a:sym typeface="Calibri"/>
            </a:endParaRPr>
          </a:p>
        </p:txBody>
      </p:sp>
      <p:sp>
        <p:nvSpPr>
          <p:cNvPr id="243" name="Google Shape;243;p9"/>
          <p:cNvSpPr txBox="1"/>
          <p:nvPr/>
        </p:nvSpPr>
        <p:spPr>
          <a:xfrm>
            <a:off x="9875520" y="6399954"/>
            <a:ext cx="6446400" cy="914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800"/>
              <a:buFont typeface="Arial"/>
              <a:buNone/>
            </a:pPr>
            <a:r>
              <a:rPr b="0" i="0" lang="iw-IL" sz="1800" u="none" cap="none" strike="noStrike">
                <a:solidFill>
                  <a:srgbClr val="E9E9ED"/>
                </a:solidFill>
                <a:latin typeface="Arial"/>
                <a:ea typeface="Arial"/>
                <a:cs typeface="Arial"/>
                <a:sym typeface="Arial"/>
              </a:rPr>
              <a:t>מעביר כל טיימר להחלטה: BPpy בוחר מה לעשות איתו, Prolog מוודא שהוא מסכים (אם לא, הטיימר נעצר), ו-OPA מאשר רגע לפני הפעולה.</a:t>
            </a:r>
            <a:endParaRPr b="0" i="0" sz="1800" u="none" cap="none" strike="noStrike">
              <a:solidFill>
                <a:schemeClr val="dk1"/>
              </a:solidFill>
              <a:latin typeface="Calibri"/>
              <a:ea typeface="Calibri"/>
              <a:cs typeface="Calibri"/>
              <a:sym typeface="Calibri"/>
            </a:endParaRPr>
          </a:p>
        </p:txBody>
      </p:sp>
      <p:sp>
        <p:nvSpPr>
          <p:cNvPr id="244" name="Google Shape;244;p9"/>
          <p:cNvSpPr/>
          <p:nvPr/>
        </p:nvSpPr>
        <p:spPr>
          <a:xfrm>
            <a:off x="16504920" y="7469802"/>
            <a:ext cx="457200" cy="457200"/>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txBox="1"/>
          <p:nvPr/>
        </p:nvSpPr>
        <p:spPr>
          <a:xfrm>
            <a:off x="16504920" y="746980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500"/>
              <a:buFont typeface="Arial"/>
              <a:buNone/>
            </a:pPr>
            <a:r>
              <a:rPr b="1" i="0" lang="iw-IL" sz="1500" u="none" cap="none" strike="noStrike">
                <a:solidFill>
                  <a:srgbClr val="161826"/>
                </a:solidFill>
                <a:latin typeface="Arial"/>
                <a:ea typeface="Arial"/>
                <a:cs typeface="Arial"/>
                <a:sym typeface="Arial"/>
              </a:rPr>
              <a:t>4</a:t>
            </a:r>
            <a:endParaRPr b="0" i="0" sz="1500" u="none" cap="none" strike="noStrike">
              <a:solidFill>
                <a:schemeClr val="dk1"/>
              </a:solidFill>
              <a:latin typeface="Calibri"/>
              <a:ea typeface="Calibri"/>
              <a:cs typeface="Calibri"/>
              <a:sym typeface="Calibri"/>
            </a:endParaRPr>
          </a:p>
        </p:txBody>
      </p:sp>
      <p:sp>
        <p:nvSpPr>
          <p:cNvPr id="246" name="Google Shape;246;p9"/>
          <p:cNvSpPr txBox="1"/>
          <p:nvPr/>
        </p:nvSpPr>
        <p:spPr>
          <a:xfrm>
            <a:off x="9875520" y="7424082"/>
            <a:ext cx="6446400" cy="914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800"/>
              <a:buFont typeface="Arial"/>
              <a:buNone/>
            </a:pPr>
            <a:r>
              <a:rPr b="0" i="0" lang="iw-IL" sz="1800" u="none" cap="none" strike="noStrike">
                <a:solidFill>
                  <a:srgbClr val="E9E9ED"/>
                </a:solidFill>
                <a:latin typeface="Arial"/>
                <a:ea typeface="Arial"/>
                <a:cs typeface="Arial"/>
                <a:sym typeface="Arial"/>
              </a:rPr>
              <a:t>מריץ בדיקת Datalog על כל המערכת, ומחפש מטופל שממתין בלי טיימר.</a:t>
            </a:r>
            <a:endParaRPr b="0" i="0" sz="1800" u="none" cap="none" strike="noStrike">
              <a:solidFill>
                <a:schemeClr val="dk1"/>
              </a:solidFill>
              <a:latin typeface="Calibri"/>
              <a:ea typeface="Calibri"/>
              <a:cs typeface="Calibri"/>
              <a:sym typeface="Calibri"/>
            </a:endParaRPr>
          </a:p>
        </p:txBody>
      </p:sp>
      <p:graphicFrame>
        <p:nvGraphicFramePr>
          <p:cNvPr id="247" name="Google Shape;247;p9"/>
          <p:cNvGraphicFramePr/>
          <p:nvPr/>
        </p:nvGraphicFramePr>
        <p:xfrm>
          <a:off x="914400" y="3482204"/>
          <a:ext cx="3000000" cy="3000000"/>
        </p:xfrm>
        <a:graphic>
          <a:graphicData uri="http://schemas.openxmlformats.org/drawingml/2006/table">
            <a:tbl>
              <a:tblPr>
                <a:noFill/>
                <a:tableStyleId>{04CC930A-5F64-4B84-AD67-B738C2A8A3AE}</a:tableStyleId>
              </a:tblPr>
              <a:tblGrid>
                <a:gridCol w="2834650"/>
                <a:gridCol w="3017525"/>
                <a:gridCol w="2377450"/>
              </a:tblGrid>
              <a:tr h="548650">
                <a:tc>
                  <a:txBody>
                    <a:bodyPr/>
                    <a:lstStyle/>
                    <a:p>
                      <a:pPr indent="0" lvl="0" marL="0" marR="0" rtl="1" algn="r">
                        <a:spcBef>
                          <a:spcPts val="0"/>
                        </a:spcBef>
                        <a:spcAft>
                          <a:spcPts val="0"/>
                        </a:spcAft>
                        <a:buClr>
                          <a:srgbClr val="D2CEFD"/>
                        </a:buClr>
                        <a:buSzPts val="1600"/>
                        <a:buFont typeface="Arial"/>
                        <a:buNone/>
                      </a:pPr>
                      <a:r>
                        <a:rPr b="1" lang="iw-IL" sz="1600" u="none" cap="none" strike="noStrike">
                          <a:solidFill>
                            <a:srgbClr val="D2CEFD"/>
                          </a:solidFill>
                          <a:latin typeface="Arial"/>
                          <a:ea typeface="Arial"/>
                          <a:cs typeface="Arial"/>
                          <a:sym typeface="Arial"/>
                        </a:rPr>
                        <a:t>מה הוא עושה</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c>
                  <a:txBody>
                    <a:bodyPr/>
                    <a:lstStyle/>
                    <a:p>
                      <a:pPr indent="0" lvl="0" marL="0" marR="0" rtl="1" algn="r">
                        <a:spcBef>
                          <a:spcPts val="0"/>
                        </a:spcBef>
                        <a:spcAft>
                          <a:spcPts val="0"/>
                        </a:spcAft>
                        <a:buClr>
                          <a:srgbClr val="D2CEFD"/>
                        </a:buClr>
                        <a:buSzPts val="1600"/>
                        <a:buFont typeface="Arial"/>
                        <a:buNone/>
                      </a:pPr>
                      <a:r>
                        <a:rPr b="1" lang="iw-IL" sz="1600" u="none" cap="none" strike="noStrike">
                          <a:solidFill>
                            <a:srgbClr val="D2CEFD"/>
                          </a:solidFill>
                          <a:latin typeface="Arial"/>
                          <a:ea typeface="Arial"/>
                          <a:cs typeface="Arial"/>
                          <a:sym typeface="Arial"/>
                        </a:rPr>
                        <a:t>מתי</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c>
                  <a:txBody>
                    <a:bodyPr/>
                    <a:lstStyle/>
                    <a:p>
                      <a:pPr indent="0" lvl="0" marL="0" marR="0" rtl="1" algn="r">
                        <a:spcBef>
                          <a:spcPts val="0"/>
                        </a:spcBef>
                        <a:spcAft>
                          <a:spcPts val="0"/>
                        </a:spcAft>
                        <a:buClr>
                          <a:srgbClr val="D2CEFD"/>
                        </a:buClr>
                        <a:buSzPts val="1600"/>
                        <a:buFont typeface="Arial"/>
                        <a:buNone/>
                      </a:pPr>
                      <a:r>
                        <a:rPr b="1" lang="iw-IL" sz="1600" u="none" cap="none" strike="noStrike">
                          <a:solidFill>
                            <a:srgbClr val="D2CEFD"/>
                          </a:solidFill>
                          <a:latin typeface="Arial"/>
                          <a:ea typeface="Arial"/>
                          <a:cs typeface="Arial"/>
                          <a:sym typeface="Arial"/>
                        </a:rPr>
                        <a:t>טיימר</a:t>
                      </a:r>
                      <a:endParaRPr sz="16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r>
              <a:tr h="1005850">
                <a:tc>
                  <a:txBody>
                    <a:bodyPr/>
                    <a:lstStyle/>
                    <a:p>
                      <a:pPr indent="0" lvl="0" marL="0" marR="0" rtl="1" algn="r">
                        <a:spcBef>
                          <a:spcPts val="0"/>
                        </a:spcBef>
                        <a:spcAft>
                          <a:spcPts val="0"/>
                        </a:spcAft>
                        <a:buClr>
                          <a:srgbClr val="E9E9ED"/>
                        </a:buClr>
                        <a:buSzPts val="1700"/>
                        <a:buFont typeface="Arial"/>
                        <a:buNone/>
                      </a:pPr>
                      <a:r>
                        <a:rPr lang="iw-IL" sz="1700" u="none" cap="none" strike="noStrike">
                          <a:solidFill>
                            <a:srgbClr val="E9E9ED"/>
                          </a:solidFill>
                          <a:latin typeface="Arial"/>
                          <a:ea typeface="Arial"/>
                          <a:cs typeface="Arial"/>
                          <a:sym typeface="Arial"/>
                        </a:rPr>
                        <a:t>מעיר את המקרה לבדיקה מחדש</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700"/>
                        <a:buFont typeface="Arial"/>
                        <a:buNone/>
                      </a:pPr>
                      <a:r>
                        <a:rPr lang="iw-IL" sz="1700" u="none" cap="none" strike="noStrike">
                          <a:solidFill>
                            <a:srgbClr val="E9E9ED"/>
                          </a:solidFill>
                          <a:latin typeface="Arial"/>
                          <a:ea typeface="Arial"/>
                          <a:cs typeface="Arial"/>
                          <a:sym typeface="Arial"/>
                        </a:rPr>
                        <a:t>כל 10 דקות ברמה 1, ועד 120 דקות ברמה 5</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700"/>
                        <a:buFont typeface="Arial"/>
                        <a:buNone/>
                      </a:pPr>
                      <a:r>
                        <a:rPr lang="iw-IL" sz="1700" u="none" cap="none" strike="noStrike">
                          <a:solidFill>
                            <a:srgbClr val="E9E9ED"/>
                          </a:solidFill>
                          <a:latin typeface="Arial"/>
                          <a:ea typeface="Arial"/>
                          <a:cs typeface="Arial"/>
                          <a:sym typeface="Arial"/>
                        </a:rPr>
                        <a:t>הערכה חוזרת</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1005850">
                <a:tc>
                  <a:txBody>
                    <a:bodyPr/>
                    <a:lstStyle/>
                    <a:p>
                      <a:pPr indent="0" lvl="0" marL="0" marR="0" rtl="1" algn="r">
                        <a:spcBef>
                          <a:spcPts val="0"/>
                        </a:spcBef>
                        <a:spcAft>
                          <a:spcPts val="0"/>
                        </a:spcAft>
                        <a:buClr>
                          <a:srgbClr val="E9E9ED"/>
                        </a:buClr>
                        <a:buSzPts val="1700"/>
                        <a:buFont typeface="Arial"/>
                        <a:buNone/>
                      </a:pPr>
                      <a:r>
                        <a:rPr lang="iw-IL" sz="1700" u="none" cap="none" strike="noStrike">
                          <a:solidFill>
                            <a:srgbClr val="E9E9ED"/>
                          </a:solidFill>
                          <a:latin typeface="Arial"/>
                          <a:ea typeface="Arial"/>
                          <a:cs typeface="Arial"/>
                          <a:sym typeface="Arial"/>
                        </a:rPr>
                        <a:t>מזכיר לאחות, ואז לכל האחיות האחראיות</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700"/>
                        <a:buFont typeface="Arial"/>
                        <a:buNone/>
                      </a:pPr>
                      <a:r>
                        <a:rPr lang="iw-IL" sz="1700" u="none" cap="none" strike="noStrike">
                          <a:solidFill>
                            <a:srgbClr val="E9E9ED"/>
                          </a:solidFill>
                          <a:latin typeface="Arial"/>
                          <a:ea typeface="Arial"/>
                          <a:cs typeface="Arial"/>
                          <a:sym typeface="Arial"/>
                        </a:rPr>
                        <a:t>אחרי 10 דקות, ושוב אחרי 20</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700"/>
                        <a:buFont typeface="Arial"/>
                        <a:buNone/>
                      </a:pPr>
                      <a:r>
                        <a:rPr lang="iw-IL" sz="1700" u="none" cap="none" strike="noStrike">
                          <a:solidFill>
                            <a:srgbClr val="E9E9ED"/>
                          </a:solidFill>
                          <a:latin typeface="Arial"/>
                          <a:ea typeface="Arial"/>
                          <a:cs typeface="Arial"/>
                          <a:sym typeface="Arial"/>
                        </a:rPr>
                        <a:t>תזכורת לשער אישור</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822950">
                <a:tc>
                  <a:txBody>
                    <a:bodyPr/>
                    <a:lstStyle/>
                    <a:p>
                      <a:pPr indent="0" lvl="0" marL="0" marR="0" rtl="1" algn="r">
                        <a:spcBef>
                          <a:spcPts val="0"/>
                        </a:spcBef>
                        <a:spcAft>
                          <a:spcPts val="0"/>
                        </a:spcAft>
                        <a:buClr>
                          <a:srgbClr val="E9E9ED"/>
                        </a:buClr>
                        <a:buSzPts val="1700"/>
                        <a:buFont typeface="Arial"/>
                        <a:buNone/>
                      </a:pPr>
                      <a:r>
                        <a:rPr lang="iw-IL" sz="1700" u="none" cap="none" strike="noStrike">
                          <a:solidFill>
                            <a:srgbClr val="E9E9ED"/>
                          </a:solidFill>
                          <a:latin typeface="Arial"/>
                          <a:ea typeface="Arial"/>
                          <a:cs typeface="Arial"/>
                          <a:sym typeface="Arial"/>
                        </a:rPr>
                        <a:t>מזכיר לכל אחראי המשמרת</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700"/>
                        <a:buFont typeface="Arial"/>
                        <a:buNone/>
                      </a:pPr>
                      <a:r>
                        <a:rPr lang="iw-IL" sz="1700" u="none" cap="none" strike="noStrike">
                          <a:solidFill>
                            <a:srgbClr val="E9E9ED"/>
                          </a:solidFill>
                          <a:latin typeface="Arial"/>
                          <a:ea typeface="Arial"/>
                          <a:cs typeface="Arial"/>
                          <a:sym typeface="Arial"/>
                        </a:rPr>
                        <a:t>10 דקות אחרי הסלמה</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700"/>
                        <a:buFont typeface="Arial"/>
                        <a:buNone/>
                      </a:pPr>
                      <a:r>
                        <a:rPr lang="iw-IL" sz="1700" u="none" cap="none" strike="noStrike">
                          <a:solidFill>
                            <a:srgbClr val="E9E9ED"/>
                          </a:solidFill>
                          <a:latin typeface="Arial"/>
                          <a:ea typeface="Arial"/>
                          <a:cs typeface="Arial"/>
                          <a:sym typeface="Arial"/>
                        </a:rPr>
                        <a:t>תזכורת לבכיר</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bl>
          </a:graphicData>
        </a:graphic>
      </p:graphicFrame>
      <p:sp>
        <p:nvSpPr>
          <p:cNvPr id="248" name="Google Shape;248;p9"/>
          <p:cNvSpPr/>
          <p:nvPr/>
        </p:nvSpPr>
        <p:spPr>
          <a:xfrm>
            <a:off x="914400" y="7139804"/>
            <a:ext cx="8229600" cy="1463100"/>
          </a:xfrm>
          <a:prstGeom prst="roundRect">
            <a:avLst>
              <a:gd fmla="val 7500"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txBox="1"/>
          <p:nvPr/>
        </p:nvSpPr>
        <p:spPr>
          <a:xfrm>
            <a:off x="1234440" y="7231244"/>
            <a:ext cx="7589400" cy="12801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D2CEFD"/>
              </a:buClr>
              <a:buSzPts val="1750"/>
              <a:buFont typeface="Arial"/>
              <a:buNone/>
            </a:pPr>
            <a:r>
              <a:rPr b="1" i="0" lang="iw-IL" sz="1750" u="none" cap="none" strike="noStrike">
                <a:solidFill>
                  <a:srgbClr val="D2CEFD"/>
                </a:solidFill>
                <a:latin typeface="Arial"/>
                <a:ea typeface="Arial"/>
                <a:cs typeface="Arial"/>
                <a:sym typeface="Arial"/>
              </a:rPr>
              <a:t>הגנות: </a:t>
            </a:r>
            <a:r>
              <a:rPr b="0" i="0" lang="iw-IL" sz="1750" u="none" cap="none" strike="noStrike">
                <a:solidFill>
                  <a:srgbClr val="E9E9ED"/>
                </a:solidFill>
                <a:latin typeface="Arial"/>
                <a:ea typeface="Arial"/>
                <a:cs typeface="Arial"/>
                <a:sym typeface="Arial"/>
              </a:rPr>
              <a:t>טיימר שלא ברור אם פעל נבדק קודם ביומן, ואחרי 3 ניסיונות אדם מקבל התראה. טיימר שנכשל 3 פעמים ברצף מוסלם לטכנאי. לכל היותר 5 התראות בשעה לכל קבוצת נמענים.</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6"/>
        </a:solidFill>
      </p:bgPr>
    </p:bg>
    <p:spTree>
      <p:nvGrpSpPr>
        <p:cNvPr id="254" name="Shape 254"/>
        <p:cNvGrpSpPr/>
        <p:nvPr/>
      </p:nvGrpSpPr>
      <p:grpSpPr>
        <a:xfrm>
          <a:off x="0" y="0"/>
          <a:ext cx="0" cy="0"/>
          <a:chOff x="0" y="0"/>
          <a:chExt cx="0" cy="0"/>
        </a:xfrm>
      </p:grpSpPr>
      <p:sp>
        <p:nvSpPr>
          <p:cNvPr id="255" name="Google Shape;255;p11"/>
          <p:cNvSpPr txBox="1"/>
          <p:nvPr/>
        </p:nvSpPr>
        <p:spPr>
          <a:xfrm>
            <a:off x="91440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97AB"/>
              </a:buClr>
              <a:buSzPts val="1600"/>
              <a:buFont typeface="Courier New"/>
              <a:buNone/>
            </a:pPr>
            <a:r>
              <a:rPr b="0" i="0" lang="iw-IL" sz="1600" u="none" cap="none" strike="noStrike">
                <a:solidFill>
                  <a:srgbClr val="9397AB"/>
                </a:solidFill>
                <a:latin typeface="Courier New"/>
                <a:ea typeface="Courier New"/>
                <a:cs typeface="Courier New"/>
                <a:sym typeface="Courier New"/>
              </a:rPr>
              <a:t>1</a:t>
            </a:r>
            <a:r>
              <a:rPr lang="iw-IL" sz="1600">
                <a:solidFill>
                  <a:srgbClr val="9397AB"/>
                </a:solidFill>
                <a:latin typeface="Courier New"/>
                <a:ea typeface="Courier New"/>
                <a:cs typeface="Courier New"/>
                <a:sym typeface="Courier New"/>
              </a:rPr>
              <a:t>0</a:t>
            </a:r>
            <a:r>
              <a:rPr b="0" i="0" lang="iw-IL" sz="1600" u="none" cap="none" strike="noStrike">
                <a:solidFill>
                  <a:srgbClr val="9397AB"/>
                </a:solidFill>
                <a:latin typeface="Courier New"/>
                <a:ea typeface="Courier New"/>
                <a:cs typeface="Courier New"/>
                <a:sym typeface="Courier New"/>
              </a:rPr>
              <a:t> · Evaluation</a:t>
            </a:r>
            <a:endParaRPr b="0" i="0" sz="1600" u="none" cap="none" strike="noStrike">
              <a:solidFill>
                <a:schemeClr val="dk1"/>
              </a:solidFill>
              <a:latin typeface="Calibri"/>
              <a:ea typeface="Calibri"/>
              <a:cs typeface="Calibri"/>
              <a:sym typeface="Calibri"/>
            </a:endParaRPr>
          </a:p>
        </p:txBody>
      </p:sp>
      <p:sp>
        <p:nvSpPr>
          <p:cNvPr id="256" name="Google Shape;256;p11"/>
          <p:cNvSpPr txBox="1"/>
          <p:nvPr/>
        </p:nvSpPr>
        <p:spPr>
          <a:xfrm>
            <a:off x="3657600" y="411480"/>
            <a:ext cx="13716000" cy="10972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4800"/>
              <a:buFont typeface="Arial"/>
              <a:buNone/>
            </a:pPr>
            <a:r>
              <a:rPr b="0" i="0" lang="iw-IL" sz="4800" u="none" cap="none" strike="noStrike">
                <a:solidFill>
                  <a:srgbClr val="E9E9ED"/>
                </a:solidFill>
                <a:latin typeface="Arial"/>
                <a:ea typeface="Arial"/>
                <a:cs typeface="Arial"/>
                <a:sym typeface="Arial"/>
              </a:rPr>
              <a:t>איך בדקנו את המערכת</a:t>
            </a:r>
            <a:endParaRPr b="0" i="0" sz="4800" u="none" cap="none" strike="noStrike">
              <a:solidFill>
                <a:schemeClr val="dk1"/>
              </a:solidFill>
              <a:latin typeface="Calibri"/>
              <a:ea typeface="Calibri"/>
              <a:cs typeface="Calibri"/>
              <a:sym typeface="Calibri"/>
            </a:endParaRPr>
          </a:p>
        </p:txBody>
      </p:sp>
      <p:sp>
        <p:nvSpPr>
          <p:cNvPr id="257" name="Google Shape;257;p11"/>
          <p:cNvSpPr/>
          <p:nvPr/>
        </p:nvSpPr>
        <p:spPr>
          <a:xfrm>
            <a:off x="12435840" y="1920240"/>
            <a:ext cx="4937760" cy="1600200"/>
          </a:xfrm>
          <a:prstGeom prst="roundRect">
            <a:avLst>
              <a:gd fmla="val 6857" name="adj"/>
            </a:avLst>
          </a:prstGeom>
          <a:solidFill>
            <a:srgbClr val="2B2960"/>
          </a:solidFill>
          <a:ln cap="flat" cmpd="sng" w="12700">
            <a:solidFill>
              <a:srgbClr val="4C539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txBox="1"/>
          <p:nvPr/>
        </p:nvSpPr>
        <p:spPr>
          <a:xfrm>
            <a:off x="12710160" y="2057400"/>
            <a:ext cx="4389120" cy="8686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2CEFD"/>
              </a:buClr>
              <a:buSzPts val="5000"/>
              <a:buFont typeface="Arial"/>
              <a:buNone/>
            </a:pPr>
            <a:r>
              <a:rPr b="0" i="0" lang="iw-IL" sz="5000" u="none" cap="none" strike="noStrike">
                <a:solidFill>
                  <a:srgbClr val="D2CEFD"/>
                </a:solidFill>
                <a:latin typeface="Arial"/>
                <a:ea typeface="Arial"/>
                <a:cs typeface="Arial"/>
                <a:sym typeface="Arial"/>
              </a:rPr>
              <a:t>500+</a:t>
            </a:r>
            <a:endParaRPr b="0" i="0" sz="5000" u="none" cap="none" strike="noStrike">
              <a:solidFill>
                <a:schemeClr val="dk1"/>
              </a:solidFill>
              <a:latin typeface="Calibri"/>
              <a:ea typeface="Calibri"/>
              <a:cs typeface="Calibri"/>
              <a:sym typeface="Calibri"/>
            </a:endParaRPr>
          </a:p>
        </p:txBody>
      </p:sp>
      <p:sp>
        <p:nvSpPr>
          <p:cNvPr id="259" name="Google Shape;259;p11"/>
          <p:cNvSpPr txBox="1"/>
          <p:nvPr/>
        </p:nvSpPr>
        <p:spPr>
          <a:xfrm>
            <a:off x="12710160" y="2907792"/>
            <a:ext cx="4389120" cy="50292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600"/>
              <a:buFont typeface="Arial"/>
              <a:buNone/>
            </a:pPr>
            <a:r>
              <a:rPr b="0" i="0" lang="iw-IL" sz="1600" u="none" cap="none" strike="noStrike">
                <a:solidFill>
                  <a:srgbClr val="CFD3E5"/>
                </a:solidFill>
                <a:latin typeface="Arial"/>
                <a:ea typeface="Arial"/>
                <a:cs typeface="Arial"/>
                <a:sym typeface="Arial"/>
              </a:rPr>
              <a:t>בדיקות אוטומטיות עוברות</a:t>
            </a:r>
            <a:endParaRPr b="0" i="0" sz="1600" u="none" cap="none" strike="noStrike">
              <a:solidFill>
                <a:schemeClr val="dk1"/>
              </a:solidFill>
              <a:latin typeface="Calibri"/>
              <a:ea typeface="Calibri"/>
              <a:cs typeface="Calibri"/>
              <a:sym typeface="Calibri"/>
            </a:endParaRPr>
          </a:p>
        </p:txBody>
      </p:sp>
      <p:sp>
        <p:nvSpPr>
          <p:cNvPr id="260" name="Google Shape;260;p11"/>
          <p:cNvSpPr/>
          <p:nvPr/>
        </p:nvSpPr>
        <p:spPr>
          <a:xfrm>
            <a:off x="12435840" y="3703320"/>
            <a:ext cx="4937760" cy="1600200"/>
          </a:xfrm>
          <a:prstGeom prst="roundRect">
            <a:avLst>
              <a:gd fmla="val 6857"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txBox="1"/>
          <p:nvPr/>
        </p:nvSpPr>
        <p:spPr>
          <a:xfrm>
            <a:off x="12710160" y="3840480"/>
            <a:ext cx="4389120" cy="8686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2CEFD"/>
              </a:buClr>
              <a:buSzPts val="5000"/>
              <a:buFont typeface="Arial"/>
              <a:buNone/>
            </a:pPr>
            <a:r>
              <a:rPr b="0" i="0" lang="iw-IL" sz="5000" u="none" cap="none" strike="noStrike">
                <a:solidFill>
                  <a:srgbClr val="D2CEFD"/>
                </a:solidFill>
                <a:latin typeface="Arial"/>
                <a:ea typeface="Arial"/>
                <a:cs typeface="Arial"/>
                <a:sym typeface="Arial"/>
              </a:rPr>
              <a:t>22 / 22</a:t>
            </a:r>
            <a:endParaRPr b="0" i="0" sz="5000" u="none" cap="none" strike="noStrike">
              <a:solidFill>
                <a:schemeClr val="dk1"/>
              </a:solidFill>
              <a:latin typeface="Calibri"/>
              <a:ea typeface="Calibri"/>
              <a:cs typeface="Calibri"/>
              <a:sym typeface="Calibri"/>
            </a:endParaRPr>
          </a:p>
        </p:txBody>
      </p:sp>
      <p:sp>
        <p:nvSpPr>
          <p:cNvPr id="262" name="Google Shape;262;p11"/>
          <p:cNvSpPr txBox="1"/>
          <p:nvPr/>
        </p:nvSpPr>
        <p:spPr>
          <a:xfrm>
            <a:off x="12710160" y="4690872"/>
            <a:ext cx="4389120" cy="50292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600"/>
              <a:buFont typeface="Arial"/>
              <a:buNone/>
            </a:pPr>
            <a:r>
              <a:rPr b="0" i="0" lang="iw-IL" sz="1600" u="none" cap="none" strike="noStrike">
                <a:solidFill>
                  <a:srgbClr val="CFD3E5"/>
                </a:solidFill>
                <a:latin typeface="Arial"/>
                <a:ea typeface="Arial"/>
                <a:cs typeface="Arial"/>
                <a:sym typeface="Arial"/>
              </a:rPr>
              <a:t>כללי Temporal Logic נבדקים בקוד</a:t>
            </a:r>
            <a:endParaRPr b="0" i="0" sz="1600" u="none" cap="none" strike="noStrike">
              <a:solidFill>
                <a:schemeClr val="dk1"/>
              </a:solidFill>
              <a:latin typeface="Calibri"/>
              <a:ea typeface="Calibri"/>
              <a:cs typeface="Calibri"/>
              <a:sym typeface="Calibri"/>
            </a:endParaRPr>
          </a:p>
        </p:txBody>
      </p:sp>
      <p:sp>
        <p:nvSpPr>
          <p:cNvPr id="263" name="Google Shape;263;p11"/>
          <p:cNvSpPr/>
          <p:nvPr/>
        </p:nvSpPr>
        <p:spPr>
          <a:xfrm>
            <a:off x="12435840" y="5486400"/>
            <a:ext cx="4937760" cy="1600200"/>
          </a:xfrm>
          <a:prstGeom prst="roundRect">
            <a:avLst>
              <a:gd fmla="val 6857"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
          <p:cNvSpPr txBox="1"/>
          <p:nvPr/>
        </p:nvSpPr>
        <p:spPr>
          <a:xfrm>
            <a:off x="12710160" y="5623560"/>
            <a:ext cx="4389120" cy="8686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2CEFD"/>
              </a:buClr>
              <a:buSzPts val="5000"/>
              <a:buFont typeface="Arial"/>
              <a:buNone/>
            </a:pPr>
            <a:r>
              <a:rPr b="0" i="0" lang="iw-IL" sz="5000" u="none" cap="none" strike="noStrike">
                <a:solidFill>
                  <a:srgbClr val="D2CEFD"/>
                </a:solidFill>
                <a:latin typeface="Arial"/>
                <a:ea typeface="Arial"/>
                <a:cs typeface="Arial"/>
                <a:sym typeface="Arial"/>
              </a:rPr>
              <a:t>6 / 6</a:t>
            </a:r>
            <a:endParaRPr b="0" i="0" sz="5000" u="none" cap="none" strike="noStrike">
              <a:solidFill>
                <a:schemeClr val="dk1"/>
              </a:solidFill>
              <a:latin typeface="Calibri"/>
              <a:ea typeface="Calibri"/>
              <a:cs typeface="Calibri"/>
              <a:sym typeface="Calibri"/>
            </a:endParaRPr>
          </a:p>
        </p:txBody>
      </p:sp>
      <p:sp>
        <p:nvSpPr>
          <p:cNvPr id="265" name="Google Shape;265;p11"/>
          <p:cNvSpPr txBox="1"/>
          <p:nvPr/>
        </p:nvSpPr>
        <p:spPr>
          <a:xfrm>
            <a:off x="12710160" y="6473952"/>
            <a:ext cx="4389120" cy="50292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600"/>
              <a:buFont typeface="Arial"/>
              <a:buNone/>
            </a:pPr>
            <a:r>
              <a:rPr b="0" i="0" lang="iw-IL" sz="1600" u="none" cap="none" strike="noStrike">
                <a:solidFill>
                  <a:srgbClr val="CFD3E5"/>
                </a:solidFill>
                <a:latin typeface="Arial"/>
                <a:ea typeface="Arial"/>
                <a:cs typeface="Arial"/>
                <a:sym typeface="Arial"/>
              </a:rPr>
              <a:t>הוכחות Z3 מוכחות</a:t>
            </a:r>
            <a:endParaRPr b="0" i="0" sz="1600" u="none" cap="none" strike="noStrike">
              <a:solidFill>
                <a:schemeClr val="dk1"/>
              </a:solidFill>
              <a:latin typeface="Calibri"/>
              <a:ea typeface="Calibri"/>
              <a:cs typeface="Calibri"/>
              <a:sym typeface="Calibri"/>
            </a:endParaRPr>
          </a:p>
        </p:txBody>
      </p:sp>
      <p:graphicFrame>
        <p:nvGraphicFramePr>
          <p:cNvPr id="266" name="Google Shape;266;p11"/>
          <p:cNvGraphicFramePr/>
          <p:nvPr/>
        </p:nvGraphicFramePr>
        <p:xfrm>
          <a:off x="914400" y="1920240"/>
          <a:ext cx="3000000" cy="3000000"/>
        </p:xfrm>
        <a:graphic>
          <a:graphicData uri="http://schemas.openxmlformats.org/drawingml/2006/table">
            <a:tbl>
              <a:tblPr>
                <a:noFill/>
                <a:tableStyleId>{04CC930A-5F64-4B84-AD67-B738C2A8A3AE}</a:tableStyleId>
              </a:tblPr>
              <a:tblGrid>
                <a:gridCol w="7863850"/>
                <a:gridCol w="3291850"/>
              </a:tblGrid>
              <a:tr h="510950">
                <a:tc>
                  <a:txBody>
                    <a:bodyPr/>
                    <a:lstStyle/>
                    <a:p>
                      <a:pPr indent="0" lvl="0" marL="0" marR="0" rtl="1" algn="r">
                        <a:spcBef>
                          <a:spcPts val="0"/>
                        </a:spcBef>
                        <a:spcAft>
                          <a:spcPts val="0"/>
                        </a:spcAft>
                        <a:buClr>
                          <a:srgbClr val="D2CEFD"/>
                        </a:buClr>
                        <a:buSzPts val="1700"/>
                        <a:buFont typeface="Arial"/>
                        <a:buNone/>
                      </a:pPr>
                      <a:r>
                        <a:rPr b="1" lang="iw-IL" sz="1700" u="none" cap="none" strike="noStrike">
                          <a:solidFill>
                            <a:srgbClr val="D2CEFD"/>
                          </a:solidFill>
                          <a:latin typeface="Arial"/>
                          <a:ea typeface="Arial"/>
                          <a:cs typeface="Arial"/>
                          <a:sym typeface="Arial"/>
                        </a:rPr>
                        <a:t>מה זה אומר</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c>
                  <a:txBody>
                    <a:bodyPr/>
                    <a:lstStyle/>
                    <a:p>
                      <a:pPr indent="0" lvl="0" marL="0" marR="0" rtl="1" algn="r">
                        <a:spcBef>
                          <a:spcPts val="0"/>
                        </a:spcBef>
                        <a:spcAft>
                          <a:spcPts val="0"/>
                        </a:spcAft>
                        <a:buClr>
                          <a:srgbClr val="D2CEFD"/>
                        </a:buClr>
                        <a:buSzPts val="1700"/>
                        <a:buFont typeface="Arial"/>
                        <a:buNone/>
                      </a:pPr>
                      <a:r>
                        <a:rPr b="1" lang="iw-IL" sz="1700" u="none" cap="none" strike="noStrike">
                          <a:solidFill>
                            <a:srgbClr val="D2CEFD"/>
                          </a:solidFill>
                          <a:latin typeface="Arial"/>
                          <a:ea typeface="Arial"/>
                          <a:cs typeface="Arial"/>
                          <a:sym typeface="Arial"/>
                        </a:rPr>
                        <a:t>מה בודקים</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r>
              <a:tr h="715350">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כל מעבר בטבלה קיים בגרף, והמקרה מגיע למצב הצפוי.</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מצבים תקינים</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715350">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פעולה לא מורשית נחסמת, והמקרה לא זז.</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מצבים אסורים</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817550">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התחלת טיפול, שחרור, מה מותר להעביר ל-AI, ומה קורה כש-OPA נופל.</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מדיניות (OPA)</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970825">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רצועות הפער וסדר התור. בנוסף, מזינים ל-Z3 קוד שגוי בכוונה ובודקים שהוא תופס אותו.</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הוכחות (Z3)</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715350">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תפקידים, סתירות ברשומה, ומטופל שממתין בלי טיימר.</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הסקות (Prolog ו-Datalog)</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715350">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בדיקת העקבות על יומן המקרה, טיימרים והסלמות.</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כללים לאורך זמן</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715350">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ה-AI מציע רמה שגויה או לא בטוח בתשובה, והכללים עוצרים אותו.</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ה-AI טועה</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715350">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לכל פעולה שנחסמה יש סיבה כתובה, עם השכבה שחסמה.</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750"/>
                        <a:buFont typeface="Arial"/>
                        <a:buNone/>
                      </a:pPr>
                      <a:r>
                        <a:rPr lang="iw-IL" sz="1750" u="none" cap="none" strike="noStrike">
                          <a:solidFill>
                            <a:srgbClr val="E9E9ED"/>
                          </a:solidFill>
                          <a:latin typeface="Arial"/>
                          <a:ea typeface="Arial"/>
                          <a:cs typeface="Arial"/>
                          <a:sym typeface="Arial"/>
                        </a:rPr>
                        <a:t>הסברים</a:t>
                      </a:r>
                      <a:endParaRPr sz="17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715350">
                <a:tc>
                  <a:txBody>
                    <a:bodyPr/>
                    <a:lstStyle/>
                    <a:p>
                      <a:pPr indent="0" lvl="0" marL="0" rtl="1" algn="r">
                        <a:spcBef>
                          <a:spcPts val="0"/>
                        </a:spcBef>
                        <a:spcAft>
                          <a:spcPts val="0"/>
                        </a:spcAft>
                        <a:buClr>
                          <a:srgbClr val="E9E9ED"/>
                        </a:buClr>
                        <a:buSzPts val="1750"/>
                        <a:buFont typeface="Arial"/>
                        <a:buNone/>
                      </a:pPr>
                      <a:r>
                        <a:rPr lang="iw-IL" sz="1750">
                          <a:solidFill>
                            <a:srgbClr val="E9E9ED"/>
                          </a:solidFill>
                        </a:rPr>
                        <a:t>כל רכיב שנופל, והמערכת ממשיכה בדרך הבטוחה.</a:t>
                      </a:r>
                      <a:endParaRPr sz="1750"/>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rtl="1" algn="r">
                        <a:spcBef>
                          <a:spcPts val="0"/>
                        </a:spcBef>
                        <a:spcAft>
                          <a:spcPts val="0"/>
                        </a:spcAft>
                        <a:buClr>
                          <a:srgbClr val="E9E9ED"/>
                        </a:buClr>
                        <a:buSzPts val="1750"/>
                        <a:buFont typeface="Arial"/>
                        <a:buNone/>
                      </a:pPr>
                      <a:r>
                        <a:rPr lang="iw-IL" sz="1750">
                          <a:solidFill>
                            <a:srgbClr val="E9E9ED"/>
                          </a:solidFill>
                        </a:rPr>
                        <a:t>תקלות</a:t>
                      </a:r>
                      <a:endParaRPr sz="1750"/>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6"/>
        </a:solidFill>
      </p:bgPr>
    </p:bg>
    <p:spTree>
      <p:nvGrpSpPr>
        <p:cNvPr id="271" name="Shape 271"/>
        <p:cNvGrpSpPr/>
        <p:nvPr/>
      </p:nvGrpSpPr>
      <p:grpSpPr>
        <a:xfrm>
          <a:off x="0" y="0"/>
          <a:ext cx="0" cy="0"/>
          <a:chOff x="0" y="0"/>
          <a:chExt cx="0" cy="0"/>
        </a:xfrm>
      </p:grpSpPr>
      <p:sp>
        <p:nvSpPr>
          <p:cNvPr id="272" name="Google Shape;272;p12"/>
          <p:cNvSpPr txBox="1"/>
          <p:nvPr/>
        </p:nvSpPr>
        <p:spPr>
          <a:xfrm>
            <a:off x="91440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97AB"/>
              </a:buClr>
              <a:buSzPts val="1600"/>
              <a:buFont typeface="Courier New"/>
              <a:buNone/>
            </a:pPr>
            <a:r>
              <a:rPr b="0" i="0" lang="iw-IL" sz="1600" u="none" cap="none" strike="noStrike">
                <a:solidFill>
                  <a:srgbClr val="9397AB"/>
                </a:solidFill>
                <a:latin typeface="Courier New"/>
                <a:ea typeface="Courier New"/>
                <a:cs typeface="Courier New"/>
                <a:sym typeface="Courier New"/>
              </a:rPr>
              <a:t>1</a:t>
            </a:r>
            <a:r>
              <a:rPr lang="iw-IL" sz="1600">
                <a:solidFill>
                  <a:srgbClr val="9397AB"/>
                </a:solidFill>
                <a:latin typeface="Courier New"/>
                <a:ea typeface="Courier New"/>
                <a:cs typeface="Courier New"/>
                <a:sym typeface="Courier New"/>
              </a:rPr>
              <a:t>1</a:t>
            </a:r>
            <a:r>
              <a:rPr b="0" i="0" lang="iw-IL" sz="1600" u="none" cap="none" strike="noStrike">
                <a:solidFill>
                  <a:srgbClr val="9397AB"/>
                </a:solidFill>
                <a:latin typeface="Courier New"/>
                <a:ea typeface="Courier New"/>
                <a:cs typeface="Courier New"/>
                <a:sym typeface="Courier New"/>
              </a:rPr>
              <a:t> · Risks &amp; Governance</a:t>
            </a:r>
            <a:endParaRPr b="0" i="0" sz="1600" u="none" cap="none" strike="noStrike">
              <a:solidFill>
                <a:schemeClr val="dk1"/>
              </a:solidFill>
              <a:latin typeface="Calibri"/>
              <a:ea typeface="Calibri"/>
              <a:cs typeface="Calibri"/>
              <a:sym typeface="Calibri"/>
            </a:endParaRPr>
          </a:p>
        </p:txBody>
      </p:sp>
      <p:sp>
        <p:nvSpPr>
          <p:cNvPr id="273" name="Google Shape;273;p12"/>
          <p:cNvSpPr txBox="1"/>
          <p:nvPr/>
        </p:nvSpPr>
        <p:spPr>
          <a:xfrm>
            <a:off x="3657600" y="411480"/>
            <a:ext cx="13716000" cy="10972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4800"/>
              <a:buFont typeface="Arial"/>
              <a:buNone/>
            </a:pPr>
            <a:r>
              <a:rPr b="0" i="0" lang="iw-IL" sz="4800" u="none" cap="none" strike="noStrike">
                <a:solidFill>
                  <a:srgbClr val="E9E9ED"/>
                </a:solidFill>
                <a:latin typeface="Arial"/>
                <a:ea typeface="Arial"/>
                <a:cs typeface="Arial"/>
                <a:sym typeface="Arial"/>
              </a:rPr>
              <a:t>סיכונים, אבטחה וממשל</a:t>
            </a:r>
            <a:endParaRPr b="0" i="0" sz="4800" u="none" cap="none" strike="noStrike">
              <a:solidFill>
                <a:schemeClr val="dk1"/>
              </a:solidFill>
              <a:latin typeface="Calibri"/>
              <a:ea typeface="Calibri"/>
              <a:cs typeface="Calibri"/>
              <a:sym typeface="Calibri"/>
            </a:endParaRPr>
          </a:p>
        </p:txBody>
      </p:sp>
      <p:graphicFrame>
        <p:nvGraphicFramePr>
          <p:cNvPr id="274" name="Google Shape;274;p12"/>
          <p:cNvGraphicFramePr/>
          <p:nvPr/>
        </p:nvGraphicFramePr>
        <p:xfrm>
          <a:off x="914400" y="1920240"/>
          <a:ext cx="3000000" cy="3000000"/>
        </p:xfrm>
        <a:graphic>
          <a:graphicData uri="http://schemas.openxmlformats.org/drawingml/2006/table">
            <a:tbl>
              <a:tblPr>
                <a:noFill/>
                <a:tableStyleId>{04CC930A-5F64-4B84-AD67-B738C2A8A3AE}</a:tableStyleId>
              </a:tblPr>
              <a:tblGrid>
                <a:gridCol w="12070075"/>
                <a:gridCol w="4389125"/>
              </a:tblGrid>
              <a:tr h="502925">
                <a:tc>
                  <a:txBody>
                    <a:bodyPr/>
                    <a:lstStyle/>
                    <a:p>
                      <a:pPr indent="0" lvl="0" marL="0" marR="0" rtl="1" algn="r">
                        <a:spcBef>
                          <a:spcPts val="0"/>
                        </a:spcBef>
                        <a:spcAft>
                          <a:spcPts val="0"/>
                        </a:spcAft>
                        <a:buClr>
                          <a:srgbClr val="D2CEFD"/>
                        </a:buClr>
                        <a:buSzPts val="1700"/>
                        <a:buFont typeface="Arial"/>
                        <a:buNone/>
                      </a:pPr>
                      <a:r>
                        <a:rPr b="1" lang="iw-IL" sz="1700" u="none" cap="none" strike="noStrike">
                          <a:solidFill>
                            <a:srgbClr val="D2CEFD"/>
                          </a:solidFill>
                          <a:latin typeface="Arial"/>
                          <a:ea typeface="Arial"/>
                          <a:cs typeface="Arial"/>
                          <a:sym typeface="Arial"/>
                        </a:rPr>
                        <a:t>מה מגן מפניו</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c>
                  <a:txBody>
                    <a:bodyPr/>
                    <a:lstStyle/>
                    <a:p>
                      <a:pPr indent="0" lvl="0" marL="0" marR="0" rtl="1" algn="r">
                        <a:spcBef>
                          <a:spcPts val="0"/>
                        </a:spcBef>
                        <a:spcAft>
                          <a:spcPts val="0"/>
                        </a:spcAft>
                        <a:buClr>
                          <a:srgbClr val="D2CEFD"/>
                        </a:buClr>
                        <a:buSzPts val="1700"/>
                        <a:buFont typeface="Arial"/>
                        <a:buNone/>
                      </a:pPr>
                      <a:r>
                        <a:rPr b="1" lang="iw-IL" sz="1700" u="none" cap="none" strike="noStrike">
                          <a:solidFill>
                            <a:srgbClr val="D2CEFD"/>
                          </a:solidFill>
                          <a:latin typeface="Arial"/>
                          <a:ea typeface="Arial"/>
                          <a:cs typeface="Arial"/>
                          <a:sym typeface="Arial"/>
                        </a:rPr>
                        <a:t>סיכון</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r>
              <a:tr h="731525">
                <a:tc>
                  <a:txBody>
                    <a:bodyPr/>
                    <a:lstStyle/>
                    <a:p>
                      <a:pPr indent="0" lvl="0" marL="0" marR="0" rtl="1" algn="r">
                        <a:spcBef>
                          <a:spcPts val="0"/>
                        </a:spcBef>
                        <a:spcAft>
                          <a:spcPts val="0"/>
                        </a:spcAft>
                        <a:buClr>
                          <a:srgbClr val="E9E9ED"/>
                        </a:buClr>
                        <a:buSzPts val="1850"/>
                        <a:buFont typeface="Arial"/>
                        <a:buNone/>
                      </a:pPr>
                      <a:r>
                        <a:rPr lang="iw-IL" sz="1850" u="none" cap="none" strike="noStrike">
                          <a:solidFill>
                            <a:srgbClr val="E9E9ED"/>
                          </a:solidFill>
                          <a:latin typeface="Arial"/>
                          <a:ea typeface="Arial"/>
                          <a:cs typeface="Arial"/>
                          <a:sym typeface="Arial"/>
                        </a:rPr>
                        <a:t>ה-AI רק מציע. התשובה נבדקת לפורמט, לטווח ולסתירות, ופער גדול עובר לאחות אחראית.</a:t>
                      </a:r>
                      <a:endParaRPr sz="18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850"/>
                        <a:buFont typeface="Arial"/>
                        <a:buNone/>
                      </a:pPr>
                      <a:r>
                        <a:rPr b="1" lang="iw-IL" sz="1850" u="none" cap="none" strike="noStrike">
                          <a:solidFill>
                            <a:srgbClr val="E9E9ED"/>
                          </a:solidFill>
                          <a:latin typeface="Arial"/>
                          <a:ea typeface="Arial"/>
                          <a:cs typeface="Arial"/>
                          <a:sym typeface="Arial"/>
                        </a:rPr>
                        <a:t>ה-AI מציע רמה שגויה</a:t>
                      </a:r>
                      <a:endParaRPr sz="18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1097275">
                <a:tc>
                  <a:txBody>
                    <a:bodyPr/>
                    <a:lstStyle/>
                    <a:p>
                      <a:pPr indent="0" lvl="0" marL="0" marR="0" rtl="1" algn="r">
                        <a:spcBef>
                          <a:spcPts val="0"/>
                        </a:spcBef>
                        <a:spcAft>
                          <a:spcPts val="0"/>
                        </a:spcAft>
                        <a:buClr>
                          <a:srgbClr val="E9E9ED"/>
                        </a:buClr>
                        <a:buSzPts val="1850"/>
                        <a:buFont typeface="Arial"/>
                        <a:buNone/>
                      </a:pPr>
                      <a:r>
                        <a:rPr lang="iw-IL" sz="1850" u="none" cap="none" strike="noStrike">
                          <a:solidFill>
                            <a:srgbClr val="E9E9ED"/>
                          </a:solidFill>
                          <a:latin typeface="Arial"/>
                          <a:ea typeface="Arial"/>
                          <a:cs typeface="Arial"/>
                          <a:sym typeface="Arial"/>
                        </a:rPr>
                        <a:t>רק רשימה מאושרת של שדות מגיעה ל-AI, ו-OPA בודק אותה. פרט מזהה שהוקלד מוחלף בסימון [REDACTED] לפני ה-AI ובכל מה שנשלח ל-Langfuse. המקרה עצמו שומר רק מזהה פנימי, והפרטים המזהים נשמרים רק במערכת הרשומות של בית החולים (CRM).</a:t>
                      </a:r>
                      <a:endParaRPr sz="18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850"/>
                        <a:buFont typeface="Arial"/>
                        <a:buNone/>
                      </a:pPr>
                      <a:r>
                        <a:rPr b="1" lang="iw-IL" sz="1850" u="none" cap="none" strike="noStrike">
                          <a:solidFill>
                            <a:srgbClr val="E9E9ED"/>
                          </a:solidFill>
                          <a:latin typeface="Arial"/>
                          <a:ea typeface="Arial"/>
                          <a:cs typeface="Arial"/>
                          <a:sym typeface="Arial"/>
                        </a:rPr>
                        <a:t>דליפת פרטים מזהים</a:t>
                      </a:r>
                      <a:endParaRPr sz="18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822950">
                <a:tc>
                  <a:txBody>
                    <a:bodyPr/>
                    <a:lstStyle/>
                    <a:p>
                      <a:pPr indent="0" lvl="0" marL="0" marR="0" rtl="1" algn="r">
                        <a:spcBef>
                          <a:spcPts val="0"/>
                        </a:spcBef>
                        <a:spcAft>
                          <a:spcPts val="0"/>
                        </a:spcAft>
                        <a:buClr>
                          <a:srgbClr val="E9E9ED"/>
                        </a:buClr>
                        <a:buSzPts val="1850"/>
                        <a:buFont typeface="Arial"/>
                        <a:buNone/>
                      </a:pPr>
                      <a:r>
                        <a:rPr lang="iw-IL" sz="1850" u="none" cap="none" strike="noStrike">
                          <a:solidFill>
                            <a:srgbClr val="E9E9ED"/>
                          </a:solidFill>
                          <a:latin typeface="Arial"/>
                          <a:ea typeface="Arial"/>
                          <a:cs typeface="Arial"/>
                          <a:sym typeface="Arial"/>
                        </a:rPr>
                        <a:t>כל פעולה נבדקת מול התפקיד שמוצהר בבקשה (עדיין אין רשימת צוות בשרת). ברירת המחדל של OPA היא "אסור". רק אחות אחראית או אחראית משמרת יכולות לשחרר.</a:t>
                      </a:r>
                      <a:endParaRPr sz="18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850"/>
                        <a:buFont typeface="Arial"/>
                        <a:buNone/>
                      </a:pPr>
                      <a:r>
                        <a:rPr b="1" lang="iw-IL" sz="1850" u="none" cap="none" strike="noStrike">
                          <a:solidFill>
                            <a:srgbClr val="E9E9ED"/>
                          </a:solidFill>
                          <a:latin typeface="Arial"/>
                          <a:ea typeface="Arial"/>
                          <a:cs typeface="Arial"/>
                          <a:sym typeface="Arial"/>
                        </a:rPr>
                        <a:t>פעולה בלי הרשאה</a:t>
                      </a:r>
                      <a:endParaRPr sz="18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731525">
                <a:tc>
                  <a:txBody>
                    <a:bodyPr/>
                    <a:lstStyle/>
                    <a:p>
                      <a:pPr indent="0" lvl="0" marL="0" marR="0" rtl="1" algn="r">
                        <a:spcBef>
                          <a:spcPts val="0"/>
                        </a:spcBef>
                        <a:spcAft>
                          <a:spcPts val="0"/>
                        </a:spcAft>
                        <a:buClr>
                          <a:srgbClr val="E9E9ED"/>
                        </a:buClr>
                        <a:buSzPts val="1850"/>
                        <a:buFont typeface="Arial"/>
                        <a:buNone/>
                      </a:pPr>
                      <a:r>
                        <a:rPr lang="iw-IL" sz="1850" u="none" cap="none" strike="noStrike">
                          <a:solidFill>
                            <a:srgbClr val="E9E9ED"/>
                          </a:solidFill>
                          <a:latin typeface="Arial"/>
                          <a:ea typeface="Arial"/>
                          <a:cs typeface="Arial"/>
                          <a:sym typeface="Arial"/>
                        </a:rPr>
                        <a:t>כל שינוי וכל סירוב נרשמים ביומן המקרה, במבנה קבוע. בדיקת היסטוריה מוודאת שהיומן רק גדל: שינוי או מחיקה של רשומה מתגלים ומוצגים.</a:t>
                      </a:r>
                      <a:endParaRPr sz="18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850"/>
                        <a:buFont typeface="Arial"/>
                        <a:buNone/>
                      </a:pPr>
                      <a:r>
                        <a:rPr b="1" lang="iw-IL" sz="1850" u="none" cap="none" strike="noStrike">
                          <a:solidFill>
                            <a:srgbClr val="E9E9ED"/>
                          </a:solidFill>
                          <a:latin typeface="Arial"/>
                          <a:ea typeface="Arial"/>
                          <a:cs typeface="Arial"/>
                          <a:sym typeface="Arial"/>
                        </a:rPr>
                        <a:t>אין תיעוד</a:t>
                      </a:r>
                      <a:endParaRPr sz="18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685800">
                <a:tc>
                  <a:txBody>
                    <a:bodyPr/>
                    <a:lstStyle/>
                    <a:p>
                      <a:pPr indent="0" lvl="0" marL="0" marR="0" rtl="1" algn="r">
                        <a:spcBef>
                          <a:spcPts val="0"/>
                        </a:spcBef>
                        <a:spcAft>
                          <a:spcPts val="0"/>
                        </a:spcAft>
                        <a:buClr>
                          <a:srgbClr val="E9E9ED"/>
                        </a:buClr>
                        <a:buSzPts val="1850"/>
                        <a:buFont typeface="Arial"/>
                        <a:buNone/>
                      </a:pPr>
                      <a:r>
                        <a:rPr lang="iw-IL" sz="1850" u="none" cap="none" strike="noStrike">
                          <a:solidFill>
                            <a:srgbClr val="E9E9ED"/>
                          </a:solidFill>
                          <a:latin typeface="Arial"/>
                          <a:ea typeface="Arial"/>
                          <a:cs typeface="Arial"/>
                          <a:sym typeface="Arial"/>
                        </a:rPr>
                        <a:t>מפתחות API והגדרות נשמרים בקובץ ENV (משתני סביבה), ולא בקוד.</a:t>
                      </a:r>
                      <a:endParaRPr sz="18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850"/>
                        <a:buFont typeface="Arial"/>
                        <a:buNone/>
                      </a:pPr>
                      <a:r>
                        <a:rPr b="1" lang="iw-IL" sz="1850" u="none" cap="none" strike="noStrike">
                          <a:solidFill>
                            <a:srgbClr val="E9E9ED"/>
                          </a:solidFill>
                          <a:latin typeface="Arial"/>
                          <a:ea typeface="Arial"/>
                          <a:cs typeface="Arial"/>
                          <a:sym typeface="Arial"/>
                        </a:rPr>
                        <a:t>סודות ומפתחות</a:t>
                      </a:r>
                      <a:endParaRPr sz="18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1097275">
                <a:tc>
                  <a:txBody>
                    <a:bodyPr/>
                    <a:lstStyle/>
                    <a:p>
                      <a:pPr indent="0" lvl="0" marL="0" marR="0" rtl="1" algn="r">
                        <a:spcBef>
                          <a:spcPts val="0"/>
                        </a:spcBef>
                        <a:spcAft>
                          <a:spcPts val="0"/>
                        </a:spcAft>
                        <a:buClr>
                          <a:srgbClr val="E9E9ED"/>
                        </a:buClr>
                        <a:buSzPts val="1850"/>
                        <a:buFont typeface="Arial"/>
                        <a:buNone/>
                      </a:pPr>
                      <a:r>
                        <a:rPr lang="iw-IL" sz="1850" u="none" cap="none" strike="noStrike">
                          <a:solidFill>
                            <a:srgbClr val="E9E9ED"/>
                          </a:solidFill>
                          <a:latin typeface="Arial"/>
                          <a:ea typeface="Arial"/>
                          <a:cs typeface="Arial"/>
                          <a:sym typeface="Arial"/>
                        </a:rPr>
                        <a:t>Human-in-the-loop: בנקודות רגישות המקרה נעצר, ונשמר, עד שאחות אחראית מחליטה. אחרי כמה סבבי תיקון שנכשלו, המקרה עובר לאחראית משמרת.</a:t>
                      </a:r>
                      <a:endParaRPr sz="18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850"/>
                        <a:buFont typeface="Arial"/>
                        <a:buNone/>
                      </a:pPr>
                      <a:r>
                        <a:rPr b="1" lang="iw-IL" sz="1850" u="none" cap="none" strike="noStrike">
                          <a:solidFill>
                            <a:srgbClr val="E9E9ED"/>
                          </a:solidFill>
                          <a:latin typeface="Arial"/>
                          <a:ea typeface="Arial"/>
                          <a:cs typeface="Arial"/>
                          <a:sym typeface="Arial"/>
                        </a:rPr>
                        <a:t>החלטה בלי בן אדם</a:t>
                      </a:r>
                      <a:endParaRPr sz="185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6"/>
        </a:solidFill>
      </p:bgPr>
    </p:bg>
    <p:spTree>
      <p:nvGrpSpPr>
        <p:cNvPr id="279" name="Shape 279"/>
        <p:cNvGrpSpPr/>
        <p:nvPr/>
      </p:nvGrpSpPr>
      <p:grpSpPr>
        <a:xfrm>
          <a:off x="0" y="0"/>
          <a:ext cx="0" cy="0"/>
          <a:chOff x="0" y="0"/>
          <a:chExt cx="0" cy="0"/>
        </a:xfrm>
      </p:grpSpPr>
      <p:sp>
        <p:nvSpPr>
          <p:cNvPr id="280" name="Google Shape;280;p13"/>
          <p:cNvSpPr txBox="1"/>
          <p:nvPr/>
        </p:nvSpPr>
        <p:spPr>
          <a:xfrm>
            <a:off x="91440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97AB"/>
              </a:buClr>
              <a:buSzPts val="1600"/>
              <a:buFont typeface="Courier New"/>
              <a:buNone/>
            </a:pPr>
            <a:r>
              <a:rPr b="0" i="0" lang="iw-IL" sz="1600" u="none" cap="none" strike="noStrike">
                <a:solidFill>
                  <a:srgbClr val="9397AB"/>
                </a:solidFill>
                <a:latin typeface="Courier New"/>
                <a:ea typeface="Courier New"/>
                <a:cs typeface="Courier New"/>
                <a:sym typeface="Courier New"/>
              </a:rPr>
              <a:t>1</a:t>
            </a:r>
            <a:r>
              <a:rPr lang="iw-IL" sz="1600">
                <a:solidFill>
                  <a:srgbClr val="9397AB"/>
                </a:solidFill>
                <a:latin typeface="Courier New"/>
                <a:ea typeface="Courier New"/>
                <a:cs typeface="Courier New"/>
                <a:sym typeface="Courier New"/>
              </a:rPr>
              <a:t>2</a:t>
            </a:r>
            <a:r>
              <a:rPr b="0" i="0" lang="iw-IL" sz="1600" u="none" cap="none" strike="noStrike">
                <a:solidFill>
                  <a:srgbClr val="9397AB"/>
                </a:solidFill>
                <a:latin typeface="Courier New"/>
                <a:ea typeface="Courier New"/>
                <a:cs typeface="Courier New"/>
                <a:sym typeface="Courier New"/>
              </a:rPr>
              <a:t> · Failure Handling</a:t>
            </a:r>
            <a:endParaRPr b="0" i="0" sz="1600" u="none" cap="none" strike="noStrike">
              <a:solidFill>
                <a:schemeClr val="dk1"/>
              </a:solidFill>
              <a:latin typeface="Calibri"/>
              <a:ea typeface="Calibri"/>
              <a:cs typeface="Calibri"/>
              <a:sym typeface="Calibri"/>
            </a:endParaRPr>
          </a:p>
        </p:txBody>
      </p:sp>
      <p:sp>
        <p:nvSpPr>
          <p:cNvPr id="281" name="Google Shape;281;p13"/>
          <p:cNvSpPr txBox="1"/>
          <p:nvPr/>
        </p:nvSpPr>
        <p:spPr>
          <a:xfrm>
            <a:off x="3657600" y="411480"/>
            <a:ext cx="13716000" cy="10972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4800"/>
              <a:buFont typeface="Arial"/>
              <a:buNone/>
            </a:pPr>
            <a:r>
              <a:rPr b="0" i="0" lang="iw-IL" sz="4800" u="none" cap="none" strike="noStrike">
                <a:solidFill>
                  <a:srgbClr val="E9E9ED"/>
                </a:solidFill>
                <a:latin typeface="Arial"/>
                <a:ea typeface="Arial"/>
                <a:cs typeface="Arial"/>
                <a:sym typeface="Arial"/>
              </a:rPr>
              <a:t>מה קורה כשרכיב נופל</a:t>
            </a:r>
            <a:endParaRPr b="0" i="0" sz="4800" u="none" cap="none" strike="noStrike">
              <a:solidFill>
                <a:schemeClr val="dk1"/>
              </a:solidFill>
              <a:latin typeface="Calibri"/>
              <a:ea typeface="Calibri"/>
              <a:cs typeface="Calibri"/>
              <a:sym typeface="Calibri"/>
            </a:endParaRPr>
          </a:p>
        </p:txBody>
      </p:sp>
      <p:sp>
        <p:nvSpPr>
          <p:cNvPr id="282" name="Google Shape;282;p13"/>
          <p:cNvSpPr/>
          <p:nvPr/>
        </p:nvSpPr>
        <p:spPr>
          <a:xfrm>
            <a:off x="914400" y="1783080"/>
            <a:ext cx="16459200" cy="1005840"/>
          </a:xfrm>
          <a:prstGeom prst="roundRect">
            <a:avLst>
              <a:gd fmla="val 10909" name="adj"/>
            </a:avLst>
          </a:prstGeom>
          <a:solidFill>
            <a:srgbClr val="2B2960"/>
          </a:solidFill>
          <a:ln cap="flat" cmpd="sng" w="12700">
            <a:solidFill>
              <a:srgbClr val="4C539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3"/>
          <p:cNvSpPr txBox="1"/>
          <p:nvPr/>
        </p:nvSpPr>
        <p:spPr>
          <a:xfrm>
            <a:off x="1280160" y="1828800"/>
            <a:ext cx="15727680" cy="914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D2CEFD"/>
              </a:buClr>
              <a:buSzPts val="1800"/>
              <a:buFont typeface="Arial"/>
              <a:buNone/>
            </a:pPr>
            <a:r>
              <a:rPr b="1" i="0" lang="iw-IL" sz="1800" u="none" cap="none" strike="noStrike">
                <a:solidFill>
                  <a:srgbClr val="D2CEFD"/>
                </a:solidFill>
                <a:latin typeface="Arial"/>
                <a:ea typeface="Arial"/>
                <a:cs typeface="Arial"/>
                <a:sym typeface="Arial"/>
              </a:rPr>
              <a:t>העיקרון: </a:t>
            </a:r>
            <a:r>
              <a:rPr b="0" i="0" lang="iw-IL" sz="1800" u="none" cap="none" strike="noStrike">
                <a:solidFill>
                  <a:srgbClr val="E9E9ED"/>
                </a:solidFill>
                <a:latin typeface="Arial"/>
                <a:ea typeface="Arial"/>
                <a:cs typeface="Arial"/>
                <a:sym typeface="Arial"/>
              </a:rPr>
              <a:t>רכיב שנופל אף פעם לא גורם למערכת לאשר בלי בדיקה, ואף פעם לא מונע ממטופל להגיע לטיפול. כשרכיב שמאשר פעולות לא זמין, </a:t>
            </a:r>
            <a:r>
              <a:rPr b="1" i="0" lang="iw-IL" sz="1800" u="none" cap="none" strike="noStrike">
                <a:solidFill>
                  <a:srgbClr val="E9E9ED"/>
                </a:solidFill>
                <a:latin typeface="Arial"/>
                <a:ea typeface="Arial"/>
                <a:cs typeface="Arial"/>
                <a:sym typeface="Arial"/>
              </a:rPr>
              <a:t>אחראית משמרת חותמת במקומו</a:t>
            </a:r>
            <a:r>
              <a:rPr b="0" i="0" lang="iw-IL" sz="1800" u="none" cap="none" strike="noStrike">
                <a:solidFill>
                  <a:srgbClr val="E9E9ED"/>
                </a:solidFill>
                <a:latin typeface="Arial"/>
                <a:ea typeface="Arial"/>
                <a:cs typeface="Arial"/>
                <a:sym typeface="Arial"/>
              </a:rPr>
              <a:t>, והקוד עדיין בודק את העובדות.</a:t>
            </a:r>
            <a:endParaRPr b="0" i="0" sz="1800" u="none" cap="none" strike="noStrike">
              <a:solidFill>
                <a:schemeClr val="dk1"/>
              </a:solidFill>
              <a:latin typeface="Calibri"/>
              <a:ea typeface="Calibri"/>
              <a:cs typeface="Calibri"/>
              <a:sym typeface="Calibri"/>
            </a:endParaRPr>
          </a:p>
        </p:txBody>
      </p:sp>
      <p:graphicFrame>
        <p:nvGraphicFramePr>
          <p:cNvPr id="284" name="Google Shape;284;p13"/>
          <p:cNvGraphicFramePr/>
          <p:nvPr/>
        </p:nvGraphicFramePr>
        <p:xfrm>
          <a:off x="914400" y="3810705"/>
          <a:ext cx="3000000" cy="3000000"/>
        </p:xfrm>
        <a:graphic>
          <a:graphicData uri="http://schemas.openxmlformats.org/drawingml/2006/table">
            <a:tbl>
              <a:tblPr>
                <a:noFill/>
                <a:tableStyleId>{04CC930A-5F64-4B84-AD67-B738C2A8A3AE}</a:tableStyleId>
              </a:tblPr>
              <a:tblGrid>
                <a:gridCol w="12435850"/>
                <a:gridCol w="4023350"/>
              </a:tblGrid>
              <a:tr h="502925">
                <a:tc>
                  <a:txBody>
                    <a:bodyPr/>
                    <a:lstStyle/>
                    <a:p>
                      <a:pPr indent="0" lvl="0" marL="0" marR="0" rtl="1" algn="r">
                        <a:spcBef>
                          <a:spcPts val="0"/>
                        </a:spcBef>
                        <a:spcAft>
                          <a:spcPts val="0"/>
                        </a:spcAft>
                        <a:buClr>
                          <a:srgbClr val="D2CEFD"/>
                        </a:buClr>
                        <a:buSzPts val="1700"/>
                        <a:buFont typeface="Arial"/>
                        <a:buNone/>
                      </a:pPr>
                      <a:r>
                        <a:rPr b="1" lang="iw-IL" sz="1700" u="none" cap="none" strike="noStrike">
                          <a:solidFill>
                            <a:srgbClr val="D2CEFD"/>
                          </a:solidFill>
                          <a:latin typeface="Arial"/>
                          <a:ea typeface="Arial"/>
                          <a:cs typeface="Arial"/>
                          <a:sym typeface="Arial"/>
                        </a:rPr>
                        <a:t>מה המערכת עושה</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c>
                  <a:txBody>
                    <a:bodyPr/>
                    <a:lstStyle/>
                    <a:p>
                      <a:pPr indent="0" lvl="0" marL="0" marR="0" rtl="1" algn="r">
                        <a:spcBef>
                          <a:spcPts val="0"/>
                        </a:spcBef>
                        <a:spcAft>
                          <a:spcPts val="0"/>
                        </a:spcAft>
                        <a:buClr>
                          <a:srgbClr val="D2CEFD"/>
                        </a:buClr>
                        <a:buSzPts val="1700"/>
                        <a:buFont typeface="Arial"/>
                        <a:buNone/>
                      </a:pPr>
                      <a:r>
                        <a:rPr b="1" lang="iw-IL" sz="1700" u="none" cap="none" strike="noStrike">
                          <a:solidFill>
                            <a:srgbClr val="D2CEFD"/>
                          </a:solidFill>
                          <a:latin typeface="Arial"/>
                          <a:ea typeface="Arial"/>
                          <a:cs typeface="Arial"/>
                          <a:sym typeface="Arial"/>
                        </a:rPr>
                        <a:t>הרכיב שנפל</a:t>
                      </a:r>
                      <a:endParaRPr sz="17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F2130"/>
                    </a:solidFill>
                  </a:tcPr>
                </a:tc>
              </a:tr>
              <a:tr h="685800">
                <a:tc>
                  <a:txBody>
                    <a:bodyPr/>
                    <a:lstStyle/>
                    <a:p>
                      <a:pPr indent="0" lvl="0" marL="0" marR="0" rtl="1" algn="r">
                        <a:spcBef>
                          <a:spcPts val="0"/>
                        </a:spcBef>
                        <a:spcAft>
                          <a:spcPts val="0"/>
                        </a:spcAft>
                        <a:buClr>
                          <a:srgbClr val="E9E9ED"/>
                        </a:buClr>
                        <a:buSzPts val="1800"/>
                        <a:buFont typeface="Arial"/>
                        <a:buNone/>
                      </a:pPr>
                      <a:r>
                        <a:rPr lang="iw-IL" sz="1800" u="none" cap="none" strike="noStrike">
                          <a:solidFill>
                            <a:srgbClr val="E9E9ED"/>
                          </a:solidFill>
                          <a:latin typeface="Arial"/>
                          <a:ea typeface="Arial"/>
                          <a:cs typeface="Arial"/>
                          <a:sym typeface="Arial"/>
                        </a:rPr>
                        <a:t>ממשיכים עם הרמה שהאחות קבעה. המקרה מסומן לבדיקה חוזרת מאוחר יותר.</a:t>
                      </a:r>
                      <a:endParaRPr sz="18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800"/>
                        <a:buFont typeface="Arial"/>
                        <a:buNone/>
                      </a:pPr>
                      <a:r>
                        <a:rPr b="1" lang="iw-IL" sz="1800" u="none" cap="none" strike="noStrike">
                          <a:solidFill>
                            <a:srgbClr val="E9E9ED"/>
                          </a:solidFill>
                          <a:latin typeface="Arial"/>
                          <a:ea typeface="Arial"/>
                          <a:cs typeface="Arial"/>
                          <a:sym typeface="Arial"/>
                        </a:rPr>
                        <a:t>מודל ה-AI</a:t>
                      </a:r>
                      <a:endParaRPr sz="18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822950">
                <a:tc>
                  <a:txBody>
                    <a:bodyPr/>
                    <a:lstStyle/>
                    <a:p>
                      <a:pPr indent="0" lvl="0" marL="0" marR="0" rtl="1" algn="r">
                        <a:spcBef>
                          <a:spcPts val="0"/>
                        </a:spcBef>
                        <a:spcAft>
                          <a:spcPts val="0"/>
                        </a:spcAft>
                        <a:buClr>
                          <a:srgbClr val="E9E9ED"/>
                        </a:buClr>
                        <a:buSzPts val="1800"/>
                        <a:buFont typeface="Arial"/>
                        <a:buNone/>
                      </a:pPr>
                      <a:r>
                        <a:rPr lang="iw-IL" sz="1800" u="none" cap="none" strike="noStrike">
                          <a:solidFill>
                            <a:srgbClr val="E9E9ED"/>
                          </a:solidFill>
                          <a:latin typeface="Arial"/>
                          <a:ea typeface="Arial"/>
                          <a:cs typeface="Arial"/>
                          <a:sym typeface="Arial"/>
                        </a:rPr>
                        <a:t>הנתונים לא נשלחים ל-AI, כי אי אפשר להוכיח שהם נקיים. להתחלת טיפול ולשחרור נדרשת חתימה של אחראית משמרת.</a:t>
                      </a:r>
                      <a:endParaRPr sz="18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800"/>
                        <a:buFont typeface="Arial"/>
                        <a:buNone/>
                      </a:pPr>
                      <a:r>
                        <a:rPr b="1" lang="iw-IL" sz="1800" u="none" cap="none" strike="noStrike">
                          <a:solidFill>
                            <a:srgbClr val="E9E9ED"/>
                          </a:solidFill>
                          <a:latin typeface="Arial"/>
                          <a:ea typeface="Arial"/>
                          <a:cs typeface="Arial"/>
                          <a:sym typeface="Arial"/>
                        </a:rPr>
                        <a:t>OPA</a:t>
                      </a:r>
                      <a:endParaRPr sz="18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r h="960125">
                <a:tc>
                  <a:txBody>
                    <a:bodyPr/>
                    <a:lstStyle/>
                    <a:p>
                      <a:pPr indent="0" lvl="0" marL="0" marR="0" rtl="1" algn="r">
                        <a:spcBef>
                          <a:spcPts val="0"/>
                        </a:spcBef>
                        <a:spcAft>
                          <a:spcPts val="0"/>
                        </a:spcAft>
                        <a:buClr>
                          <a:srgbClr val="E9E9ED"/>
                        </a:buClr>
                        <a:buSzPts val="1800"/>
                        <a:buFont typeface="Arial"/>
                        <a:buNone/>
                      </a:pPr>
                      <a:r>
                        <a:rPr lang="iw-IL" sz="1800" u="none" cap="none" strike="noStrike">
                          <a:solidFill>
                            <a:srgbClr val="E9E9ED"/>
                          </a:solidFill>
                          <a:latin typeface="Arial"/>
                          <a:ea typeface="Arial"/>
                          <a:cs typeface="Arial"/>
                          <a:sym typeface="Arial"/>
                        </a:rPr>
                        <a:t>לבדיקת הבטיחות אין תשובה, אז המקרה עובר לשער. אפשר לבדוק שוב כשהרכיב חוזר, או שאחראית משמרת מאשרת להמשיך בלי הבדיקה. זה נרשם כ"אושר על ידי אחראית משמרת", אף פעם לא כ"עבר בדיקה".</a:t>
                      </a:r>
                      <a:endParaRPr sz="18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c>
                  <a:txBody>
                    <a:bodyPr/>
                    <a:lstStyle/>
                    <a:p>
                      <a:pPr indent="0" lvl="0" marL="0" marR="0" rtl="1" algn="r">
                        <a:spcBef>
                          <a:spcPts val="0"/>
                        </a:spcBef>
                        <a:spcAft>
                          <a:spcPts val="0"/>
                        </a:spcAft>
                        <a:buClr>
                          <a:srgbClr val="E9E9ED"/>
                        </a:buClr>
                        <a:buSzPts val="1800"/>
                        <a:buFont typeface="Arial"/>
                        <a:buNone/>
                      </a:pPr>
                      <a:r>
                        <a:rPr b="1" lang="iw-IL" sz="1800" u="none" cap="none" strike="noStrike">
                          <a:solidFill>
                            <a:srgbClr val="E9E9ED"/>
                          </a:solidFill>
                          <a:latin typeface="Arial"/>
                          <a:ea typeface="Arial"/>
                          <a:cs typeface="Arial"/>
                          <a:sym typeface="Arial"/>
                        </a:rPr>
                        <a:t>Prolog</a:t>
                      </a:r>
                      <a:endParaRPr sz="18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232532"/>
                    </a:solidFill>
                  </a:tcPr>
                </a:tc>
              </a:tr>
              <a:tr h="960125">
                <a:tc>
                  <a:txBody>
                    <a:bodyPr/>
                    <a:lstStyle/>
                    <a:p>
                      <a:pPr indent="0" lvl="0" marL="0" marR="0" rtl="1" algn="r">
                        <a:spcBef>
                          <a:spcPts val="0"/>
                        </a:spcBef>
                        <a:spcAft>
                          <a:spcPts val="0"/>
                        </a:spcAft>
                        <a:buClr>
                          <a:srgbClr val="E9E9ED"/>
                        </a:buClr>
                        <a:buSzPts val="1800"/>
                        <a:buFont typeface="Arial"/>
                        <a:buNone/>
                      </a:pPr>
                      <a:r>
                        <a:rPr lang="iw-IL" sz="1800" u="none" cap="none" strike="noStrike">
                          <a:solidFill>
                            <a:srgbClr val="E9E9ED"/>
                          </a:solidFill>
                          <a:latin typeface="Arial"/>
                          <a:ea typeface="Arial"/>
                          <a:cs typeface="Arial"/>
                          <a:sym typeface="Arial"/>
                        </a:rPr>
                        <a:t>מקרים ממשיכים להגיע לתור, אבל הטיימרים ממתינים, והצוות עוקב ידנית. כשהמוניטור חוזר, הוא מפעיל את כל הטיימרים שהתעכבו.</a:t>
                      </a:r>
                      <a:endParaRPr sz="18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c>
                  <a:txBody>
                    <a:bodyPr/>
                    <a:lstStyle/>
                    <a:p>
                      <a:pPr indent="0" lvl="0" marL="0" marR="0" rtl="1" algn="r">
                        <a:spcBef>
                          <a:spcPts val="0"/>
                        </a:spcBef>
                        <a:spcAft>
                          <a:spcPts val="0"/>
                        </a:spcAft>
                        <a:buClr>
                          <a:srgbClr val="E9E9ED"/>
                        </a:buClr>
                        <a:buSzPts val="1800"/>
                        <a:buFont typeface="Arial"/>
                        <a:buNone/>
                      </a:pPr>
                      <a:r>
                        <a:rPr b="1" lang="iw-IL" sz="1800" u="none" cap="none" strike="noStrike">
                          <a:solidFill>
                            <a:srgbClr val="E9E9ED"/>
                          </a:solidFill>
                          <a:latin typeface="Arial"/>
                          <a:ea typeface="Arial"/>
                          <a:cs typeface="Arial"/>
                          <a:sym typeface="Arial"/>
                        </a:rPr>
                        <a:t>המוניטור</a:t>
                      </a:r>
                      <a:endParaRPr sz="1800" u="none" cap="none" strike="noStrike">
                        <a:latin typeface="Arial"/>
                        <a:ea typeface="Arial"/>
                        <a:cs typeface="Arial"/>
                        <a:sym typeface="Arial"/>
                      </a:endParaRPr>
                    </a:p>
                  </a:txBody>
                  <a:tcPr marT="76200" marB="76200" marR="127000" marL="127000" anchor="ctr">
                    <a:lnL cap="flat" cmpd="sng" w="9525">
                      <a:solidFill>
                        <a:srgbClr val="2E3142"/>
                      </a:solidFill>
                      <a:prstDash val="solid"/>
                      <a:round/>
                      <a:headEnd len="sm" w="sm" type="none"/>
                      <a:tailEnd len="sm" w="sm" type="none"/>
                    </a:lnL>
                    <a:lnR cap="flat" cmpd="sng" w="9525">
                      <a:solidFill>
                        <a:srgbClr val="2E3142"/>
                      </a:solidFill>
                      <a:prstDash val="solid"/>
                      <a:round/>
                      <a:headEnd len="sm" w="sm" type="none"/>
                      <a:tailEnd len="sm" w="sm" type="none"/>
                    </a:lnR>
                    <a:lnT cap="flat" cmpd="sng" w="9525">
                      <a:solidFill>
                        <a:srgbClr val="2E3142"/>
                      </a:solidFill>
                      <a:prstDash val="solid"/>
                      <a:round/>
                      <a:headEnd len="sm" w="sm" type="none"/>
                      <a:tailEnd len="sm" w="sm" type="none"/>
                    </a:lnT>
                    <a:lnB cap="flat" cmpd="sng" w="9525">
                      <a:solidFill>
                        <a:srgbClr val="2E3142"/>
                      </a:solidFill>
                      <a:prstDash val="solid"/>
                      <a:round/>
                      <a:headEnd len="sm" w="sm" type="none"/>
                      <a:tailEnd len="sm" w="sm" type="none"/>
                    </a:lnB>
                    <a:solidFill>
                      <a:srgbClr val="1C1E2B"/>
                    </a:solidFill>
                  </a:tcPr>
                </a:tc>
              </a:tr>
            </a:tbl>
          </a:graphicData>
        </a:graphic>
      </p:graphicFrame>
      <p:sp>
        <p:nvSpPr>
          <p:cNvPr id="285" name="Google Shape;285;p13"/>
          <p:cNvSpPr/>
          <p:nvPr/>
        </p:nvSpPr>
        <p:spPr>
          <a:xfrm>
            <a:off x="914400" y="8101231"/>
            <a:ext cx="16459200" cy="1097400"/>
          </a:xfrm>
          <a:prstGeom prst="roundRect">
            <a:avLst>
              <a:gd fmla="val 10000"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3"/>
          <p:cNvSpPr txBox="1"/>
          <p:nvPr/>
        </p:nvSpPr>
        <p:spPr>
          <a:xfrm>
            <a:off x="1414716" y="8192656"/>
            <a:ext cx="15638700" cy="914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1750"/>
              <a:buFont typeface="Arial"/>
              <a:buNone/>
            </a:pPr>
            <a:r>
              <a:rPr b="1" i="0" lang="iw-IL" sz="2150" u="none" cap="none" strike="noStrike">
                <a:solidFill>
                  <a:srgbClr val="E9E9ED"/>
                </a:solidFill>
                <a:latin typeface="Arial"/>
                <a:ea typeface="Arial"/>
                <a:cs typeface="Arial"/>
                <a:sym typeface="Arial"/>
              </a:rPr>
              <a:t>כל מקרה שעבר בלי רכיב מסומן בכרטיס, </a:t>
            </a:r>
            <a:r>
              <a:rPr b="0" i="0" lang="iw-IL" sz="2150" u="none" cap="none" strike="noStrike">
                <a:solidFill>
                  <a:srgbClr val="E9E9ED"/>
                </a:solidFill>
                <a:latin typeface="Arial"/>
                <a:ea typeface="Arial"/>
                <a:cs typeface="Arial"/>
                <a:sym typeface="Arial"/>
              </a:rPr>
              <a:t>ובפאנל של המקרה יש תיבה שמפרטת מה חסר.</a:t>
            </a:r>
            <a:endParaRPr b="0" i="0" sz="21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6"/>
        </a:solidFill>
      </p:bgPr>
    </p:bg>
    <p:spTree>
      <p:nvGrpSpPr>
        <p:cNvPr id="291" name="Shape 291"/>
        <p:cNvGrpSpPr/>
        <p:nvPr/>
      </p:nvGrpSpPr>
      <p:grpSpPr>
        <a:xfrm>
          <a:off x="0" y="0"/>
          <a:ext cx="0" cy="0"/>
          <a:chOff x="0" y="0"/>
          <a:chExt cx="0" cy="0"/>
        </a:xfrm>
      </p:grpSpPr>
      <p:sp>
        <p:nvSpPr>
          <p:cNvPr id="292" name="Google Shape;292;p14"/>
          <p:cNvSpPr txBox="1"/>
          <p:nvPr/>
        </p:nvSpPr>
        <p:spPr>
          <a:xfrm>
            <a:off x="91440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97AB"/>
              </a:buClr>
              <a:buSzPts val="1600"/>
              <a:buFont typeface="Courier New"/>
              <a:buNone/>
            </a:pPr>
            <a:r>
              <a:rPr b="0" i="0" lang="iw-IL" sz="1600" u="none" cap="none" strike="noStrike">
                <a:solidFill>
                  <a:srgbClr val="9397AB"/>
                </a:solidFill>
                <a:latin typeface="Courier New"/>
                <a:ea typeface="Courier New"/>
                <a:cs typeface="Courier New"/>
                <a:sym typeface="Courier New"/>
              </a:rPr>
              <a:t>1</a:t>
            </a:r>
            <a:r>
              <a:rPr lang="iw-IL" sz="1600">
                <a:solidFill>
                  <a:srgbClr val="9397AB"/>
                </a:solidFill>
                <a:latin typeface="Courier New"/>
                <a:ea typeface="Courier New"/>
                <a:cs typeface="Courier New"/>
                <a:sym typeface="Courier New"/>
              </a:rPr>
              <a:t>3</a:t>
            </a:r>
            <a:r>
              <a:rPr b="0" i="0" lang="iw-IL" sz="1600" u="none" cap="none" strike="noStrike">
                <a:solidFill>
                  <a:srgbClr val="9397AB"/>
                </a:solidFill>
                <a:latin typeface="Courier New"/>
                <a:ea typeface="Courier New"/>
                <a:cs typeface="Courier New"/>
                <a:sym typeface="Courier New"/>
              </a:rPr>
              <a:t> · Production Readiness</a:t>
            </a:r>
            <a:endParaRPr b="0" i="0" sz="1600" u="none" cap="none" strike="noStrike">
              <a:solidFill>
                <a:schemeClr val="dk1"/>
              </a:solidFill>
              <a:latin typeface="Calibri"/>
              <a:ea typeface="Calibri"/>
              <a:cs typeface="Calibri"/>
              <a:sym typeface="Calibri"/>
            </a:endParaRPr>
          </a:p>
        </p:txBody>
      </p:sp>
      <p:sp>
        <p:nvSpPr>
          <p:cNvPr id="293" name="Google Shape;293;p14"/>
          <p:cNvSpPr txBox="1"/>
          <p:nvPr/>
        </p:nvSpPr>
        <p:spPr>
          <a:xfrm>
            <a:off x="3657600" y="411480"/>
            <a:ext cx="13716000" cy="10972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9E9ED"/>
              </a:buClr>
              <a:buSzPts val="4800"/>
              <a:buFont typeface="Arial"/>
              <a:buNone/>
            </a:pPr>
            <a:r>
              <a:rPr b="0" i="0" lang="iw-IL" sz="4800" u="none" cap="none" strike="noStrike">
                <a:solidFill>
                  <a:srgbClr val="E9E9ED"/>
                </a:solidFill>
                <a:latin typeface="Arial"/>
                <a:ea typeface="Arial"/>
                <a:cs typeface="Arial"/>
                <a:sym typeface="Arial"/>
              </a:rPr>
              <a:t>מה עובד, מה עדיין דמו, ומה הלאה</a:t>
            </a:r>
            <a:endParaRPr b="0" i="0" sz="4800" u="none" cap="none" strike="noStrike">
              <a:solidFill>
                <a:schemeClr val="dk1"/>
              </a:solidFill>
              <a:latin typeface="Calibri"/>
              <a:ea typeface="Calibri"/>
              <a:cs typeface="Calibri"/>
              <a:sym typeface="Calibri"/>
            </a:endParaRPr>
          </a:p>
        </p:txBody>
      </p:sp>
      <p:sp>
        <p:nvSpPr>
          <p:cNvPr id="294" name="Google Shape;294;p14"/>
          <p:cNvSpPr/>
          <p:nvPr/>
        </p:nvSpPr>
        <p:spPr>
          <a:xfrm>
            <a:off x="12252960" y="1874520"/>
            <a:ext cx="5120640" cy="4206240"/>
          </a:xfrm>
          <a:prstGeom prst="roundRect">
            <a:avLst>
              <a:gd fmla="val 2609"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4"/>
          <p:cNvSpPr txBox="1"/>
          <p:nvPr/>
        </p:nvSpPr>
        <p:spPr>
          <a:xfrm>
            <a:off x="12573000" y="2148840"/>
            <a:ext cx="448056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8FD3B0"/>
              </a:buClr>
              <a:buSzPts val="2000"/>
              <a:buFont typeface="Arial"/>
              <a:buNone/>
            </a:pPr>
            <a:r>
              <a:rPr b="1" i="0" lang="iw-IL" sz="2000" u="none" cap="none" strike="noStrike">
                <a:solidFill>
                  <a:srgbClr val="8FD3B0"/>
                </a:solidFill>
                <a:latin typeface="Arial"/>
                <a:ea typeface="Arial"/>
                <a:cs typeface="Arial"/>
                <a:sym typeface="Arial"/>
              </a:rPr>
              <a:t>עובד היום</a:t>
            </a:r>
            <a:endParaRPr b="0" i="0" sz="2000" u="none" cap="none" strike="noStrike">
              <a:solidFill>
                <a:schemeClr val="dk1"/>
              </a:solidFill>
              <a:latin typeface="Calibri"/>
              <a:ea typeface="Calibri"/>
              <a:cs typeface="Calibri"/>
              <a:sym typeface="Calibri"/>
            </a:endParaRPr>
          </a:p>
        </p:txBody>
      </p:sp>
      <p:sp>
        <p:nvSpPr>
          <p:cNvPr id="296" name="Google Shape;296;p14"/>
          <p:cNvSpPr txBox="1"/>
          <p:nvPr/>
        </p:nvSpPr>
        <p:spPr>
          <a:xfrm>
            <a:off x="12573000" y="2743200"/>
            <a:ext cx="4480560" cy="3200400"/>
          </a:xfrm>
          <a:prstGeom prst="rect">
            <a:avLst/>
          </a:prstGeom>
          <a:noFill/>
          <a:ln>
            <a:noFill/>
          </a:ln>
        </p:spPr>
        <p:txBody>
          <a:bodyPr anchorCtr="0" anchor="t" bIns="0" lIns="0" spcFirstLastPara="1" rIns="0" wrap="square" tIns="0">
            <a:noAutofit/>
          </a:bodyPr>
          <a:lstStyle/>
          <a:p>
            <a:pPr indent="-228600" lvl="0" marL="228600" marR="0" rtl="1" algn="r">
              <a:spcBef>
                <a:spcPts val="0"/>
              </a:spcBef>
              <a:spcAft>
                <a:spcPts val="0"/>
              </a:spcAft>
              <a:buClr>
                <a:srgbClr val="E9E9ED"/>
              </a:buClr>
              <a:buSzPts val="1800"/>
              <a:buFont typeface="Arial"/>
              <a:buChar char="•"/>
            </a:pPr>
            <a:r>
              <a:rPr b="0" i="0" lang="iw-IL" sz="1800" u="none" cap="none" strike="noStrike">
                <a:solidFill>
                  <a:srgbClr val="E9E9ED"/>
                </a:solidFill>
                <a:latin typeface="Arial"/>
                <a:ea typeface="Arial"/>
                <a:cs typeface="Arial"/>
                <a:sym typeface="Arial"/>
              </a:rPr>
              <a:t>מכונת המצבים ב-LangGraph, השער האנושי, החסימות ויומן המקרה</a:t>
            </a:r>
            <a:endParaRPr b="0" i="0" sz="1800" u="none" cap="none" strike="noStrike">
              <a:solidFill>
                <a:schemeClr val="dk1"/>
              </a:solidFill>
              <a:latin typeface="Calibri"/>
              <a:ea typeface="Calibri"/>
              <a:cs typeface="Calibri"/>
              <a:sym typeface="Calibri"/>
            </a:endParaRPr>
          </a:p>
          <a:p>
            <a:pPr indent="-228600" lvl="0" marL="228600" marR="0" rtl="1" algn="r">
              <a:spcBef>
                <a:spcPts val="900"/>
              </a:spcBef>
              <a:spcAft>
                <a:spcPts val="0"/>
              </a:spcAft>
              <a:buClr>
                <a:srgbClr val="E9E9ED"/>
              </a:buClr>
              <a:buSzPts val="1800"/>
              <a:buFont typeface="Arial"/>
              <a:buChar char="•"/>
            </a:pPr>
            <a:r>
              <a:rPr b="0" i="0" lang="iw-IL" sz="1800" u="none" cap="none" strike="noStrike">
                <a:solidFill>
                  <a:srgbClr val="E9E9ED"/>
                </a:solidFill>
                <a:latin typeface="Arial"/>
                <a:ea typeface="Arial"/>
                <a:cs typeface="Arial"/>
                <a:sym typeface="Arial"/>
              </a:rPr>
              <a:t>חמשת מנועי הכללים, עם fail-closed</a:t>
            </a:r>
            <a:endParaRPr b="0" i="0" sz="1800" u="none" cap="none" strike="noStrike">
              <a:solidFill>
                <a:schemeClr val="dk1"/>
              </a:solidFill>
              <a:latin typeface="Calibri"/>
              <a:ea typeface="Calibri"/>
              <a:cs typeface="Calibri"/>
              <a:sym typeface="Calibri"/>
            </a:endParaRPr>
          </a:p>
          <a:p>
            <a:pPr indent="-228600" lvl="0" marL="228600" marR="0" rtl="1" algn="r">
              <a:spcBef>
                <a:spcPts val="900"/>
              </a:spcBef>
              <a:spcAft>
                <a:spcPts val="0"/>
              </a:spcAft>
              <a:buClr>
                <a:srgbClr val="E9E9ED"/>
              </a:buClr>
              <a:buSzPts val="1800"/>
              <a:buFont typeface="Arial"/>
              <a:buChar char="•"/>
            </a:pPr>
            <a:r>
              <a:rPr b="0" i="0" lang="iw-IL" sz="1800" u="none" cap="none" strike="noStrike">
                <a:solidFill>
                  <a:srgbClr val="E9E9ED"/>
                </a:solidFill>
                <a:latin typeface="Arial"/>
                <a:ea typeface="Arial"/>
                <a:cs typeface="Arial"/>
                <a:sym typeface="Arial"/>
              </a:rPr>
              <a:t>המוניטור והטיימרים, שנשמרים גם אם המערכת נופלת</a:t>
            </a:r>
            <a:endParaRPr b="0" i="0" sz="1800" u="none" cap="none" strike="noStrike">
              <a:solidFill>
                <a:schemeClr val="dk1"/>
              </a:solidFill>
              <a:latin typeface="Calibri"/>
              <a:ea typeface="Calibri"/>
              <a:cs typeface="Calibri"/>
              <a:sym typeface="Calibri"/>
            </a:endParaRPr>
          </a:p>
          <a:p>
            <a:pPr indent="-228600" lvl="0" marL="228600" marR="0" rtl="1" algn="r">
              <a:spcBef>
                <a:spcPts val="900"/>
              </a:spcBef>
              <a:spcAft>
                <a:spcPts val="0"/>
              </a:spcAft>
              <a:buClr>
                <a:srgbClr val="E9E9ED"/>
              </a:buClr>
              <a:buSzPts val="1800"/>
              <a:buFont typeface="Arial"/>
              <a:buChar char="•"/>
            </a:pPr>
            <a:r>
              <a:rPr b="0" i="0" lang="iw-IL" sz="1800" u="none" cap="none" strike="noStrike">
                <a:solidFill>
                  <a:srgbClr val="E9E9ED"/>
                </a:solidFill>
                <a:latin typeface="Arial"/>
                <a:ea typeface="Arial"/>
                <a:cs typeface="Arial"/>
                <a:sym typeface="Arial"/>
              </a:rPr>
              <a:t>ה-board לאחיות, והמעקב ב-Langfuse</a:t>
            </a:r>
            <a:endParaRPr b="0" i="0" sz="1800" u="none" cap="none" strike="noStrike">
              <a:solidFill>
                <a:schemeClr val="dk1"/>
              </a:solidFill>
              <a:latin typeface="Calibri"/>
              <a:ea typeface="Calibri"/>
              <a:cs typeface="Calibri"/>
              <a:sym typeface="Calibri"/>
            </a:endParaRPr>
          </a:p>
        </p:txBody>
      </p:sp>
      <p:sp>
        <p:nvSpPr>
          <p:cNvPr id="297" name="Google Shape;297;p14"/>
          <p:cNvSpPr/>
          <p:nvPr/>
        </p:nvSpPr>
        <p:spPr>
          <a:xfrm>
            <a:off x="6583680" y="1874520"/>
            <a:ext cx="5120640" cy="4206240"/>
          </a:xfrm>
          <a:prstGeom prst="roundRect">
            <a:avLst>
              <a:gd fmla="val 2609"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4"/>
          <p:cNvSpPr txBox="1"/>
          <p:nvPr/>
        </p:nvSpPr>
        <p:spPr>
          <a:xfrm>
            <a:off x="6903720" y="2148840"/>
            <a:ext cx="448056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F2D28B"/>
              </a:buClr>
              <a:buSzPts val="2000"/>
              <a:buFont typeface="Arial"/>
              <a:buNone/>
            </a:pPr>
            <a:r>
              <a:rPr b="1" i="0" lang="iw-IL" sz="2000" u="none" cap="none" strike="noStrike">
                <a:solidFill>
                  <a:srgbClr val="F2D28B"/>
                </a:solidFill>
                <a:latin typeface="Arial"/>
                <a:ea typeface="Arial"/>
                <a:cs typeface="Arial"/>
                <a:sym typeface="Arial"/>
              </a:rPr>
              <a:t>עדיין דמו</a:t>
            </a:r>
            <a:endParaRPr b="0" i="0" sz="2000" u="none" cap="none" strike="noStrike">
              <a:solidFill>
                <a:schemeClr val="dk1"/>
              </a:solidFill>
              <a:latin typeface="Calibri"/>
              <a:ea typeface="Calibri"/>
              <a:cs typeface="Calibri"/>
              <a:sym typeface="Calibri"/>
            </a:endParaRPr>
          </a:p>
        </p:txBody>
      </p:sp>
      <p:sp>
        <p:nvSpPr>
          <p:cNvPr id="299" name="Google Shape;299;p14"/>
          <p:cNvSpPr txBox="1"/>
          <p:nvPr/>
        </p:nvSpPr>
        <p:spPr>
          <a:xfrm>
            <a:off x="6903720" y="2743200"/>
            <a:ext cx="4480560" cy="3200400"/>
          </a:xfrm>
          <a:prstGeom prst="rect">
            <a:avLst/>
          </a:prstGeom>
          <a:noFill/>
          <a:ln>
            <a:noFill/>
          </a:ln>
        </p:spPr>
        <p:txBody>
          <a:bodyPr anchorCtr="0" anchor="t" bIns="0" lIns="0" spcFirstLastPara="1" rIns="0" wrap="square" tIns="0">
            <a:noAutofit/>
          </a:bodyPr>
          <a:lstStyle/>
          <a:p>
            <a:pPr indent="-228600" lvl="0" marL="228600" marR="0" rtl="1" algn="r">
              <a:spcBef>
                <a:spcPts val="0"/>
              </a:spcBef>
              <a:spcAft>
                <a:spcPts val="0"/>
              </a:spcAft>
              <a:buClr>
                <a:srgbClr val="E9E9ED"/>
              </a:buClr>
              <a:buSzPts val="1800"/>
              <a:buFont typeface="Arial"/>
              <a:buChar char="•"/>
            </a:pPr>
            <a:r>
              <a:rPr b="0" i="0" lang="iw-IL" sz="1800" u="none" cap="none" strike="noStrike">
                <a:solidFill>
                  <a:srgbClr val="E9E9ED"/>
                </a:solidFill>
                <a:latin typeface="Arial"/>
                <a:ea typeface="Arial"/>
                <a:cs typeface="Arial"/>
                <a:sym typeface="Arial"/>
              </a:rPr>
              <a:t>מערכת הרשומות (CRM) מכילה 20 מטופלים מדומים</a:t>
            </a:r>
            <a:endParaRPr b="0" i="0" sz="1800" u="none" cap="none" strike="noStrike">
              <a:solidFill>
                <a:schemeClr val="dk1"/>
              </a:solidFill>
              <a:latin typeface="Calibri"/>
              <a:ea typeface="Calibri"/>
              <a:cs typeface="Calibri"/>
              <a:sym typeface="Calibri"/>
            </a:endParaRPr>
          </a:p>
          <a:p>
            <a:pPr indent="-228600" lvl="0" marL="228600" marR="0" rtl="1" algn="r">
              <a:spcBef>
                <a:spcPts val="900"/>
              </a:spcBef>
              <a:spcAft>
                <a:spcPts val="0"/>
              </a:spcAft>
              <a:buClr>
                <a:srgbClr val="E9E9ED"/>
              </a:buClr>
              <a:buSzPts val="1800"/>
              <a:buFont typeface="Arial"/>
              <a:buChar char="•"/>
            </a:pPr>
            <a:r>
              <a:rPr b="0" i="0" lang="iw-IL" sz="1800" u="none" cap="none" strike="noStrike">
                <a:solidFill>
                  <a:srgbClr val="E9E9ED"/>
                </a:solidFill>
                <a:latin typeface="Arial"/>
                <a:ea typeface="Arial"/>
                <a:cs typeface="Arial"/>
                <a:sym typeface="Arial"/>
              </a:rPr>
              <a:t>הקליטה היא טופס מובנה, בלי סריקת מסמכים או טקסט חופשי</a:t>
            </a:r>
            <a:endParaRPr b="0" i="0" sz="1800" u="none" cap="none" strike="noStrike">
              <a:solidFill>
                <a:schemeClr val="dk1"/>
              </a:solidFill>
              <a:latin typeface="Calibri"/>
              <a:ea typeface="Calibri"/>
              <a:cs typeface="Calibri"/>
              <a:sym typeface="Calibri"/>
            </a:endParaRPr>
          </a:p>
          <a:p>
            <a:pPr indent="-228600" lvl="0" marL="228600" marR="0" rtl="1" algn="r">
              <a:spcBef>
                <a:spcPts val="900"/>
              </a:spcBef>
              <a:spcAft>
                <a:spcPts val="0"/>
              </a:spcAft>
              <a:buClr>
                <a:srgbClr val="E9E9ED"/>
              </a:buClr>
              <a:buSzPts val="1800"/>
              <a:buFont typeface="Arial"/>
              <a:buChar char="•"/>
            </a:pPr>
            <a:r>
              <a:rPr b="0" i="0" lang="iw-IL" sz="1800" u="none" cap="none" strike="noStrike">
                <a:solidFill>
                  <a:srgbClr val="E9E9ED"/>
                </a:solidFill>
                <a:latin typeface="Arial"/>
                <a:ea typeface="Arial"/>
                <a:cs typeface="Arial"/>
                <a:sym typeface="Arial"/>
              </a:rPr>
              <a:t>ההרשאות הן לפי תפקיד בלבד</a:t>
            </a:r>
            <a:endParaRPr b="0" i="0" sz="1800" u="none" cap="none" strike="noStrike">
              <a:solidFill>
                <a:schemeClr val="dk1"/>
              </a:solidFill>
              <a:latin typeface="Calibri"/>
              <a:ea typeface="Calibri"/>
              <a:cs typeface="Calibri"/>
              <a:sym typeface="Calibri"/>
            </a:endParaRPr>
          </a:p>
        </p:txBody>
      </p:sp>
      <p:sp>
        <p:nvSpPr>
          <p:cNvPr id="300" name="Google Shape;300;p14"/>
          <p:cNvSpPr/>
          <p:nvPr/>
        </p:nvSpPr>
        <p:spPr>
          <a:xfrm>
            <a:off x="914400" y="1874520"/>
            <a:ext cx="5120640" cy="4206240"/>
          </a:xfrm>
          <a:prstGeom prst="roundRect">
            <a:avLst>
              <a:gd fmla="val 2609" name="adj"/>
            </a:avLst>
          </a:prstGeom>
          <a:solidFill>
            <a:srgbClr val="232532"/>
          </a:solidFill>
          <a:ln cap="flat" cmpd="sng" w="12700">
            <a:solidFill>
              <a:srgbClr val="2325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4"/>
          <p:cNvSpPr txBox="1"/>
          <p:nvPr/>
        </p:nvSpPr>
        <p:spPr>
          <a:xfrm>
            <a:off x="1234440" y="2148840"/>
            <a:ext cx="448056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2000"/>
              <a:buFont typeface="Arial"/>
              <a:buNone/>
            </a:pPr>
            <a:r>
              <a:rPr b="1" i="0" lang="iw-IL" sz="2000" u="none" cap="none" strike="noStrike">
                <a:solidFill>
                  <a:srgbClr val="D2CEFD"/>
                </a:solidFill>
                <a:latin typeface="Arial"/>
                <a:ea typeface="Arial"/>
                <a:cs typeface="Arial"/>
                <a:sym typeface="Arial"/>
              </a:rPr>
              <a:t>הצעדים הבאים</a:t>
            </a:r>
            <a:endParaRPr b="0" i="0" sz="2000" u="none" cap="none" strike="noStrike">
              <a:solidFill>
                <a:schemeClr val="dk1"/>
              </a:solidFill>
              <a:latin typeface="Calibri"/>
              <a:ea typeface="Calibri"/>
              <a:cs typeface="Calibri"/>
              <a:sym typeface="Calibri"/>
            </a:endParaRPr>
          </a:p>
        </p:txBody>
      </p:sp>
      <p:sp>
        <p:nvSpPr>
          <p:cNvPr id="302" name="Google Shape;302;p14"/>
          <p:cNvSpPr txBox="1"/>
          <p:nvPr/>
        </p:nvSpPr>
        <p:spPr>
          <a:xfrm>
            <a:off x="1234440" y="2743200"/>
            <a:ext cx="4480560" cy="3200400"/>
          </a:xfrm>
          <a:prstGeom prst="rect">
            <a:avLst/>
          </a:prstGeom>
          <a:noFill/>
          <a:ln>
            <a:noFill/>
          </a:ln>
        </p:spPr>
        <p:txBody>
          <a:bodyPr anchorCtr="0" anchor="t" bIns="0" lIns="0" spcFirstLastPara="1" rIns="0" wrap="square" tIns="0">
            <a:noAutofit/>
          </a:bodyPr>
          <a:lstStyle/>
          <a:p>
            <a:pPr indent="-228600" lvl="0" marL="228600" marR="0" rtl="1" algn="r">
              <a:spcBef>
                <a:spcPts val="0"/>
              </a:spcBef>
              <a:spcAft>
                <a:spcPts val="0"/>
              </a:spcAft>
              <a:buClr>
                <a:srgbClr val="E9E9ED"/>
              </a:buClr>
              <a:buSzPts val="1800"/>
              <a:buFont typeface="Arial"/>
              <a:buChar char="•"/>
            </a:pPr>
            <a:r>
              <a:rPr b="0" i="0" lang="iw-IL" sz="1800" u="none" cap="none" strike="noStrike">
                <a:solidFill>
                  <a:srgbClr val="E9E9ED"/>
                </a:solidFill>
                <a:latin typeface="Arial"/>
                <a:ea typeface="Arial"/>
                <a:cs typeface="Arial"/>
                <a:sym typeface="Arial"/>
              </a:rPr>
              <a:t>לבדוק את ה-AI על מקרים אמיתיים (אנונימיים) ולמדוד דיוק</a:t>
            </a:r>
            <a:endParaRPr b="0" i="0" sz="1800" u="none" cap="none" strike="noStrike">
              <a:solidFill>
                <a:schemeClr val="dk1"/>
              </a:solidFill>
              <a:latin typeface="Calibri"/>
              <a:ea typeface="Calibri"/>
              <a:cs typeface="Calibri"/>
              <a:sym typeface="Calibri"/>
            </a:endParaRPr>
          </a:p>
          <a:p>
            <a:pPr indent="-228600" lvl="0" marL="228600" marR="0" rtl="1" algn="r">
              <a:spcBef>
                <a:spcPts val="900"/>
              </a:spcBef>
              <a:spcAft>
                <a:spcPts val="0"/>
              </a:spcAft>
              <a:buClr>
                <a:srgbClr val="E9E9ED"/>
              </a:buClr>
              <a:buSzPts val="1800"/>
              <a:buFont typeface="Arial"/>
              <a:buChar char="•"/>
            </a:pPr>
            <a:r>
              <a:rPr b="0" i="0" lang="iw-IL" sz="1800" u="none" cap="none" strike="noStrike">
                <a:solidFill>
                  <a:srgbClr val="E9E9ED"/>
                </a:solidFill>
                <a:latin typeface="Arial"/>
                <a:ea typeface="Arial"/>
                <a:cs typeface="Arial"/>
                <a:sym typeface="Arial"/>
              </a:rPr>
              <a:t>ספים כמו ביטחון 70%, מספר סבבי תיקון וזמני הערכה חוזרת דורשים נתונים ואישור קליני</a:t>
            </a:r>
            <a:endParaRPr b="0" i="0" sz="1800" u="none" cap="none" strike="noStrike">
              <a:solidFill>
                <a:schemeClr val="dk1"/>
              </a:solidFill>
              <a:latin typeface="Calibri"/>
              <a:ea typeface="Calibri"/>
              <a:cs typeface="Calibri"/>
              <a:sym typeface="Calibri"/>
            </a:endParaRPr>
          </a:p>
          <a:p>
            <a:pPr indent="-228600" lvl="0" marL="228600" marR="0" rtl="1" algn="r">
              <a:spcBef>
                <a:spcPts val="900"/>
              </a:spcBef>
              <a:spcAft>
                <a:spcPts val="0"/>
              </a:spcAft>
              <a:buClr>
                <a:srgbClr val="E9E9ED"/>
              </a:buClr>
              <a:buSzPts val="1800"/>
              <a:buFont typeface="Arial"/>
              <a:buChar char="•"/>
            </a:pPr>
            <a:r>
              <a:rPr b="0" i="0" lang="iw-IL" sz="1800" u="none" cap="none" strike="noStrike">
                <a:solidFill>
                  <a:srgbClr val="E9E9ED"/>
                </a:solidFill>
                <a:latin typeface="Arial"/>
                <a:ea typeface="Arial"/>
                <a:cs typeface="Arial"/>
                <a:sym typeface="Arial"/>
              </a:rPr>
              <a:t>להוסיף ניהול גרסאות למדיניות </a:t>
            </a:r>
            <a:r>
              <a:rPr lang="iw-IL" sz="1800">
                <a:solidFill>
                  <a:srgbClr val="E9E9ED"/>
                </a:solidFill>
              </a:rPr>
              <a:t>למנועי</a:t>
            </a:r>
            <a:r>
              <a:rPr b="0" i="0" lang="iw-IL" sz="1800" u="none" cap="none" strike="noStrike">
                <a:solidFill>
                  <a:srgbClr val="E9E9ED"/>
                </a:solidFill>
                <a:latin typeface="Arial"/>
                <a:ea typeface="Arial"/>
                <a:cs typeface="Arial"/>
                <a:sym typeface="Arial"/>
              </a:rPr>
              <a:t> הכללים</a:t>
            </a:r>
            <a:endParaRPr b="0" i="0" sz="1800" u="none" cap="none" strike="noStrike">
              <a:solidFill>
                <a:srgbClr val="E9E9ED"/>
              </a:solidFill>
              <a:latin typeface="Arial"/>
              <a:ea typeface="Arial"/>
              <a:cs typeface="Arial"/>
              <a:sym typeface="Arial"/>
            </a:endParaRPr>
          </a:p>
          <a:p>
            <a:pPr indent="-228600" lvl="0" marL="228600" marR="0" rtl="1" algn="r">
              <a:spcBef>
                <a:spcPts val="900"/>
              </a:spcBef>
              <a:spcAft>
                <a:spcPts val="0"/>
              </a:spcAft>
              <a:buClr>
                <a:srgbClr val="E9E9ED"/>
              </a:buClr>
              <a:buSzPts val="1800"/>
              <a:buChar char="•"/>
            </a:pPr>
            <a:r>
              <a:rPr lang="iw-IL" sz="1800">
                <a:solidFill>
                  <a:srgbClr val="E9E9ED"/>
                </a:solidFill>
              </a:rPr>
              <a:t>מערכת משתמשים (אחיות) </a:t>
            </a:r>
            <a:r>
              <a:rPr lang="iw-IL" sz="1800">
                <a:solidFill>
                  <a:srgbClr val="E9E9ED"/>
                </a:solidFill>
              </a:rPr>
              <a:t>לטאבלט</a:t>
            </a:r>
            <a:endParaRPr sz="1800">
              <a:solidFill>
                <a:srgbClr val="E9E9ED"/>
              </a:solidFill>
            </a:endParaRPr>
          </a:p>
        </p:txBody>
      </p:sp>
      <p:sp>
        <p:nvSpPr>
          <p:cNvPr id="303" name="Google Shape;303;p14"/>
          <p:cNvSpPr/>
          <p:nvPr/>
        </p:nvSpPr>
        <p:spPr>
          <a:xfrm>
            <a:off x="914400" y="6355080"/>
            <a:ext cx="16459200" cy="3291840"/>
          </a:xfrm>
          <a:prstGeom prst="roundRect">
            <a:avLst>
              <a:gd fmla="val 3333" name="adj"/>
            </a:avLst>
          </a:prstGeom>
          <a:solidFill>
            <a:srgbClr val="2B2960"/>
          </a:solidFill>
          <a:ln cap="flat" cmpd="sng" w="12700">
            <a:solidFill>
              <a:srgbClr val="4C539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4"/>
          <p:cNvSpPr txBox="1"/>
          <p:nvPr/>
        </p:nvSpPr>
        <p:spPr>
          <a:xfrm>
            <a:off x="1280160" y="6510528"/>
            <a:ext cx="15727680" cy="54864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D2CEFD"/>
              </a:buClr>
              <a:buSzPts val="2200"/>
              <a:buFont typeface="Arial"/>
              <a:buNone/>
            </a:pPr>
            <a:r>
              <a:rPr b="1" i="0" lang="iw-IL" sz="2200" u="none" cap="none" strike="noStrike">
                <a:solidFill>
                  <a:srgbClr val="D2CEFD"/>
                </a:solidFill>
                <a:latin typeface="Arial"/>
                <a:ea typeface="Arial"/>
                <a:cs typeface="Arial"/>
                <a:sym typeface="Arial"/>
              </a:rPr>
              <a:t>איך המערכת מונעת מה-AI להוביל מקרה לרצף מסוכן או למצב אסור?</a:t>
            </a:r>
            <a:endParaRPr b="0" i="0" sz="2200" u="none" cap="none" strike="noStrike">
              <a:solidFill>
                <a:schemeClr val="dk1"/>
              </a:solidFill>
              <a:latin typeface="Calibri"/>
              <a:ea typeface="Calibri"/>
              <a:cs typeface="Calibri"/>
              <a:sym typeface="Calibri"/>
            </a:endParaRPr>
          </a:p>
        </p:txBody>
      </p:sp>
      <p:sp>
        <p:nvSpPr>
          <p:cNvPr id="305" name="Google Shape;305;p14"/>
          <p:cNvSpPr txBox="1"/>
          <p:nvPr/>
        </p:nvSpPr>
        <p:spPr>
          <a:xfrm>
            <a:off x="1280160" y="7086600"/>
            <a:ext cx="15727680" cy="457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800"/>
              <a:buFont typeface="Arial"/>
              <a:buNone/>
            </a:pPr>
            <a:r>
              <a:rPr b="0" i="0" lang="iw-IL" sz="1800" u="none" cap="none" strike="noStrike">
                <a:solidFill>
                  <a:srgbClr val="E9E9ED"/>
                </a:solidFill>
                <a:latin typeface="Arial"/>
                <a:ea typeface="Arial"/>
                <a:cs typeface="Arial"/>
                <a:sym typeface="Arial"/>
              </a:rPr>
              <a:t>ה-AI יכול רק להציע, וכל מעבר מוגבל לחצים שהוגדרו מראש. מעל זה יש ארבע שכבות:</a:t>
            </a:r>
            <a:endParaRPr b="0" i="0" sz="1800" u="none" cap="none" strike="noStrike">
              <a:solidFill>
                <a:schemeClr val="dk1"/>
              </a:solidFill>
              <a:latin typeface="Calibri"/>
              <a:ea typeface="Calibri"/>
              <a:cs typeface="Calibri"/>
              <a:sym typeface="Calibri"/>
            </a:endParaRPr>
          </a:p>
        </p:txBody>
      </p:sp>
      <p:sp>
        <p:nvSpPr>
          <p:cNvPr id="306" name="Google Shape;306;p14"/>
          <p:cNvSpPr/>
          <p:nvPr/>
        </p:nvSpPr>
        <p:spPr>
          <a:xfrm>
            <a:off x="13258800" y="7635240"/>
            <a:ext cx="3749040" cy="1417320"/>
          </a:xfrm>
          <a:prstGeom prst="roundRect">
            <a:avLst>
              <a:gd fmla="val 7742" name="adj"/>
            </a:avLst>
          </a:prstGeom>
          <a:solidFill>
            <a:srgbClr val="1F2046"/>
          </a:solidFill>
          <a:ln cap="flat" cmpd="sng" w="12700">
            <a:solidFill>
              <a:srgbClr val="3A3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4"/>
          <p:cNvSpPr/>
          <p:nvPr/>
        </p:nvSpPr>
        <p:spPr>
          <a:xfrm>
            <a:off x="16459200" y="7744968"/>
            <a:ext cx="384048" cy="384048"/>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4"/>
          <p:cNvSpPr txBox="1"/>
          <p:nvPr/>
        </p:nvSpPr>
        <p:spPr>
          <a:xfrm>
            <a:off x="16459200" y="77449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300"/>
              <a:buFont typeface="Arial"/>
              <a:buNone/>
            </a:pPr>
            <a:r>
              <a:rPr b="1" i="0" lang="iw-IL" sz="1300" u="none" cap="none" strike="noStrike">
                <a:solidFill>
                  <a:srgbClr val="161826"/>
                </a:solidFill>
                <a:latin typeface="Arial"/>
                <a:ea typeface="Arial"/>
                <a:cs typeface="Arial"/>
                <a:sym typeface="Arial"/>
              </a:rPr>
              <a:t>1</a:t>
            </a:r>
            <a:endParaRPr b="0" i="0" sz="1300" u="none" cap="none" strike="noStrike">
              <a:solidFill>
                <a:schemeClr val="dk1"/>
              </a:solidFill>
              <a:latin typeface="Calibri"/>
              <a:ea typeface="Calibri"/>
              <a:cs typeface="Calibri"/>
              <a:sym typeface="Calibri"/>
            </a:endParaRPr>
          </a:p>
        </p:txBody>
      </p:sp>
      <p:sp>
        <p:nvSpPr>
          <p:cNvPr id="309" name="Google Shape;309;p14"/>
          <p:cNvSpPr txBox="1"/>
          <p:nvPr/>
        </p:nvSpPr>
        <p:spPr>
          <a:xfrm>
            <a:off x="13441680" y="7726680"/>
            <a:ext cx="2880360" cy="384048"/>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700"/>
              <a:buFont typeface="Arial"/>
              <a:buNone/>
            </a:pPr>
            <a:r>
              <a:rPr b="1" i="0" lang="iw-IL" sz="1700" u="none" cap="none" strike="noStrike">
                <a:solidFill>
                  <a:srgbClr val="E9E9ED"/>
                </a:solidFill>
                <a:latin typeface="Arial"/>
                <a:ea typeface="Arial"/>
                <a:cs typeface="Arial"/>
                <a:sym typeface="Arial"/>
              </a:rPr>
              <a:t>מראש</a:t>
            </a:r>
            <a:endParaRPr b="0" i="0" sz="1700" u="none" cap="none" strike="noStrike">
              <a:solidFill>
                <a:schemeClr val="dk1"/>
              </a:solidFill>
              <a:latin typeface="Calibri"/>
              <a:ea typeface="Calibri"/>
              <a:cs typeface="Calibri"/>
              <a:sym typeface="Calibri"/>
            </a:endParaRPr>
          </a:p>
        </p:txBody>
      </p:sp>
      <p:sp>
        <p:nvSpPr>
          <p:cNvPr id="310" name="Google Shape;310;p14"/>
          <p:cNvSpPr txBox="1"/>
          <p:nvPr/>
        </p:nvSpPr>
        <p:spPr>
          <a:xfrm>
            <a:off x="13441680" y="8156448"/>
            <a:ext cx="3383280" cy="8686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500"/>
              <a:buFont typeface="Arial"/>
              <a:buNone/>
            </a:pPr>
            <a:r>
              <a:rPr b="0" i="0" lang="iw-IL" sz="1500" u="none" cap="none" strike="noStrike">
                <a:solidFill>
                  <a:srgbClr val="CFD3E5"/>
                </a:solidFill>
                <a:latin typeface="Arial"/>
                <a:ea typeface="Arial"/>
                <a:cs typeface="Arial"/>
                <a:sym typeface="Arial"/>
              </a:rPr>
              <a:t>מנוע Z3 מוכיח שהכללים עצמם לא שבורים.</a:t>
            </a:r>
            <a:endParaRPr b="0" i="0" sz="1500" u="none" cap="none" strike="noStrike">
              <a:solidFill>
                <a:schemeClr val="dk1"/>
              </a:solidFill>
              <a:latin typeface="Calibri"/>
              <a:ea typeface="Calibri"/>
              <a:cs typeface="Calibri"/>
              <a:sym typeface="Calibri"/>
            </a:endParaRPr>
          </a:p>
        </p:txBody>
      </p:sp>
      <p:sp>
        <p:nvSpPr>
          <p:cNvPr id="311" name="Google Shape;311;p14"/>
          <p:cNvSpPr/>
          <p:nvPr/>
        </p:nvSpPr>
        <p:spPr>
          <a:xfrm>
            <a:off x="9326880" y="7635240"/>
            <a:ext cx="3749040" cy="1417320"/>
          </a:xfrm>
          <a:prstGeom prst="roundRect">
            <a:avLst>
              <a:gd fmla="val 7742" name="adj"/>
            </a:avLst>
          </a:prstGeom>
          <a:solidFill>
            <a:srgbClr val="1F2046"/>
          </a:solidFill>
          <a:ln cap="flat" cmpd="sng" w="12700">
            <a:solidFill>
              <a:srgbClr val="3A3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4"/>
          <p:cNvSpPr/>
          <p:nvPr/>
        </p:nvSpPr>
        <p:spPr>
          <a:xfrm>
            <a:off x="12527280" y="7744968"/>
            <a:ext cx="384048" cy="384048"/>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4"/>
          <p:cNvSpPr txBox="1"/>
          <p:nvPr/>
        </p:nvSpPr>
        <p:spPr>
          <a:xfrm>
            <a:off x="12527280" y="77449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300"/>
              <a:buFont typeface="Arial"/>
              <a:buNone/>
            </a:pPr>
            <a:r>
              <a:rPr b="1" i="0" lang="iw-IL" sz="1300" u="none" cap="none" strike="noStrike">
                <a:solidFill>
                  <a:srgbClr val="161826"/>
                </a:solidFill>
                <a:latin typeface="Arial"/>
                <a:ea typeface="Arial"/>
                <a:cs typeface="Arial"/>
                <a:sym typeface="Arial"/>
              </a:rPr>
              <a:t>2</a:t>
            </a:r>
            <a:endParaRPr b="0" i="0" sz="1300" u="none" cap="none" strike="noStrike">
              <a:solidFill>
                <a:schemeClr val="dk1"/>
              </a:solidFill>
              <a:latin typeface="Calibri"/>
              <a:ea typeface="Calibri"/>
              <a:cs typeface="Calibri"/>
              <a:sym typeface="Calibri"/>
            </a:endParaRPr>
          </a:p>
        </p:txBody>
      </p:sp>
      <p:sp>
        <p:nvSpPr>
          <p:cNvPr id="314" name="Google Shape;314;p14"/>
          <p:cNvSpPr txBox="1"/>
          <p:nvPr/>
        </p:nvSpPr>
        <p:spPr>
          <a:xfrm>
            <a:off x="9509760" y="7726680"/>
            <a:ext cx="2880360" cy="384048"/>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700"/>
              <a:buFont typeface="Arial"/>
              <a:buNone/>
            </a:pPr>
            <a:r>
              <a:rPr b="1" i="0" lang="iw-IL" sz="1700" u="none" cap="none" strike="noStrike">
                <a:solidFill>
                  <a:srgbClr val="E9E9ED"/>
                </a:solidFill>
                <a:latin typeface="Arial"/>
                <a:ea typeface="Arial"/>
                <a:cs typeface="Arial"/>
                <a:sym typeface="Arial"/>
              </a:rPr>
              <a:t>לפני כל צעד</a:t>
            </a:r>
            <a:endParaRPr b="0" i="0" sz="1700" u="none" cap="none" strike="noStrike">
              <a:solidFill>
                <a:schemeClr val="dk1"/>
              </a:solidFill>
              <a:latin typeface="Calibri"/>
              <a:ea typeface="Calibri"/>
              <a:cs typeface="Calibri"/>
              <a:sym typeface="Calibri"/>
            </a:endParaRPr>
          </a:p>
        </p:txBody>
      </p:sp>
      <p:sp>
        <p:nvSpPr>
          <p:cNvPr id="315" name="Google Shape;315;p14"/>
          <p:cNvSpPr txBox="1"/>
          <p:nvPr/>
        </p:nvSpPr>
        <p:spPr>
          <a:xfrm>
            <a:off x="9509760" y="8156448"/>
            <a:ext cx="3383280" cy="8686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500"/>
              <a:buFont typeface="Arial"/>
              <a:buNone/>
            </a:pPr>
            <a:r>
              <a:rPr b="0" i="0" lang="iw-IL" sz="1500" u="none" cap="none" strike="noStrike">
                <a:solidFill>
                  <a:srgbClr val="CFD3E5"/>
                </a:solidFill>
                <a:latin typeface="Arial"/>
                <a:ea typeface="Arial"/>
                <a:cs typeface="Arial"/>
                <a:sym typeface="Arial"/>
              </a:rPr>
              <a:t>המנועים OPA ו-Prolog חוסמים פעולה אסורה.</a:t>
            </a:r>
            <a:endParaRPr b="0" i="0" sz="1500" u="none" cap="none" strike="noStrike">
              <a:solidFill>
                <a:schemeClr val="dk1"/>
              </a:solidFill>
              <a:latin typeface="Calibri"/>
              <a:ea typeface="Calibri"/>
              <a:cs typeface="Calibri"/>
              <a:sym typeface="Calibri"/>
            </a:endParaRPr>
          </a:p>
        </p:txBody>
      </p:sp>
      <p:sp>
        <p:nvSpPr>
          <p:cNvPr id="316" name="Google Shape;316;p14"/>
          <p:cNvSpPr/>
          <p:nvPr/>
        </p:nvSpPr>
        <p:spPr>
          <a:xfrm>
            <a:off x="5394960" y="7635240"/>
            <a:ext cx="3749040" cy="1417320"/>
          </a:xfrm>
          <a:prstGeom prst="roundRect">
            <a:avLst>
              <a:gd fmla="val 7742" name="adj"/>
            </a:avLst>
          </a:prstGeom>
          <a:solidFill>
            <a:srgbClr val="1F2046"/>
          </a:solidFill>
          <a:ln cap="flat" cmpd="sng" w="12700">
            <a:solidFill>
              <a:srgbClr val="3A3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4"/>
          <p:cNvSpPr/>
          <p:nvPr/>
        </p:nvSpPr>
        <p:spPr>
          <a:xfrm>
            <a:off x="8595360" y="7744968"/>
            <a:ext cx="384048" cy="384048"/>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4"/>
          <p:cNvSpPr txBox="1"/>
          <p:nvPr/>
        </p:nvSpPr>
        <p:spPr>
          <a:xfrm>
            <a:off x="8595360" y="77449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300"/>
              <a:buFont typeface="Arial"/>
              <a:buNone/>
            </a:pPr>
            <a:r>
              <a:rPr b="1" i="0" lang="iw-IL" sz="1300" u="none" cap="none" strike="noStrike">
                <a:solidFill>
                  <a:srgbClr val="161826"/>
                </a:solidFill>
                <a:latin typeface="Arial"/>
                <a:ea typeface="Arial"/>
                <a:cs typeface="Arial"/>
                <a:sym typeface="Arial"/>
              </a:rPr>
              <a:t>3</a:t>
            </a:r>
            <a:endParaRPr b="0" i="0" sz="1300" u="none" cap="none" strike="noStrike">
              <a:solidFill>
                <a:schemeClr val="dk1"/>
              </a:solidFill>
              <a:latin typeface="Calibri"/>
              <a:ea typeface="Calibri"/>
              <a:cs typeface="Calibri"/>
              <a:sym typeface="Calibri"/>
            </a:endParaRPr>
          </a:p>
        </p:txBody>
      </p:sp>
      <p:sp>
        <p:nvSpPr>
          <p:cNvPr id="319" name="Google Shape;319;p14"/>
          <p:cNvSpPr txBox="1"/>
          <p:nvPr/>
        </p:nvSpPr>
        <p:spPr>
          <a:xfrm>
            <a:off x="5577840" y="7726680"/>
            <a:ext cx="2880360" cy="384048"/>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700"/>
              <a:buFont typeface="Arial"/>
              <a:buNone/>
            </a:pPr>
            <a:r>
              <a:rPr b="1" i="0" lang="iw-IL" sz="1700" u="none" cap="none" strike="noStrike">
                <a:solidFill>
                  <a:srgbClr val="E9E9ED"/>
                </a:solidFill>
                <a:latin typeface="Arial"/>
                <a:ea typeface="Arial"/>
                <a:cs typeface="Arial"/>
                <a:sym typeface="Arial"/>
              </a:rPr>
              <a:t>בזמן ריצה</a:t>
            </a:r>
            <a:endParaRPr b="0" i="0" sz="1700" u="none" cap="none" strike="noStrike">
              <a:solidFill>
                <a:schemeClr val="dk1"/>
              </a:solidFill>
              <a:latin typeface="Calibri"/>
              <a:ea typeface="Calibri"/>
              <a:cs typeface="Calibri"/>
              <a:sym typeface="Calibri"/>
            </a:endParaRPr>
          </a:p>
        </p:txBody>
      </p:sp>
      <p:sp>
        <p:nvSpPr>
          <p:cNvPr id="320" name="Google Shape;320;p14"/>
          <p:cNvSpPr txBox="1"/>
          <p:nvPr/>
        </p:nvSpPr>
        <p:spPr>
          <a:xfrm>
            <a:off x="5577840" y="8156448"/>
            <a:ext cx="3383280" cy="8686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500"/>
              <a:buFont typeface="Arial"/>
              <a:buNone/>
            </a:pPr>
            <a:r>
              <a:rPr b="0" i="0" lang="iw-IL" sz="1500" u="none" cap="none" strike="noStrike">
                <a:solidFill>
                  <a:srgbClr val="CFD3E5"/>
                </a:solidFill>
                <a:latin typeface="Arial"/>
                <a:ea typeface="Arial"/>
                <a:cs typeface="Arial"/>
                <a:sym typeface="Arial"/>
              </a:rPr>
              <a:t>המוניטור דואג לבדיקה חוזרת בזמן (BPpy בוחר את הפעולה), ו-Datalog בודק את כל המערכת.</a:t>
            </a:r>
            <a:endParaRPr b="0" i="0" sz="1500" u="none" cap="none" strike="noStrike">
              <a:solidFill>
                <a:schemeClr val="dk1"/>
              </a:solidFill>
              <a:latin typeface="Calibri"/>
              <a:ea typeface="Calibri"/>
              <a:cs typeface="Calibri"/>
              <a:sym typeface="Calibri"/>
            </a:endParaRPr>
          </a:p>
        </p:txBody>
      </p:sp>
      <p:sp>
        <p:nvSpPr>
          <p:cNvPr id="321" name="Google Shape;321;p14"/>
          <p:cNvSpPr/>
          <p:nvPr/>
        </p:nvSpPr>
        <p:spPr>
          <a:xfrm>
            <a:off x="1463040" y="7635240"/>
            <a:ext cx="3749040" cy="1417320"/>
          </a:xfrm>
          <a:prstGeom prst="roundRect">
            <a:avLst>
              <a:gd fmla="val 7742" name="adj"/>
            </a:avLst>
          </a:prstGeom>
          <a:solidFill>
            <a:srgbClr val="1F2046"/>
          </a:solidFill>
          <a:ln cap="flat" cmpd="sng" w="12700">
            <a:solidFill>
              <a:srgbClr val="3A3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4"/>
          <p:cNvSpPr/>
          <p:nvPr/>
        </p:nvSpPr>
        <p:spPr>
          <a:xfrm>
            <a:off x="4663440" y="7744968"/>
            <a:ext cx="384048" cy="384048"/>
          </a:xfrm>
          <a:prstGeom prst="ellipse">
            <a:avLst/>
          </a:prstGeom>
          <a:solidFill>
            <a:srgbClr val="D2CEFD"/>
          </a:solidFill>
          <a:ln cap="flat" cmpd="sng" w="9525">
            <a:solidFill>
              <a:srgbClr val="D2CE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4"/>
          <p:cNvSpPr txBox="1"/>
          <p:nvPr/>
        </p:nvSpPr>
        <p:spPr>
          <a:xfrm>
            <a:off x="4663440" y="77449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826"/>
              </a:buClr>
              <a:buSzPts val="1300"/>
              <a:buFont typeface="Arial"/>
              <a:buNone/>
            </a:pPr>
            <a:r>
              <a:rPr b="1" i="0" lang="iw-IL" sz="1300" u="none" cap="none" strike="noStrike">
                <a:solidFill>
                  <a:srgbClr val="161826"/>
                </a:solidFill>
                <a:latin typeface="Arial"/>
                <a:ea typeface="Arial"/>
                <a:cs typeface="Arial"/>
                <a:sym typeface="Arial"/>
              </a:rPr>
              <a:t>4</a:t>
            </a:r>
            <a:endParaRPr b="0" i="0" sz="1300" u="none" cap="none" strike="noStrike">
              <a:solidFill>
                <a:schemeClr val="dk1"/>
              </a:solidFill>
              <a:latin typeface="Calibri"/>
              <a:ea typeface="Calibri"/>
              <a:cs typeface="Calibri"/>
              <a:sym typeface="Calibri"/>
            </a:endParaRPr>
          </a:p>
        </p:txBody>
      </p:sp>
      <p:sp>
        <p:nvSpPr>
          <p:cNvPr id="324" name="Google Shape;324;p14"/>
          <p:cNvSpPr txBox="1"/>
          <p:nvPr/>
        </p:nvSpPr>
        <p:spPr>
          <a:xfrm>
            <a:off x="1645920" y="7726680"/>
            <a:ext cx="2880360" cy="384048"/>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700"/>
              <a:buFont typeface="Arial"/>
              <a:buNone/>
            </a:pPr>
            <a:r>
              <a:rPr b="1" i="0" lang="iw-IL" sz="1700" u="none" cap="none" strike="noStrike">
                <a:solidFill>
                  <a:srgbClr val="E9E9ED"/>
                </a:solidFill>
                <a:latin typeface="Arial"/>
                <a:ea typeface="Arial"/>
                <a:cs typeface="Arial"/>
                <a:sym typeface="Arial"/>
              </a:rPr>
              <a:t>אחרי הריצה</a:t>
            </a:r>
            <a:endParaRPr b="0" i="0" sz="1700" u="none" cap="none" strike="noStrike">
              <a:solidFill>
                <a:schemeClr val="dk1"/>
              </a:solidFill>
              <a:latin typeface="Calibri"/>
              <a:ea typeface="Calibri"/>
              <a:cs typeface="Calibri"/>
              <a:sym typeface="Calibri"/>
            </a:endParaRPr>
          </a:p>
        </p:txBody>
      </p:sp>
      <p:sp>
        <p:nvSpPr>
          <p:cNvPr id="325" name="Google Shape;325;p14"/>
          <p:cNvSpPr txBox="1"/>
          <p:nvPr/>
        </p:nvSpPr>
        <p:spPr>
          <a:xfrm>
            <a:off x="1645920" y="8156448"/>
            <a:ext cx="3383280" cy="8686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CFD3E5"/>
              </a:buClr>
              <a:buSzPts val="1500"/>
              <a:buFont typeface="Arial"/>
              <a:buNone/>
            </a:pPr>
            <a:r>
              <a:rPr b="0" i="0" lang="iw-IL" sz="1500" u="none" cap="none" strike="noStrike">
                <a:solidFill>
                  <a:srgbClr val="CFD3E5"/>
                </a:solidFill>
                <a:latin typeface="Arial"/>
                <a:ea typeface="Arial"/>
                <a:cs typeface="Arial"/>
                <a:sym typeface="Arial"/>
              </a:rPr>
              <a:t>בדיקת העקבות קוראת את היומן ומסמנת כל הפרה של ששת כללי הרצף.</a:t>
            </a:r>
            <a:endParaRPr b="0" i="0" sz="1500" u="none" cap="none" strike="noStrike">
              <a:solidFill>
                <a:schemeClr val="dk1"/>
              </a:solidFill>
              <a:latin typeface="Calibri"/>
              <a:ea typeface="Calibri"/>
              <a:cs typeface="Calibri"/>
              <a:sym typeface="Calibri"/>
            </a:endParaRPr>
          </a:p>
        </p:txBody>
      </p:sp>
      <p:sp>
        <p:nvSpPr>
          <p:cNvPr id="326" name="Google Shape;326;p14"/>
          <p:cNvSpPr txBox="1"/>
          <p:nvPr/>
        </p:nvSpPr>
        <p:spPr>
          <a:xfrm>
            <a:off x="1280160" y="9144000"/>
            <a:ext cx="15727680" cy="41148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Clr>
                <a:srgbClr val="E9E9ED"/>
              </a:buClr>
              <a:buSzPts val="1700"/>
              <a:buFont typeface="Arial"/>
              <a:buNone/>
            </a:pPr>
            <a:r>
              <a:rPr b="1" i="0" lang="iw-IL" sz="1700" u="none" cap="none" strike="noStrike">
                <a:solidFill>
                  <a:srgbClr val="E9E9ED"/>
                </a:solidFill>
                <a:latin typeface="Arial"/>
                <a:ea typeface="Arial"/>
                <a:cs typeface="Arial"/>
                <a:sym typeface="Arial"/>
              </a:rPr>
              <a:t>כל סירוב מחזיר את המקרה לאישור אנושי או עוצר אותו, ואף פעם לא מקדם אותו.</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2026-09-30T09:20:33Z</dcterms:created>
  <dc:creator>PptxGenJS</dc:creator>
</cp:coreProperties>
</file>