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iTgxPS/blSn+kcRzuxUrxvtKVr6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barakuda126"/>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CC930A-5F64-4B84-AD67-B738C2A8A3AE}">
  <a:tblStyle styleId="{04CC930A-5F64-4B84-AD67-B738C2A8A3A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09:21:18.311">
    <p:pos x="4291" y="2073"/>
    <p:text>חרי כמה סבבי תיקון שנכשלו, המקרה עובר לאחראית משמרת.
G(correction_rounds ≥ N → F handed_up)
לברר</p:text>
    <p:extLst>
      <p:ext uri="{C676402C-5697-4E1C-873F-D02D1690AC5C}">
        <p15:threadingInfo timeZoneBias="0"/>
      </p:ext>
      <p:ext uri="http://customooxmlschemas.google.com/">
        <go:slidesCustomData xmlns:go="http://customooxmlschemas.google.com/" commentPostId="AAACH8RNTv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iw-IL"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 name="Google Shape;3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 name="Google Shape;3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omments" Target="../comments/commen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62A60"/>
        </a:solidFill>
      </p:bgPr>
    </p:bg>
    <p:spTree>
      <p:nvGrpSpPr>
        <p:cNvPr id="15" name="Shape 15"/>
        <p:cNvGrpSpPr/>
        <p:nvPr/>
      </p:nvGrpSpPr>
      <p:grpSpPr>
        <a:xfrm>
          <a:off x="0" y="0"/>
          <a:ext cx="0" cy="0"/>
          <a:chOff x="0" y="0"/>
          <a:chExt cx="0" cy="0"/>
        </a:xfrm>
      </p:grpSpPr>
      <p:sp>
        <p:nvSpPr>
          <p:cNvPr id="16" name="Google Shape;16;p1"/>
          <p:cNvSpPr/>
          <p:nvPr/>
        </p:nvSpPr>
        <p:spPr>
          <a:xfrm>
            <a:off x="-3657600" y="-5943600"/>
            <a:ext cx="10058400" cy="10058400"/>
          </a:xfrm>
          <a:prstGeom prst="ellipse">
            <a:avLst/>
          </a:prstGeom>
          <a:solidFill>
            <a:srgbClr val="2D3270">
              <a:alpha val="60000"/>
            </a:srgbClr>
          </a:solidFill>
          <a:ln cap="flat" cmpd="sng" w="12700">
            <a:solidFill>
              <a:srgbClr val="2D32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txBox="1"/>
          <p:nvPr/>
        </p:nvSpPr>
        <p:spPr>
          <a:xfrm>
            <a:off x="914400" y="731520"/>
            <a:ext cx="16459200" cy="4114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1800"/>
              <a:buFont typeface="Courier New"/>
              <a:buNone/>
            </a:pPr>
            <a:r>
              <a:rPr lang="iw-IL" sz="1800">
                <a:solidFill>
                  <a:srgbClr val="D2CEFD"/>
                </a:solidFill>
                <a:latin typeface="Courier New"/>
                <a:ea typeface="Courier New"/>
                <a:cs typeface="Courier New"/>
                <a:sym typeface="Courier New"/>
              </a:rPr>
              <a:t>BIU </a:t>
            </a:r>
            <a:r>
              <a:rPr b="0" i="0" lang="iw-IL" sz="1800" u="none" cap="none" strike="noStrike">
                <a:solidFill>
                  <a:srgbClr val="D2CEFD"/>
                </a:solidFill>
                <a:latin typeface="Courier New"/>
                <a:ea typeface="Courier New"/>
                <a:cs typeface="Courier New"/>
                <a:sym typeface="Courier New"/>
              </a:rPr>
              <a:t>AI Architecture</a:t>
            </a:r>
            <a:endParaRPr b="0" i="0" sz="1800" u="none" cap="none" strike="noStrike">
              <a:solidFill>
                <a:schemeClr val="dk1"/>
              </a:solidFill>
              <a:latin typeface="Calibri"/>
              <a:ea typeface="Calibri"/>
              <a:cs typeface="Calibri"/>
              <a:sym typeface="Calibri"/>
            </a:endParaRPr>
          </a:p>
        </p:txBody>
      </p:sp>
      <p:sp>
        <p:nvSpPr>
          <p:cNvPr id="18" name="Google Shape;18;p1"/>
          <p:cNvSpPr txBox="1"/>
          <p:nvPr/>
        </p:nvSpPr>
        <p:spPr>
          <a:xfrm>
            <a:off x="914400" y="1371600"/>
            <a:ext cx="16459200" cy="1828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3F5FE"/>
              </a:buClr>
              <a:buSzPts val="11000"/>
              <a:buFont typeface="Arial"/>
              <a:buNone/>
            </a:pPr>
            <a:r>
              <a:rPr b="0" i="0" lang="iw-IL" sz="11000" u="none" cap="none" strike="noStrike">
                <a:solidFill>
                  <a:srgbClr val="F3F5FE"/>
                </a:solidFill>
                <a:latin typeface="Arial"/>
                <a:ea typeface="Arial"/>
                <a:cs typeface="Arial"/>
                <a:sym typeface="Arial"/>
              </a:rPr>
              <a:t>Triage Guard</a:t>
            </a:r>
            <a:endParaRPr b="0" i="0" sz="11000" u="none" cap="none" strike="noStrike">
              <a:solidFill>
                <a:schemeClr val="dk1"/>
              </a:solidFill>
              <a:latin typeface="Calibri"/>
              <a:ea typeface="Calibri"/>
              <a:cs typeface="Calibri"/>
              <a:sym typeface="Calibri"/>
            </a:endParaRPr>
          </a:p>
        </p:txBody>
      </p:sp>
      <p:sp>
        <p:nvSpPr>
          <p:cNvPr id="19" name="Google Shape;19;p1"/>
          <p:cNvSpPr txBox="1"/>
          <p:nvPr/>
        </p:nvSpPr>
        <p:spPr>
          <a:xfrm>
            <a:off x="914400" y="3383280"/>
            <a:ext cx="1645920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3200"/>
              <a:buFont typeface="Arial"/>
              <a:buNone/>
            </a:pPr>
            <a:r>
              <a:rPr b="0" i="0" lang="iw-IL" sz="3200" u="none" cap="none" strike="noStrike">
                <a:solidFill>
                  <a:srgbClr val="CFD3E5"/>
                </a:solidFill>
                <a:latin typeface="Arial"/>
                <a:ea typeface="Arial"/>
                <a:cs typeface="Arial"/>
                <a:sym typeface="Arial"/>
              </a:rPr>
              <a:t>ארכיטקטורת AI נוירו-סימבולית לטריאז' בחדר מיון</a:t>
            </a:r>
            <a:endParaRPr b="0" i="0" sz="3200" u="none" cap="none" strike="noStrike">
              <a:solidFill>
                <a:schemeClr val="dk1"/>
              </a:solidFill>
              <a:latin typeface="Calibri"/>
              <a:ea typeface="Calibri"/>
              <a:cs typeface="Calibri"/>
              <a:sym typeface="Calibri"/>
            </a:endParaRPr>
          </a:p>
        </p:txBody>
      </p:sp>
      <p:sp>
        <p:nvSpPr>
          <p:cNvPr id="20" name="Google Shape;20;p1"/>
          <p:cNvSpPr txBox="1"/>
          <p:nvPr/>
        </p:nvSpPr>
        <p:spPr>
          <a:xfrm>
            <a:off x="914400" y="4206240"/>
            <a:ext cx="1645920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2400"/>
              <a:buFont typeface="Arial"/>
              <a:buNone/>
            </a:pPr>
            <a:r>
              <a:rPr b="0" i="0" lang="iw-IL" sz="2400" u="none" cap="none" strike="noStrike">
                <a:solidFill>
                  <a:srgbClr val="9397AB"/>
                </a:solidFill>
                <a:latin typeface="Arial"/>
                <a:ea typeface="Arial"/>
                <a:cs typeface="Arial"/>
                <a:sym typeface="Arial"/>
              </a:rPr>
              <a:t>עידן בק · ברק אמיר</a:t>
            </a:r>
            <a:endParaRPr b="0" i="0" sz="2400" u="none" cap="none" strike="noStrike">
              <a:solidFill>
                <a:schemeClr val="dk1"/>
              </a:solidFill>
              <a:latin typeface="Calibri"/>
              <a:ea typeface="Calibri"/>
              <a:cs typeface="Calibri"/>
              <a:sym typeface="Calibri"/>
            </a:endParaRPr>
          </a:p>
        </p:txBody>
      </p:sp>
      <p:cxnSp>
        <p:nvCxnSpPr>
          <p:cNvPr id="21" name="Google Shape;21;p1"/>
          <p:cNvCxnSpPr/>
          <p:nvPr/>
        </p:nvCxnSpPr>
        <p:spPr>
          <a:xfrm>
            <a:off x="914400" y="5669280"/>
            <a:ext cx="16459200" cy="0"/>
          </a:xfrm>
          <a:prstGeom prst="straightConnector1">
            <a:avLst/>
          </a:prstGeom>
          <a:noFill/>
          <a:ln cap="flat" cmpd="sng" w="12700">
            <a:solidFill>
              <a:srgbClr val="4C5397"/>
            </a:solidFill>
            <a:prstDash val="solid"/>
            <a:round/>
            <a:headEnd len="sm" w="sm" type="none"/>
            <a:tailEnd len="sm" w="sm" type="none"/>
          </a:ln>
        </p:spPr>
      </p:cxnSp>
      <p:sp>
        <p:nvSpPr>
          <p:cNvPr id="22" name="Google Shape;22;p1"/>
          <p:cNvSpPr txBox="1"/>
          <p:nvPr/>
        </p:nvSpPr>
        <p:spPr>
          <a:xfrm>
            <a:off x="1225296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הבעיה</a:t>
            </a:r>
            <a:endParaRPr b="0" i="0" sz="1900" u="none" cap="none" strike="noStrike">
              <a:solidFill>
                <a:schemeClr val="dk1"/>
              </a:solidFill>
              <a:latin typeface="Calibri"/>
              <a:ea typeface="Calibri"/>
              <a:cs typeface="Calibri"/>
              <a:sym typeface="Calibri"/>
            </a:endParaRPr>
          </a:p>
        </p:txBody>
      </p:sp>
      <p:sp>
        <p:nvSpPr>
          <p:cNvPr id="23" name="Google Shape;23;p1"/>
          <p:cNvSpPr txBox="1"/>
          <p:nvPr/>
        </p:nvSpPr>
        <p:spPr>
          <a:xfrm>
            <a:off x="1225296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בחדר מיון עמוס, חולה במצב קשה יכול לקבל בטעות סיווג של "לא דחוף". הוא מחכה בתור, מצבו מחמיר, ואף אחד לא בודק אותו שוב בזמן.</a:t>
            </a:r>
            <a:endParaRPr b="0" i="0" sz="2000" u="none" cap="none" strike="noStrike">
              <a:solidFill>
                <a:schemeClr val="dk1"/>
              </a:solidFill>
              <a:latin typeface="Calibri"/>
              <a:ea typeface="Calibri"/>
              <a:cs typeface="Calibri"/>
              <a:sym typeface="Calibri"/>
            </a:endParaRPr>
          </a:p>
        </p:txBody>
      </p:sp>
      <p:sp>
        <p:nvSpPr>
          <p:cNvPr id="24" name="Google Shape;24;p1"/>
          <p:cNvSpPr txBox="1"/>
          <p:nvPr/>
        </p:nvSpPr>
        <p:spPr>
          <a:xfrm>
            <a:off x="658368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המשתמשים</a:t>
            </a:r>
            <a:endParaRPr b="0" i="0" sz="1900" u="none" cap="none" strike="noStrike">
              <a:solidFill>
                <a:schemeClr val="dk1"/>
              </a:solidFill>
              <a:latin typeface="Calibri"/>
              <a:ea typeface="Calibri"/>
              <a:cs typeface="Calibri"/>
              <a:sym typeface="Calibri"/>
            </a:endParaRPr>
          </a:p>
        </p:txBody>
      </p:sp>
      <p:sp>
        <p:nvSpPr>
          <p:cNvPr id="25" name="Google Shape;25;p1"/>
          <p:cNvSpPr txBox="1"/>
          <p:nvPr/>
        </p:nvSpPr>
        <p:spPr>
          <a:xfrm>
            <a:off x="658368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טריאז' ממלאת טופס ומציעה רמת דחיפות.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אחראית ואחראי משמרת מכריע</a:t>
            </a:r>
            <a:r>
              <a:rPr lang="iw-IL" sz="2000">
                <a:solidFill>
                  <a:srgbClr val="E9E9ED"/>
                </a:solidFill>
              </a:rPr>
              <a:t>ים</a:t>
            </a:r>
            <a:r>
              <a:rPr b="0" i="0" lang="iw-IL" sz="2000" u="none" cap="none" strike="noStrike">
                <a:solidFill>
                  <a:srgbClr val="E9E9ED"/>
                </a:solidFill>
                <a:latin typeface="Arial"/>
                <a:ea typeface="Arial"/>
                <a:cs typeface="Arial"/>
                <a:sym typeface="Arial"/>
              </a:rPr>
              <a:t> ומאשר</a:t>
            </a:r>
            <a:r>
              <a:rPr lang="iw-IL" sz="2000">
                <a:solidFill>
                  <a:srgbClr val="E9E9ED"/>
                </a:solidFill>
              </a:rPr>
              <a:t>ים</a:t>
            </a:r>
            <a:r>
              <a:rPr b="0" i="0" lang="iw-IL" sz="2000" u="none" cap="none" strike="noStrike">
                <a:solidFill>
                  <a:srgbClr val="E9E9ED"/>
                </a:solidFill>
                <a:latin typeface="Arial"/>
                <a:ea typeface="Arial"/>
                <a:cs typeface="Arial"/>
                <a:sym typeface="Arial"/>
              </a:rPr>
              <a:t> שחרור.</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טכנאי מטפל בתקלות.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9397AB"/>
              </a:buClr>
              <a:buSzPts val="2000"/>
              <a:buFont typeface="Arial"/>
              <a:buNone/>
            </a:pPr>
            <a:r>
              <a:rPr b="0" i="0" lang="iw-IL" sz="2000" u="none" cap="none" strike="noStrike">
                <a:solidFill>
                  <a:srgbClr val="9397AB"/>
                </a:solidFill>
                <a:latin typeface="Arial"/>
                <a:ea typeface="Arial"/>
                <a:cs typeface="Arial"/>
                <a:sym typeface="Arial"/>
              </a:rPr>
              <a:t>המטופלים הם הנושא של המערכת, לא המפעילים שלה.</a:t>
            </a:r>
            <a:endParaRPr b="0" i="0" sz="2000" u="none" cap="none" strike="noStrike">
              <a:solidFill>
                <a:schemeClr val="dk1"/>
              </a:solidFill>
              <a:latin typeface="Calibri"/>
              <a:ea typeface="Calibri"/>
              <a:cs typeface="Calibri"/>
              <a:sym typeface="Calibri"/>
            </a:endParaRPr>
          </a:p>
        </p:txBody>
      </p:sp>
      <p:sp>
        <p:nvSpPr>
          <p:cNvPr id="26" name="Google Shape;26;p1"/>
          <p:cNvSpPr txBox="1"/>
          <p:nvPr/>
        </p:nvSpPr>
        <p:spPr>
          <a:xfrm>
            <a:off x="91440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הסיכונים שהמערכת מצמצמת</a:t>
            </a:r>
            <a:endParaRPr b="0" i="0" sz="1900" u="none" cap="none" strike="noStrike">
              <a:solidFill>
                <a:schemeClr val="dk1"/>
              </a:solidFill>
              <a:latin typeface="Calibri"/>
              <a:ea typeface="Calibri"/>
              <a:cs typeface="Calibri"/>
              <a:sym typeface="Calibri"/>
            </a:endParaRPr>
          </a:p>
        </p:txBody>
      </p:sp>
      <p:sp>
        <p:nvSpPr>
          <p:cNvPr id="27" name="Google Shape;27;p1"/>
          <p:cNvSpPr txBox="1"/>
          <p:nvPr/>
        </p:nvSpPr>
        <p:spPr>
          <a:xfrm>
            <a:off x="91440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מטופל קריטי שממתין כאילו הוא שגרתי, פרטים מזהים של מטופל שדולפים, והחלטה שאין לה תיעוד או הסבר.</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32" name="Shape 32"/>
        <p:cNvGrpSpPr/>
        <p:nvPr/>
      </p:nvGrpSpPr>
      <p:grpSpPr>
        <a:xfrm>
          <a:off x="0" y="0"/>
          <a:ext cx="0" cy="0"/>
          <a:chOff x="0" y="0"/>
          <a:chExt cx="0" cy="0"/>
        </a:xfrm>
      </p:grpSpPr>
      <p:sp>
        <p:nvSpPr>
          <p:cNvPr id="33" name="Google Shape;33;p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02 · System Value</a:t>
            </a:r>
            <a:endParaRPr b="0" i="0" sz="1600" u="none" cap="none" strike="noStrike">
              <a:solidFill>
                <a:schemeClr val="dk1"/>
              </a:solidFill>
              <a:latin typeface="Calibri"/>
              <a:ea typeface="Calibri"/>
              <a:cs typeface="Calibri"/>
              <a:sym typeface="Calibri"/>
            </a:endParaRPr>
          </a:p>
        </p:txBody>
      </p:sp>
      <p:sp>
        <p:nvSpPr>
          <p:cNvPr id="34" name="Google Shape;34;p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הערך המערכתי</a:t>
            </a:r>
            <a:endParaRPr b="0" i="0" sz="4800" u="none" cap="none" strike="noStrike">
              <a:solidFill>
                <a:schemeClr val="dk1"/>
              </a:solidFill>
              <a:latin typeface="Calibri"/>
              <a:ea typeface="Calibri"/>
              <a:cs typeface="Calibri"/>
              <a:sym typeface="Calibri"/>
            </a:endParaRPr>
          </a:p>
        </p:txBody>
      </p:sp>
      <p:sp>
        <p:nvSpPr>
          <p:cNvPr id="35" name="Google Shape;35;p2"/>
          <p:cNvSpPr/>
          <p:nvPr/>
        </p:nvSpPr>
        <p:spPr>
          <a:xfrm>
            <a:off x="1225296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txBox="1"/>
          <p:nvPr/>
        </p:nvSpPr>
        <p:spPr>
          <a:xfrm>
            <a:off x="1261872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היום</a:t>
            </a:r>
            <a:endParaRPr b="0" i="0" sz="1900" u="none" cap="none" strike="noStrike">
              <a:solidFill>
                <a:schemeClr val="dk1"/>
              </a:solidFill>
              <a:latin typeface="Calibri"/>
              <a:ea typeface="Calibri"/>
              <a:cs typeface="Calibri"/>
              <a:sym typeface="Calibri"/>
            </a:endParaRPr>
          </a:p>
        </p:txBody>
      </p:sp>
      <p:sp>
        <p:nvSpPr>
          <p:cNvPr id="37" name="Google Shape;37;p2"/>
          <p:cNvSpPr txBox="1"/>
          <p:nvPr/>
        </p:nvSpPr>
        <p:spPr>
          <a:xfrm>
            <a:off x="12618720" y="3017520"/>
            <a:ext cx="438912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100"/>
              <a:buFont typeface="Arial"/>
              <a:buNone/>
            </a:pPr>
            <a:r>
              <a:rPr b="0" i="0" lang="iw-IL" sz="2100" u="none" cap="none" strike="noStrike">
                <a:solidFill>
                  <a:srgbClr val="E9E9ED"/>
                </a:solidFill>
                <a:latin typeface="Arial"/>
                <a:ea typeface="Arial"/>
                <a:cs typeface="Arial"/>
                <a:sym typeface="Arial"/>
              </a:rPr>
              <a:t>אחות אחת, תחת עומס, קובעת את רמת הדחיפות של כל מטופל. טעות מתגלה מאוחר, וההערכה החוזרת תלויה בזיכרון של הצוות.</a:t>
            </a:r>
            <a:endParaRPr b="0" i="0" sz="2100" u="none" cap="none" strike="noStrike">
              <a:solidFill>
                <a:schemeClr val="dk1"/>
              </a:solidFill>
              <a:latin typeface="Calibri"/>
              <a:ea typeface="Calibri"/>
              <a:cs typeface="Calibri"/>
              <a:sym typeface="Calibri"/>
            </a:endParaRPr>
          </a:p>
        </p:txBody>
      </p:sp>
      <p:sp>
        <p:nvSpPr>
          <p:cNvPr id="38" name="Google Shape;38;p2"/>
          <p:cNvSpPr/>
          <p:nvPr/>
        </p:nvSpPr>
        <p:spPr>
          <a:xfrm>
            <a:off x="658368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txBox="1"/>
          <p:nvPr/>
        </p:nvSpPr>
        <p:spPr>
          <a:xfrm>
            <a:off x="694944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עם Triage Guard</a:t>
            </a:r>
            <a:endParaRPr b="0" i="0" sz="1900" u="none" cap="none" strike="noStrike">
              <a:solidFill>
                <a:schemeClr val="dk1"/>
              </a:solidFill>
              <a:latin typeface="Calibri"/>
              <a:ea typeface="Calibri"/>
              <a:cs typeface="Calibri"/>
              <a:sym typeface="Calibri"/>
            </a:endParaRPr>
          </a:p>
        </p:txBody>
      </p:sp>
      <p:sp>
        <p:nvSpPr>
          <p:cNvPr id="40" name="Google Shape;40;p2"/>
          <p:cNvSpPr txBox="1"/>
          <p:nvPr/>
        </p:nvSpPr>
        <p:spPr>
          <a:xfrm>
            <a:off x="6949440" y="3017520"/>
            <a:ext cx="4389120" cy="292608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ה-AI נותן הצעה שנייה, לבדיקה צולבת מול האחות.</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אם הפער ביניהם גדול, </a:t>
            </a:r>
            <a:r>
              <a:rPr lang="iw-IL" sz="2100">
                <a:solidFill>
                  <a:srgbClr val="E9E9ED"/>
                </a:solidFill>
              </a:rPr>
              <a:t>עובר </a:t>
            </a:r>
            <a:r>
              <a:rPr lang="iw-IL" sz="2100">
                <a:solidFill>
                  <a:srgbClr val="E9E9ED"/>
                </a:solidFill>
              </a:rPr>
              <a:t>להחלטה</a:t>
            </a:r>
            <a:r>
              <a:rPr lang="iw-IL" sz="2100">
                <a:solidFill>
                  <a:srgbClr val="E9E9ED"/>
                </a:solidFill>
              </a:rPr>
              <a:t> אנושית</a:t>
            </a:r>
            <a:r>
              <a:rPr b="0" i="0" lang="iw-IL" sz="2100" u="none" cap="none" strike="noStrike">
                <a:solidFill>
                  <a:srgbClr val="E9E9ED"/>
                </a:solidFill>
                <a:latin typeface="Arial"/>
                <a:ea typeface="Arial"/>
                <a:cs typeface="Arial"/>
                <a:sym typeface="Arial"/>
              </a:rPr>
              <a:t>.</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כל מטופל שממתין מקבל טיימר להערכה חוזרת. ככל שהוא דחוף יותר, הטיימר קצר יותר.</a:t>
            </a:r>
            <a:endParaRPr b="0" i="0" sz="2100" u="none" cap="none" strike="noStrike">
              <a:solidFill>
                <a:schemeClr val="dk1"/>
              </a:solidFill>
              <a:latin typeface="Calibri"/>
              <a:ea typeface="Calibri"/>
              <a:cs typeface="Calibri"/>
              <a:sym typeface="Calibri"/>
            </a:endParaRPr>
          </a:p>
        </p:txBody>
      </p:sp>
      <p:sp>
        <p:nvSpPr>
          <p:cNvPr id="41" name="Google Shape;41;p2"/>
          <p:cNvSpPr/>
          <p:nvPr/>
        </p:nvSpPr>
        <p:spPr>
          <a:xfrm>
            <a:off x="914400" y="2103120"/>
            <a:ext cx="5120640" cy="4114800"/>
          </a:xfrm>
          <a:prstGeom prst="roundRect">
            <a:avLst>
              <a:gd fmla="val 266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txBox="1"/>
          <p:nvPr/>
        </p:nvSpPr>
        <p:spPr>
          <a:xfrm>
            <a:off x="128016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מדדי הצלחה</a:t>
            </a:r>
            <a:endParaRPr b="0" i="0" sz="1900" u="none" cap="none" strike="noStrike">
              <a:solidFill>
                <a:schemeClr val="dk1"/>
              </a:solidFill>
              <a:latin typeface="Calibri"/>
              <a:ea typeface="Calibri"/>
              <a:cs typeface="Calibri"/>
              <a:sym typeface="Calibri"/>
            </a:endParaRPr>
          </a:p>
        </p:txBody>
      </p:sp>
      <p:sp>
        <p:nvSpPr>
          <p:cNvPr id="43" name="Google Shape;43;p2"/>
          <p:cNvSpPr txBox="1"/>
          <p:nvPr/>
        </p:nvSpPr>
        <p:spPr>
          <a:xfrm>
            <a:off x="2468880" y="3063240"/>
            <a:ext cx="3200400" cy="82296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lang="iw-IL" sz="1800">
                <a:solidFill>
                  <a:srgbClr val="E9E9ED"/>
                </a:solidFill>
              </a:rPr>
              <a:t>0 </a:t>
            </a:r>
            <a:r>
              <a:rPr b="0" i="0" lang="iw-IL" sz="1800" u="none" cap="none" strike="noStrike">
                <a:solidFill>
                  <a:srgbClr val="E9E9ED"/>
                </a:solidFill>
                <a:latin typeface="Arial"/>
                <a:ea typeface="Arial"/>
                <a:cs typeface="Arial"/>
                <a:sym typeface="Arial"/>
              </a:rPr>
              <a:t>מטופלים שמחכים אחרי מטופל פחות דחוף מהם</a:t>
            </a:r>
            <a:endParaRPr b="0" i="0" sz="1800" u="none" cap="none" strike="noStrike">
              <a:solidFill>
                <a:schemeClr val="dk1"/>
              </a:solidFill>
              <a:latin typeface="Calibri"/>
              <a:ea typeface="Calibri"/>
              <a:cs typeface="Calibri"/>
              <a:sym typeface="Calibri"/>
            </a:endParaRPr>
          </a:p>
        </p:txBody>
      </p:sp>
      <p:sp>
        <p:nvSpPr>
          <p:cNvPr id="44" name="Google Shape;44;p2"/>
          <p:cNvSpPr txBox="1"/>
          <p:nvPr/>
        </p:nvSpPr>
        <p:spPr>
          <a:xfrm>
            <a:off x="1280160" y="4069080"/>
            <a:ext cx="4389120" cy="2011680"/>
          </a:xfrm>
          <a:prstGeom prst="rect">
            <a:avLst/>
          </a:prstGeom>
          <a:noFill/>
          <a:ln>
            <a:noFill/>
          </a:ln>
        </p:spPr>
        <p:txBody>
          <a:bodyPr anchorCtr="0" anchor="t" bIns="0" lIns="0" spcFirstLastPara="1" rIns="0" wrap="square" tIns="0">
            <a:noAutofit/>
          </a:bodyPr>
          <a:lstStyle/>
          <a:p>
            <a:pPr indent="-342900" lvl="0" marL="457200" rtl="1" algn="r">
              <a:spcBef>
                <a:spcPts val="0"/>
              </a:spcBef>
              <a:spcAft>
                <a:spcPts val="0"/>
              </a:spcAft>
              <a:buClr>
                <a:srgbClr val="E9E9ED"/>
              </a:buClr>
              <a:buSzPts val="1800"/>
              <a:buChar char="•"/>
            </a:pPr>
            <a:r>
              <a:rPr lang="iw-IL" sz="1800">
                <a:solidFill>
                  <a:srgbClr val="E9E9ED"/>
                </a:solidFill>
              </a:rPr>
              <a:t>אף מטופל לא נשכח </a:t>
            </a:r>
            <a:endParaRPr sz="1800">
              <a:solidFill>
                <a:srgbClr val="E9E9ED"/>
              </a:solidFill>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a:t>
            </a:r>
            <a:r>
              <a:rPr b="0" i="0" lang="iw-IL" sz="1800" u="none" cap="none" strike="noStrike">
                <a:solidFill>
                  <a:srgbClr val="E9E9ED"/>
                </a:solidFill>
                <a:latin typeface="Arial"/>
                <a:ea typeface="Arial"/>
                <a:cs typeface="Arial"/>
                <a:sym typeface="Arial"/>
              </a:rPr>
              <a:t> מטופל לא מתחיל טיפול בלי בדיקת בטיחות ואישור נדרש.</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 פרט מזהה לא מגיע ל-AI</a:t>
            </a:r>
            <a:r>
              <a:rPr lang="iw-IL" sz="1800">
                <a:solidFill>
                  <a:srgbClr val="E9E9ED"/>
                </a:solidFill>
              </a:rPr>
              <a:t> (מייל, שם, ת"ז…)</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כל פעולה נרשמת ביומן המקרה, עם הסבר.</a:t>
            </a:r>
            <a:endParaRPr b="0" i="0" sz="1800" u="none" cap="none" strike="noStrike">
              <a:solidFill>
                <a:schemeClr val="dk1"/>
              </a:solidFill>
              <a:latin typeface="Calibri"/>
              <a:ea typeface="Calibri"/>
              <a:cs typeface="Calibri"/>
              <a:sym typeface="Calibri"/>
            </a:endParaRPr>
          </a:p>
        </p:txBody>
      </p:sp>
      <p:sp>
        <p:nvSpPr>
          <p:cNvPr id="45" name="Google Shape;45;p2"/>
          <p:cNvSpPr/>
          <p:nvPr/>
        </p:nvSpPr>
        <p:spPr>
          <a:xfrm>
            <a:off x="1225296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txBox="1"/>
          <p:nvPr/>
        </p:nvSpPr>
        <p:spPr>
          <a:xfrm>
            <a:off x="1261872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כללים?</a:t>
            </a:r>
            <a:endParaRPr b="0" i="0" sz="1900" u="none" cap="none" strike="noStrike">
              <a:solidFill>
                <a:schemeClr val="dk1"/>
              </a:solidFill>
              <a:latin typeface="Calibri"/>
              <a:ea typeface="Calibri"/>
              <a:cs typeface="Calibri"/>
              <a:sym typeface="Calibri"/>
            </a:endParaRPr>
          </a:p>
        </p:txBody>
      </p:sp>
      <p:sp>
        <p:nvSpPr>
          <p:cNvPr id="47" name="Google Shape;47;p2"/>
          <p:cNvSpPr txBox="1"/>
          <p:nvPr/>
        </p:nvSpPr>
        <p:spPr>
          <a:xfrm>
            <a:off x="1261872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ההחלטה כמה מטופל דחוף דורשת שיקול דעת קליני, ואין לה רשימה סגורה של חוקים.</a:t>
            </a:r>
            <a:endParaRPr b="0" i="0" sz="1900" u="none" cap="none" strike="noStrike">
              <a:solidFill>
                <a:schemeClr val="dk1"/>
              </a:solidFill>
              <a:latin typeface="Calibri"/>
              <a:ea typeface="Calibri"/>
              <a:cs typeface="Calibri"/>
              <a:sym typeface="Calibri"/>
            </a:endParaRPr>
          </a:p>
        </p:txBody>
      </p:sp>
      <p:sp>
        <p:nvSpPr>
          <p:cNvPr id="48" name="Google Shape;48;p2"/>
          <p:cNvSpPr/>
          <p:nvPr/>
        </p:nvSpPr>
        <p:spPr>
          <a:xfrm>
            <a:off x="658368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txBox="1"/>
          <p:nvPr/>
        </p:nvSpPr>
        <p:spPr>
          <a:xfrm>
            <a:off x="694944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AI?</a:t>
            </a:r>
            <a:endParaRPr b="0" i="0" sz="1900" u="none" cap="none" strike="noStrike">
              <a:solidFill>
                <a:schemeClr val="dk1"/>
              </a:solidFill>
              <a:latin typeface="Calibri"/>
              <a:ea typeface="Calibri"/>
              <a:cs typeface="Calibri"/>
              <a:sym typeface="Calibri"/>
            </a:endParaRPr>
          </a:p>
        </p:txBody>
      </p:sp>
      <p:sp>
        <p:nvSpPr>
          <p:cNvPr id="50" name="Google Shape;50;p2"/>
          <p:cNvSpPr txBox="1"/>
          <p:nvPr/>
        </p:nvSpPr>
        <p:spPr>
          <a:xfrm>
            <a:off x="694944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ה-AI יכול לטעות, הוא לא נותן דין וחשבון, ואפשר לנסות "לשכנע" אותו.</a:t>
            </a:r>
            <a:endParaRPr b="0" i="0" sz="1900" u="none" cap="none" strike="noStrike">
              <a:solidFill>
                <a:schemeClr val="dk1"/>
              </a:solidFill>
              <a:latin typeface="Calibri"/>
              <a:ea typeface="Calibri"/>
              <a:cs typeface="Calibri"/>
              <a:sym typeface="Calibri"/>
            </a:endParaRPr>
          </a:p>
        </p:txBody>
      </p:sp>
      <p:sp>
        <p:nvSpPr>
          <p:cNvPr id="51" name="Google Shape;51;p2"/>
          <p:cNvSpPr txBox="1"/>
          <p:nvPr/>
        </p:nvSpPr>
        <p:spPr>
          <a:xfrm>
            <a:off x="1097280" y="6766560"/>
            <a:ext cx="4754880" cy="210312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ה-AI רק מציע.</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הכללים מחליטים.</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בן אדם מאשר כשזה חשוב.</a:t>
            </a:r>
            <a:endParaRPr b="0" i="0" sz="2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56" name="Shape 56"/>
        <p:cNvGrpSpPr/>
        <p:nvPr/>
      </p:nvGrpSpPr>
      <p:grpSpPr>
        <a:xfrm>
          <a:off x="0" y="0"/>
          <a:ext cx="0" cy="0"/>
          <a:chOff x="0" y="0"/>
          <a:chExt cx="0" cy="0"/>
        </a:xfrm>
      </p:grpSpPr>
      <p:sp>
        <p:nvSpPr>
          <p:cNvPr id="57" name="Google Shape;57;p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03 · Technology</a:t>
            </a:r>
            <a:endParaRPr b="0" i="0" sz="1600" u="none" cap="none" strike="noStrike">
              <a:solidFill>
                <a:schemeClr val="dk1"/>
              </a:solidFill>
              <a:latin typeface="Calibri"/>
              <a:ea typeface="Calibri"/>
              <a:cs typeface="Calibri"/>
              <a:sym typeface="Calibri"/>
            </a:endParaRPr>
          </a:p>
        </p:txBody>
      </p:sp>
      <p:sp>
        <p:nvSpPr>
          <p:cNvPr id="58" name="Google Shape;58;p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הטכנולוגיות, ולמה בחרנו בכל אחת</a:t>
            </a:r>
            <a:endParaRPr b="0" i="0" sz="4800" u="none" cap="none" strike="noStrike">
              <a:solidFill>
                <a:schemeClr val="dk1"/>
              </a:solidFill>
              <a:latin typeface="Calibri"/>
              <a:ea typeface="Calibri"/>
              <a:cs typeface="Calibri"/>
              <a:sym typeface="Calibri"/>
            </a:endParaRPr>
          </a:p>
        </p:txBody>
      </p:sp>
      <p:graphicFrame>
        <p:nvGraphicFramePr>
          <p:cNvPr id="59" name="Google Shape;59;p3"/>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3474725"/>
                <a:gridCol w="10058400"/>
                <a:gridCol w="2926075"/>
              </a:tblGrid>
              <a:tr h="5486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מתי היא רצה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היא עושה בשבילנו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טכנולוגיה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בכל שלב</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כל מעבר בין שלבים מוגדר מראש, אז המערכת לא יכולה לאלתר. המצב נשמר במסד הנתונים אחרי כל שלב, ואם המערכת נעצרת, המקרה ממשיך בדיוק מאותה נקודה.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LangGraph</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פעם אחת לכל </a:t>
                      </a:r>
                      <a:r>
                        <a:rPr lang="iw-IL" sz="1950">
                          <a:solidFill>
                            <a:srgbClr val="E9E9ED"/>
                          </a:solidFill>
                        </a:rPr>
                        <a:t>סיווג</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קורא את הנתונים הרפואיים ומציע רמת דחיפות. זה השלב היחיד שדורש שיקול דעת.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מודל AI (LLM)</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לפני כל פעולה רגישה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מנוע המדיניות. קובע מה מותר לעשות ומה מותר להעביר ל-AI. המדיניות כתובה בקובץ נפרד מהקוד.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OPA</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שהרשומה של המקרה הגיונית, ומסביר במילים למה משהו נחסם.</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Prolog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את כל המערכת יחד: האם יש מטופל שאף טיימר לא שומר עליו.</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Datalog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במוניטור</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בוחר לכל טיימר פעולה אחת, וחוסם פעולה לא בטוחה כמו שליחה כפולה או התראה מיותרת.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BPpy</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D2CEFD"/>
                        </a:buClr>
                        <a:buSzPts val="1950"/>
                        <a:buFont typeface="Arial"/>
                        <a:buNone/>
                      </a:pPr>
                      <a:r>
                        <a:rPr lang="iw-IL" sz="1950" u="none" cap="none" strike="noStrike">
                          <a:solidFill>
                            <a:srgbClr val="D2CEFD"/>
                          </a:solidFill>
                          <a:latin typeface="Arial"/>
                          <a:ea typeface="Arial"/>
                          <a:cs typeface="Arial"/>
                          <a:sym typeface="Arial"/>
                        </a:rPr>
                        <a:t>זמן תכנון, לפני שיש מטופל אחד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מוכיח מתמטית שהכללים נכונים לכל קלט אפשרי, במקום לבדוק רק כמה דוגמאות.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Z3</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תמיד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מסד הנתונים. שומר כל מקרה, כל טיימר ואת יומן המקרה, כך ששום דבר לא הולך לאיבוד.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Postgres</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ברקע</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מציג כל ריצה שלב אחרי שלב, כך שרואים איפה משהו האט או נכשל.</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Langfuse</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שרת קטן ומהיר לכל שירות (ה-board ומערכת הרשומות).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FastAPI</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64" name="Shape 64"/>
        <p:cNvGrpSpPr/>
        <p:nvPr/>
      </p:nvGrpSpPr>
      <p:grpSpPr>
        <a:xfrm>
          <a:off x="0" y="0"/>
          <a:ext cx="0" cy="0"/>
          <a:chOff x="0" y="0"/>
          <a:chExt cx="0" cy="0"/>
        </a:xfrm>
      </p:grpSpPr>
      <p:sp>
        <p:nvSpPr>
          <p:cNvPr id="65" name="Google Shape;65;p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04 · State Machine</a:t>
            </a:r>
            <a:endParaRPr b="0" i="0" sz="1600" u="none" cap="none" strike="noStrike">
              <a:solidFill>
                <a:schemeClr val="dk1"/>
              </a:solidFill>
              <a:latin typeface="Calibri"/>
              <a:ea typeface="Calibri"/>
              <a:cs typeface="Calibri"/>
              <a:sym typeface="Calibri"/>
            </a:endParaRPr>
          </a:p>
        </p:txBody>
      </p:sp>
      <p:sp>
        <p:nvSpPr>
          <p:cNvPr id="66" name="Google Shape;66;p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מחזור החיים של מקרה</a:t>
            </a:r>
            <a:endParaRPr b="0" i="0" sz="4800" u="none" cap="none" strike="noStrike">
              <a:solidFill>
                <a:schemeClr val="dk1"/>
              </a:solidFill>
              <a:latin typeface="Calibri"/>
              <a:ea typeface="Calibri"/>
              <a:cs typeface="Calibri"/>
              <a:sym typeface="Calibri"/>
            </a:endParaRPr>
          </a:p>
        </p:txBody>
      </p:sp>
      <p:sp>
        <p:nvSpPr>
          <p:cNvPr id="67" name="Google Shape;67;p4"/>
          <p:cNvSpPr txBox="1"/>
          <p:nvPr/>
        </p:nvSpPr>
        <p:spPr>
          <a:xfrm>
            <a:off x="914400" y="178308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המסלול הרגיל של מטופל</a:t>
            </a:r>
            <a:endParaRPr b="0" i="0" sz="1900" u="none" cap="none" strike="noStrike">
              <a:solidFill>
                <a:schemeClr val="dk1"/>
              </a:solidFill>
              <a:latin typeface="Calibri"/>
              <a:ea typeface="Calibri"/>
              <a:cs typeface="Calibri"/>
              <a:sym typeface="Calibri"/>
            </a:endParaRPr>
          </a:p>
        </p:txBody>
      </p:sp>
      <p:sp>
        <p:nvSpPr>
          <p:cNvPr id="68" name="Google Shape;68;p4"/>
          <p:cNvSpPr/>
          <p:nvPr/>
        </p:nvSpPr>
        <p:spPr>
          <a:xfrm>
            <a:off x="1536192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4"/>
          <p:cNvSpPr/>
          <p:nvPr/>
        </p:nvSpPr>
        <p:spPr>
          <a:xfrm>
            <a:off x="1668780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txBox="1"/>
          <p:nvPr/>
        </p:nvSpPr>
        <p:spPr>
          <a:xfrm>
            <a:off x="1668780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71" name="Google Shape;71;p4"/>
          <p:cNvSpPr txBox="1"/>
          <p:nvPr/>
        </p:nvSpPr>
        <p:spPr>
          <a:xfrm>
            <a:off x="1554480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קליטה</a:t>
            </a:r>
            <a:endParaRPr b="0" i="0" sz="1900" u="none" cap="none" strike="noStrike">
              <a:solidFill>
                <a:schemeClr val="dk1"/>
              </a:solidFill>
              <a:latin typeface="Calibri"/>
              <a:ea typeface="Calibri"/>
              <a:cs typeface="Calibri"/>
              <a:sym typeface="Calibri"/>
            </a:endParaRPr>
          </a:p>
        </p:txBody>
      </p:sp>
      <p:sp>
        <p:nvSpPr>
          <p:cNvPr id="72" name="Google Shape;72;p4"/>
          <p:cNvSpPr txBox="1"/>
          <p:nvPr/>
        </p:nvSpPr>
        <p:spPr>
          <a:xfrm>
            <a:off x="1554480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האחות ממלאת טופס ומציעה רמת דחיפות</a:t>
            </a:r>
            <a:endParaRPr b="0" i="0" sz="1650" u="none" cap="none" strike="noStrike">
              <a:solidFill>
                <a:schemeClr val="dk1"/>
              </a:solidFill>
              <a:latin typeface="Calibri"/>
              <a:ea typeface="Calibri"/>
              <a:cs typeface="Calibri"/>
              <a:sym typeface="Calibri"/>
            </a:endParaRPr>
          </a:p>
        </p:txBody>
      </p:sp>
      <p:sp>
        <p:nvSpPr>
          <p:cNvPr id="73" name="Google Shape;73;p4"/>
          <p:cNvSpPr txBox="1"/>
          <p:nvPr/>
        </p:nvSpPr>
        <p:spPr>
          <a:xfrm>
            <a:off x="1496872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74" name="Google Shape;74;p4"/>
          <p:cNvSpPr/>
          <p:nvPr/>
        </p:nvSpPr>
        <p:spPr>
          <a:xfrm>
            <a:off x="1295704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1428292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txBox="1"/>
          <p:nvPr/>
        </p:nvSpPr>
        <p:spPr>
          <a:xfrm>
            <a:off x="1428292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77" name="Google Shape;77;p4"/>
          <p:cNvSpPr txBox="1"/>
          <p:nvPr/>
        </p:nvSpPr>
        <p:spPr>
          <a:xfrm>
            <a:off x="1313992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הכנה</a:t>
            </a:r>
            <a:endParaRPr b="0" i="0" sz="1900" u="none" cap="none" strike="noStrike">
              <a:solidFill>
                <a:schemeClr val="dk1"/>
              </a:solidFill>
              <a:latin typeface="Calibri"/>
              <a:ea typeface="Calibri"/>
              <a:cs typeface="Calibri"/>
              <a:sym typeface="Calibri"/>
            </a:endParaRPr>
          </a:p>
        </p:txBody>
      </p:sp>
      <p:sp>
        <p:nvSpPr>
          <p:cNvPr id="78" name="Google Shape;78;p4"/>
          <p:cNvSpPr txBox="1"/>
          <p:nvPr/>
        </p:nvSpPr>
        <p:spPr>
          <a:xfrm>
            <a:off x="1313992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שליפת היסטוריה והסרת פרטים מזהים</a:t>
            </a:r>
            <a:endParaRPr b="0" i="0" sz="1650" u="none" cap="none" strike="noStrike">
              <a:solidFill>
                <a:schemeClr val="dk1"/>
              </a:solidFill>
              <a:latin typeface="Calibri"/>
              <a:ea typeface="Calibri"/>
              <a:cs typeface="Calibri"/>
              <a:sym typeface="Calibri"/>
            </a:endParaRPr>
          </a:p>
        </p:txBody>
      </p:sp>
      <p:sp>
        <p:nvSpPr>
          <p:cNvPr id="79" name="Google Shape;79;p4"/>
          <p:cNvSpPr txBox="1"/>
          <p:nvPr/>
        </p:nvSpPr>
        <p:spPr>
          <a:xfrm>
            <a:off x="12563856"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0" name="Google Shape;80;p4"/>
          <p:cNvSpPr/>
          <p:nvPr/>
        </p:nvSpPr>
        <p:spPr>
          <a:xfrm>
            <a:off x="10552176"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11878056"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txBox="1"/>
          <p:nvPr/>
        </p:nvSpPr>
        <p:spPr>
          <a:xfrm>
            <a:off x="11878056"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83" name="Google Shape;83;p4"/>
          <p:cNvSpPr txBox="1"/>
          <p:nvPr/>
        </p:nvSpPr>
        <p:spPr>
          <a:xfrm>
            <a:off x="10735056"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סיווג</a:t>
            </a:r>
            <a:endParaRPr b="0" i="0" sz="1900" u="none" cap="none" strike="noStrike">
              <a:solidFill>
                <a:schemeClr val="dk1"/>
              </a:solidFill>
              <a:latin typeface="Calibri"/>
              <a:ea typeface="Calibri"/>
              <a:cs typeface="Calibri"/>
              <a:sym typeface="Calibri"/>
            </a:endParaRPr>
          </a:p>
        </p:txBody>
      </p:sp>
      <p:sp>
        <p:nvSpPr>
          <p:cNvPr id="84" name="Google Shape;84;p4"/>
          <p:cNvSpPr txBox="1"/>
          <p:nvPr/>
        </p:nvSpPr>
        <p:spPr>
          <a:xfrm>
            <a:off x="10735056"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ה-AI מציע רמה, מ-1 (הכי דחוף) עד 5</a:t>
            </a:r>
            <a:endParaRPr b="0" i="0" sz="1650" u="none" cap="none" strike="noStrike">
              <a:solidFill>
                <a:schemeClr val="dk1"/>
              </a:solidFill>
              <a:latin typeface="Calibri"/>
              <a:ea typeface="Calibri"/>
              <a:cs typeface="Calibri"/>
              <a:sym typeface="Calibri"/>
            </a:endParaRPr>
          </a:p>
        </p:txBody>
      </p:sp>
      <p:sp>
        <p:nvSpPr>
          <p:cNvPr id="85" name="Google Shape;85;p4"/>
          <p:cNvSpPr txBox="1"/>
          <p:nvPr/>
        </p:nvSpPr>
        <p:spPr>
          <a:xfrm>
            <a:off x="10158984"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6" name="Google Shape;86;p4"/>
          <p:cNvSpPr/>
          <p:nvPr/>
        </p:nvSpPr>
        <p:spPr>
          <a:xfrm>
            <a:off x="8147304"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p:nvPr/>
        </p:nvSpPr>
        <p:spPr>
          <a:xfrm>
            <a:off x="9473184"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4"/>
          <p:cNvSpPr txBox="1"/>
          <p:nvPr/>
        </p:nvSpPr>
        <p:spPr>
          <a:xfrm>
            <a:off x="9473184"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89" name="Google Shape;89;p4"/>
          <p:cNvSpPr txBox="1"/>
          <p:nvPr/>
        </p:nvSpPr>
        <p:spPr>
          <a:xfrm>
            <a:off x="8330184"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בדיקת בטיחות</a:t>
            </a:r>
            <a:endParaRPr b="0" i="0" sz="1900" u="none" cap="none" strike="noStrike">
              <a:solidFill>
                <a:schemeClr val="dk1"/>
              </a:solidFill>
              <a:latin typeface="Calibri"/>
              <a:ea typeface="Calibri"/>
              <a:cs typeface="Calibri"/>
              <a:sym typeface="Calibri"/>
            </a:endParaRPr>
          </a:p>
        </p:txBody>
      </p:sp>
      <p:sp>
        <p:nvSpPr>
          <p:cNvPr id="90" name="Google Shape;90;p4"/>
          <p:cNvSpPr txBox="1"/>
          <p:nvPr/>
        </p:nvSpPr>
        <p:spPr>
          <a:xfrm>
            <a:off x="8330184"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הכללים בודקים שהרשומה הגיונית</a:t>
            </a:r>
            <a:endParaRPr b="0" i="0" sz="1650" u="none" cap="none" strike="noStrike">
              <a:solidFill>
                <a:schemeClr val="dk1"/>
              </a:solidFill>
              <a:latin typeface="Calibri"/>
              <a:ea typeface="Calibri"/>
              <a:cs typeface="Calibri"/>
              <a:sym typeface="Calibri"/>
            </a:endParaRPr>
          </a:p>
        </p:txBody>
      </p:sp>
      <p:sp>
        <p:nvSpPr>
          <p:cNvPr id="91" name="Google Shape;91;p4"/>
          <p:cNvSpPr txBox="1"/>
          <p:nvPr/>
        </p:nvSpPr>
        <p:spPr>
          <a:xfrm>
            <a:off x="7754112"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2" name="Google Shape;92;p4"/>
          <p:cNvSpPr/>
          <p:nvPr/>
        </p:nvSpPr>
        <p:spPr>
          <a:xfrm>
            <a:off x="5742432"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4"/>
          <p:cNvSpPr/>
          <p:nvPr/>
        </p:nvSpPr>
        <p:spPr>
          <a:xfrm>
            <a:off x="7068312"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txBox="1"/>
          <p:nvPr/>
        </p:nvSpPr>
        <p:spPr>
          <a:xfrm>
            <a:off x="7068312"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5</a:t>
            </a:r>
            <a:endParaRPr b="0" i="0" sz="1500" u="none" cap="none" strike="noStrike">
              <a:solidFill>
                <a:schemeClr val="dk1"/>
              </a:solidFill>
              <a:latin typeface="Calibri"/>
              <a:ea typeface="Calibri"/>
              <a:cs typeface="Calibri"/>
              <a:sym typeface="Calibri"/>
            </a:endParaRPr>
          </a:p>
        </p:txBody>
      </p:sp>
      <p:sp>
        <p:nvSpPr>
          <p:cNvPr id="95" name="Google Shape;95;p4"/>
          <p:cNvSpPr txBox="1"/>
          <p:nvPr/>
        </p:nvSpPr>
        <p:spPr>
          <a:xfrm>
            <a:off x="5925312"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תור</a:t>
            </a:r>
            <a:endParaRPr b="0" i="0" sz="1900" u="none" cap="none" strike="noStrike">
              <a:solidFill>
                <a:schemeClr val="dk1"/>
              </a:solidFill>
              <a:latin typeface="Calibri"/>
              <a:ea typeface="Calibri"/>
              <a:cs typeface="Calibri"/>
              <a:sym typeface="Calibri"/>
            </a:endParaRPr>
          </a:p>
        </p:txBody>
      </p:sp>
      <p:sp>
        <p:nvSpPr>
          <p:cNvPr id="96" name="Google Shape;96;p4"/>
          <p:cNvSpPr txBox="1"/>
          <p:nvPr/>
        </p:nvSpPr>
        <p:spPr>
          <a:xfrm>
            <a:off x="5925312"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לפי דחיפות, ואז לפי שעת הגעה</a:t>
            </a:r>
            <a:endParaRPr b="0" i="0" sz="1650" u="none" cap="none" strike="noStrike">
              <a:solidFill>
                <a:schemeClr val="dk1"/>
              </a:solidFill>
              <a:latin typeface="Calibri"/>
              <a:ea typeface="Calibri"/>
              <a:cs typeface="Calibri"/>
              <a:sym typeface="Calibri"/>
            </a:endParaRPr>
          </a:p>
        </p:txBody>
      </p:sp>
      <p:sp>
        <p:nvSpPr>
          <p:cNvPr id="97" name="Google Shape;97;p4"/>
          <p:cNvSpPr txBox="1"/>
          <p:nvPr/>
        </p:nvSpPr>
        <p:spPr>
          <a:xfrm>
            <a:off x="5349240"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8" name="Google Shape;98;p4"/>
          <p:cNvSpPr/>
          <p:nvPr/>
        </p:nvSpPr>
        <p:spPr>
          <a:xfrm>
            <a:off x="333756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
          <p:cNvSpPr/>
          <p:nvPr/>
        </p:nvSpPr>
        <p:spPr>
          <a:xfrm>
            <a:off x="466344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
          <p:cNvSpPr txBox="1"/>
          <p:nvPr/>
        </p:nvSpPr>
        <p:spPr>
          <a:xfrm>
            <a:off x="466344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6</a:t>
            </a:r>
            <a:endParaRPr b="0" i="0" sz="1500" u="none" cap="none" strike="noStrike">
              <a:solidFill>
                <a:schemeClr val="dk1"/>
              </a:solidFill>
              <a:latin typeface="Calibri"/>
              <a:ea typeface="Calibri"/>
              <a:cs typeface="Calibri"/>
              <a:sym typeface="Calibri"/>
            </a:endParaRPr>
          </a:p>
        </p:txBody>
      </p:sp>
      <p:sp>
        <p:nvSpPr>
          <p:cNvPr id="101" name="Google Shape;101;p4"/>
          <p:cNvSpPr txBox="1"/>
          <p:nvPr/>
        </p:nvSpPr>
        <p:spPr>
          <a:xfrm>
            <a:off x="352044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הערכה חוזרת</a:t>
            </a:r>
            <a:endParaRPr b="0" i="0" sz="1900" u="none" cap="none" strike="noStrike">
              <a:solidFill>
                <a:schemeClr val="dk1"/>
              </a:solidFill>
              <a:latin typeface="Calibri"/>
              <a:ea typeface="Calibri"/>
              <a:cs typeface="Calibri"/>
              <a:sym typeface="Calibri"/>
            </a:endParaRPr>
          </a:p>
        </p:txBody>
      </p:sp>
      <p:sp>
        <p:nvSpPr>
          <p:cNvPr id="102" name="Google Shape;102;p4"/>
          <p:cNvSpPr txBox="1"/>
          <p:nvPr/>
        </p:nvSpPr>
        <p:spPr>
          <a:xfrm>
            <a:off x="352044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כשהטיימר מגיע, אחות מזינה מדדים חדשים והמקרה חוזר לסיווג</a:t>
            </a:r>
            <a:endParaRPr b="0" i="0" sz="1650" u="none" cap="none" strike="noStrike">
              <a:solidFill>
                <a:schemeClr val="dk1"/>
              </a:solidFill>
              <a:latin typeface="Calibri"/>
              <a:ea typeface="Calibri"/>
              <a:cs typeface="Calibri"/>
              <a:sym typeface="Calibri"/>
            </a:endParaRPr>
          </a:p>
        </p:txBody>
      </p:sp>
      <p:sp>
        <p:nvSpPr>
          <p:cNvPr id="103" name="Google Shape;103;p4"/>
          <p:cNvSpPr txBox="1"/>
          <p:nvPr/>
        </p:nvSpPr>
        <p:spPr>
          <a:xfrm>
            <a:off x="294436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104" name="Google Shape;104;p4"/>
          <p:cNvSpPr/>
          <p:nvPr/>
        </p:nvSpPr>
        <p:spPr>
          <a:xfrm>
            <a:off x="93268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4"/>
          <p:cNvSpPr/>
          <p:nvPr/>
        </p:nvSpPr>
        <p:spPr>
          <a:xfrm>
            <a:off x="225856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
          <p:cNvSpPr txBox="1"/>
          <p:nvPr/>
        </p:nvSpPr>
        <p:spPr>
          <a:xfrm>
            <a:off x="225856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7</a:t>
            </a:r>
            <a:endParaRPr b="0" i="0" sz="1500" u="none" cap="none" strike="noStrike">
              <a:solidFill>
                <a:schemeClr val="dk1"/>
              </a:solidFill>
              <a:latin typeface="Calibri"/>
              <a:ea typeface="Calibri"/>
              <a:cs typeface="Calibri"/>
              <a:sym typeface="Calibri"/>
            </a:endParaRPr>
          </a:p>
        </p:txBody>
      </p:sp>
      <p:sp>
        <p:nvSpPr>
          <p:cNvPr id="107" name="Google Shape;107;p4"/>
          <p:cNvSpPr txBox="1"/>
          <p:nvPr/>
        </p:nvSpPr>
        <p:spPr>
          <a:xfrm>
            <a:off x="111556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סגירה</a:t>
            </a:r>
            <a:endParaRPr b="0" i="0" sz="1900" u="none" cap="none" strike="noStrike">
              <a:solidFill>
                <a:schemeClr val="dk1"/>
              </a:solidFill>
              <a:latin typeface="Calibri"/>
              <a:ea typeface="Calibri"/>
              <a:cs typeface="Calibri"/>
              <a:sym typeface="Calibri"/>
            </a:endParaRPr>
          </a:p>
        </p:txBody>
      </p:sp>
      <p:sp>
        <p:nvSpPr>
          <p:cNvPr id="108" name="Google Shape;108;p4"/>
          <p:cNvSpPr txBox="1"/>
          <p:nvPr/>
        </p:nvSpPr>
        <p:spPr>
          <a:xfrm>
            <a:off x="111556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המטופל משוחרר והמקרה נסגר</a:t>
            </a:r>
            <a:endParaRPr b="0" i="0" sz="1650" u="none" cap="none" strike="noStrike">
              <a:solidFill>
                <a:schemeClr val="dk1"/>
              </a:solidFill>
              <a:latin typeface="Calibri"/>
              <a:ea typeface="Calibri"/>
              <a:cs typeface="Calibri"/>
              <a:sym typeface="Calibri"/>
            </a:endParaRPr>
          </a:p>
        </p:txBody>
      </p:sp>
      <p:sp>
        <p:nvSpPr>
          <p:cNvPr id="109" name="Google Shape;109;p4"/>
          <p:cNvSpPr txBox="1"/>
          <p:nvPr/>
        </p:nvSpPr>
        <p:spPr>
          <a:xfrm>
            <a:off x="914400" y="507492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rPr b="0" i="0" lang="iw-IL" sz="1700" u="none" cap="none" strike="noStrike">
                <a:solidFill>
                  <a:srgbClr val="9397AB"/>
                </a:solidFill>
                <a:latin typeface="Arial"/>
                <a:ea typeface="Arial"/>
                <a:cs typeface="Arial"/>
                <a:sym typeface="Arial"/>
              </a:rPr>
              <a:t>מצב התחלתי: </a:t>
            </a:r>
            <a:r>
              <a:rPr b="0" i="0" lang="iw-IL" sz="1700" u="none" cap="none" strike="noStrike">
                <a:solidFill>
                  <a:srgbClr val="D2CEFD"/>
                </a:solidFill>
                <a:latin typeface="Courier New"/>
                <a:ea typeface="Courier New"/>
                <a:cs typeface="Courier New"/>
                <a:sym typeface="Courier New"/>
              </a:rPr>
              <a:t>intake_received</a:t>
            </a:r>
            <a:r>
              <a:rPr b="0" i="0" lang="iw-IL" sz="1700" u="none" cap="none" strike="noStrike">
                <a:solidFill>
                  <a:srgbClr val="9397AB"/>
                </a:solidFill>
                <a:latin typeface="Arial"/>
                <a:ea typeface="Arial"/>
                <a:cs typeface="Arial"/>
                <a:sym typeface="Arial"/>
              </a:rPr>
              <a:t>     ·     מצב סופי: </a:t>
            </a:r>
            <a:r>
              <a:rPr b="0" i="0" lang="iw-IL" sz="1700" u="none" cap="none" strike="noStrike">
                <a:solidFill>
                  <a:srgbClr val="D2CEFD"/>
                </a:solidFill>
                <a:latin typeface="Courier New"/>
                <a:ea typeface="Courier New"/>
                <a:cs typeface="Courier New"/>
                <a:sym typeface="Courier New"/>
              </a:rPr>
              <a:t>case_closed</a:t>
            </a:r>
            <a:endParaRPr b="0" i="0" sz="1700" u="none" cap="none" strike="noStrike">
              <a:solidFill>
                <a:schemeClr val="dk1"/>
              </a:solidFill>
              <a:latin typeface="Calibri"/>
              <a:ea typeface="Calibri"/>
              <a:cs typeface="Calibri"/>
              <a:sym typeface="Calibri"/>
            </a:endParaRPr>
          </a:p>
        </p:txBody>
      </p:sp>
      <p:sp>
        <p:nvSpPr>
          <p:cNvPr id="110" name="Google Shape;110;p4"/>
          <p:cNvSpPr txBox="1"/>
          <p:nvPr/>
        </p:nvSpPr>
        <p:spPr>
          <a:xfrm>
            <a:off x="914400" y="571500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ארבעה מצבים מחוץ למסלול הרגיל</a:t>
            </a:r>
            <a:endParaRPr b="0" i="0" sz="1900" u="none" cap="none" strike="noStrike">
              <a:solidFill>
                <a:schemeClr val="dk1"/>
              </a:solidFill>
              <a:latin typeface="Calibri"/>
              <a:ea typeface="Calibri"/>
              <a:cs typeface="Calibri"/>
              <a:sym typeface="Calibri"/>
            </a:endParaRPr>
          </a:p>
        </p:txBody>
      </p:sp>
      <p:sp>
        <p:nvSpPr>
          <p:cNvPr id="111" name="Google Shape;111;p4"/>
          <p:cNvSpPr/>
          <p:nvPr/>
        </p:nvSpPr>
        <p:spPr>
          <a:xfrm>
            <a:off x="1353312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4"/>
          <p:cNvSpPr txBox="1"/>
          <p:nvPr/>
        </p:nvSpPr>
        <p:spPr>
          <a:xfrm>
            <a:off x="1380744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ממתין לאישור אנושי</a:t>
            </a:r>
            <a:endParaRPr b="0" i="0" sz="2000" u="none" cap="none" strike="noStrike">
              <a:solidFill>
                <a:schemeClr val="dk1"/>
              </a:solidFill>
              <a:latin typeface="Calibri"/>
              <a:ea typeface="Calibri"/>
              <a:cs typeface="Calibri"/>
              <a:sym typeface="Calibri"/>
            </a:endParaRPr>
          </a:p>
        </p:txBody>
      </p:sp>
      <p:sp>
        <p:nvSpPr>
          <p:cNvPr id="113" name="Google Shape;113;p4"/>
          <p:cNvSpPr txBox="1"/>
          <p:nvPr/>
        </p:nvSpPr>
        <p:spPr>
          <a:xfrm>
            <a:off x="1380744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פער גדול בין האחות ל-AI, בדיקת בטיחות שנכשלה, או AI לא בטוח בתשובה.</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עד שאחות אחראית מחליטה.</a:t>
            </a:r>
            <a:endParaRPr b="0" i="0" sz="1800" u="none" cap="none" strike="noStrike">
              <a:solidFill>
                <a:schemeClr val="dk1"/>
              </a:solidFill>
              <a:latin typeface="Calibri"/>
              <a:ea typeface="Calibri"/>
              <a:cs typeface="Calibri"/>
              <a:sym typeface="Calibri"/>
            </a:endParaRPr>
          </a:p>
        </p:txBody>
      </p:sp>
      <p:sp>
        <p:nvSpPr>
          <p:cNvPr id="114" name="Google Shape;114;p4"/>
          <p:cNvSpPr/>
          <p:nvPr/>
        </p:nvSpPr>
        <p:spPr>
          <a:xfrm>
            <a:off x="932688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
          <p:cNvSpPr txBox="1"/>
          <p:nvPr/>
        </p:nvSpPr>
        <p:spPr>
          <a:xfrm>
            <a:off x="960120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חסום (BLK)</a:t>
            </a:r>
            <a:endParaRPr b="0" i="0" sz="2000" u="none" cap="none" strike="noStrike">
              <a:solidFill>
                <a:schemeClr val="dk1"/>
              </a:solidFill>
              <a:latin typeface="Calibri"/>
              <a:ea typeface="Calibri"/>
              <a:cs typeface="Calibri"/>
              <a:sym typeface="Calibri"/>
            </a:endParaRPr>
          </a:p>
        </p:txBody>
      </p:sp>
      <p:sp>
        <p:nvSpPr>
          <p:cNvPr id="116" name="Google Shape;116;p4"/>
          <p:cNvSpPr txBox="1"/>
          <p:nvPr/>
        </p:nvSpPr>
        <p:spPr>
          <a:xfrm>
            <a:off x="960120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מישהו ניסה פעולה שלא מותרת.</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הפעולה נדחית, המקרה לא זז, והסירוב נרשם עם הסבר.</a:t>
            </a:r>
            <a:endParaRPr b="0" i="0" sz="1800" u="none" cap="none" strike="noStrike">
              <a:solidFill>
                <a:schemeClr val="dk1"/>
              </a:solidFill>
              <a:latin typeface="Calibri"/>
              <a:ea typeface="Calibri"/>
              <a:cs typeface="Calibri"/>
              <a:sym typeface="Calibri"/>
            </a:endParaRPr>
          </a:p>
        </p:txBody>
      </p:sp>
      <p:sp>
        <p:nvSpPr>
          <p:cNvPr id="117" name="Google Shape;117;p4"/>
          <p:cNvSpPr/>
          <p:nvPr/>
        </p:nvSpPr>
        <p:spPr>
          <a:xfrm>
            <a:off x="512064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txBox="1"/>
          <p:nvPr/>
        </p:nvSpPr>
        <p:spPr>
          <a:xfrm>
            <a:off x="539496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כשל</a:t>
            </a:r>
            <a:endParaRPr b="0" i="0" sz="2000" u="none" cap="none" strike="noStrike">
              <a:solidFill>
                <a:schemeClr val="dk1"/>
              </a:solidFill>
              <a:latin typeface="Calibri"/>
              <a:ea typeface="Calibri"/>
              <a:cs typeface="Calibri"/>
              <a:sym typeface="Calibri"/>
            </a:endParaRPr>
          </a:p>
        </p:txBody>
      </p:sp>
      <p:sp>
        <p:nvSpPr>
          <p:cNvPr id="119" name="Google Shape;119;p4"/>
          <p:cNvSpPr txBox="1"/>
          <p:nvPr/>
        </p:nvSpPr>
        <p:spPr>
          <a:xfrm>
            <a:off x="539496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רכיב קריטי נפל ואין לו חלופה בטוחה (למשל הסרת הפרטים המזהים).</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הטכנאי מקבל התראה, וכשהרכיב חוזר המקרה ממשיך מאותה נקודה.</a:t>
            </a:r>
            <a:endParaRPr b="0" i="0" sz="1800" u="none" cap="none" strike="noStrike">
              <a:solidFill>
                <a:schemeClr val="dk1"/>
              </a:solidFill>
              <a:latin typeface="Calibri"/>
              <a:ea typeface="Calibri"/>
              <a:cs typeface="Calibri"/>
              <a:sym typeface="Calibri"/>
            </a:endParaRPr>
          </a:p>
        </p:txBody>
      </p:sp>
      <p:sp>
        <p:nvSpPr>
          <p:cNvPr id="120" name="Google Shape;120;p4"/>
          <p:cNvSpPr/>
          <p:nvPr/>
        </p:nvSpPr>
        <p:spPr>
          <a:xfrm>
            <a:off x="91440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txBox="1"/>
          <p:nvPr/>
        </p:nvSpPr>
        <p:spPr>
          <a:xfrm>
            <a:off x="118872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נדחה</a:t>
            </a:r>
            <a:endParaRPr b="0" i="0" sz="2000" u="none" cap="none" strike="noStrike">
              <a:solidFill>
                <a:schemeClr val="dk1"/>
              </a:solidFill>
              <a:latin typeface="Calibri"/>
              <a:ea typeface="Calibri"/>
              <a:cs typeface="Calibri"/>
              <a:sym typeface="Calibri"/>
            </a:endParaRPr>
          </a:p>
        </p:txBody>
      </p:sp>
      <p:sp>
        <p:nvSpPr>
          <p:cNvPr id="122" name="Google Shape;122;p4"/>
          <p:cNvSpPr txBox="1"/>
          <p:nvPr/>
        </p:nvSpPr>
        <p:spPr>
          <a:xfrm>
            <a:off x="118872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טופס שלא ניתן לרשום (בלי מזהה מקרה תקין), או מקרה כפול לאותו מטופל.</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מסתיים מיד ולא נכנס למערכת.</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27" name="Shape 127"/>
        <p:cNvGrpSpPr/>
        <p:nvPr/>
      </p:nvGrpSpPr>
      <p:grpSpPr>
        <a:xfrm>
          <a:off x="0" y="0"/>
          <a:ext cx="0" cy="0"/>
          <a:chOff x="0" y="0"/>
          <a:chExt cx="0" cy="0"/>
        </a:xfrm>
      </p:grpSpPr>
      <p:sp>
        <p:nvSpPr>
          <p:cNvPr id="128" name="Google Shape;128;p5"/>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05 · Events &amp; Transitions</a:t>
            </a:r>
            <a:endParaRPr b="0" i="0" sz="1600" u="none" cap="none" strike="noStrike">
              <a:solidFill>
                <a:schemeClr val="dk1"/>
              </a:solidFill>
              <a:latin typeface="Calibri"/>
              <a:ea typeface="Calibri"/>
              <a:cs typeface="Calibri"/>
              <a:sym typeface="Calibri"/>
            </a:endParaRPr>
          </a:p>
        </p:txBody>
      </p:sp>
      <p:sp>
        <p:nvSpPr>
          <p:cNvPr id="129" name="Google Shape;129;p5"/>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lang="iw-IL" sz="4800">
                <a:solidFill>
                  <a:srgbClr val="E9E9ED"/>
                </a:solidFill>
              </a:rPr>
              <a:t>טבלת מעברים (חלקית)</a:t>
            </a:r>
            <a:endParaRPr b="0" i="0" sz="4800" u="none" cap="none" strike="noStrike">
              <a:solidFill>
                <a:schemeClr val="dk1"/>
              </a:solidFill>
              <a:latin typeface="Calibri"/>
              <a:ea typeface="Calibri"/>
              <a:cs typeface="Calibri"/>
              <a:sym typeface="Calibri"/>
            </a:endParaRPr>
          </a:p>
        </p:txBody>
      </p:sp>
      <p:graphicFrame>
        <p:nvGraphicFramePr>
          <p:cNvPr id="130" name="Google Shape;130;p5"/>
          <p:cNvGraphicFramePr/>
          <p:nvPr/>
        </p:nvGraphicFramePr>
        <p:xfrm>
          <a:off x="914400" y="1783080"/>
          <a:ext cx="3000000" cy="3000000"/>
        </p:xfrm>
        <a:graphic>
          <a:graphicData uri="http://schemas.openxmlformats.org/drawingml/2006/table">
            <a:tbl>
              <a:tblPr>
                <a:noFill/>
                <a:tableStyleId>{04CC930A-5F64-4B84-AD67-B738C2A8A3AE}</a:tableStyleId>
              </a:tblPr>
              <a:tblGrid>
                <a:gridCol w="2926075"/>
                <a:gridCol w="2468875"/>
                <a:gridCol w="4572000"/>
                <a:gridCol w="3474725"/>
                <a:gridCol w="3017525"/>
              </a:tblGrid>
              <a:tr h="457200">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הבא</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מי בודק</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תנאי (Guard)</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Event</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נוכחי</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כל השדות קיימים והקלט תקין</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F2B8B5"/>
                        </a:buClr>
                        <a:buSzPts val="1300"/>
                        <a:buFont typeface="Courier New"/>
                        <a:buNone/>
                      </a:pPr>
                      <a:r>
                        <a:rPr lang="iw-IL" sz="1300" u="none" cap="none" strike="noStrike">
                          <a:solidFill>
                            <a:srgbClr val="F2B8B5"/>
                          </a:solidFill>
                          <a:latin typeface="Courier New"/>
                          <a:ea typeface="Courier New"/>
                          <a:cs typeface="Courier New"/>
                          <a:sym typeface="Courier New"/>
                        </a:rPr>
                        <a:t>input_rejected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הטופס לא תואם את המבנה הצפוי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INVALID_INPUT_DETECTED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פלט</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הפלט של ה-AI עבר בדיקה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classifying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0 או 1 מהאחות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2 ומעלה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עברה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נכשלה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מי שעונה הוא אחות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APPROVAL_RESPONSE_RECEIVED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treatment_started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עבר בדיקה, אושר, ותפקיד מורשה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MOVE_REQUESTED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monitoring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case_closed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סיבת שחרור תקינה ותפקיד של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RELEASE_REQUESTED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 פעיל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1" algn="r">
                        <a:spcBef>
                          <a:spcPts val="0"/>
                        </a:spcBef>
                        <a:spcAft>
                          <a:spcPts val="0"/>
                        </a:spcAft>
                        <a:buClr>
                          <a:srgbClr val="F2B8B5"/>
                        </a:buClr>
                        <a:buSzPts val="1600"/>
                        <a:buFont typeface="Arial"/>
                        <a:buNone/>
                      </a:pPr>
                      <a:r>
                        <a:rPr b="1" lang="iw-IL" sz="1600" u="none" cap="none" strike="noStrike">
                          <a:solidFill>
                            <a:srgbClr val="F2B8B5"/>
                          </a:solidFill>
                          <a:latin typeface="Arial"/>
                          <a:ea typeface="Arial"/>
                          <a:cs typeface="Arial"/>
                          <a:sym typeface="Arial"/>
                        </a:rPr>
                        <a:t>BLK, נשאר במקום</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 Prolog, תנאי בגרף</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תנאי כלשהו נכשל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ACTION_DENIED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131" name="Google Shape;131;p5"/>
          <p:cNvSpPr/>
          <p:nvPr/>
        </p:nvSpPr>
        <p:spPr>
          <a:xfrm>
            <a:off x="1225296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txBox="1"/>
          <p:nvPr/>
        </p:nvSpPr>
        <p:spPr>
          <a:xfrm>
            <a:off x="1257300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הגרף הוא הטבלה</a:t>
            </a:r>
            <a:endParaRPr b="0" i="0" sz="1800" u="none" cap="none" strike="noStrike">
              <a:solidFill>
                <a:schemeClr val="dk1"/>
              </a:solidFill>
              <a:latin typeface="Calibri"/>
              <a:ea typeface="Calibri"/>
              <a:cs typeface="Calibri"/>
              <a:sym typeface="Calibri"/>
            </a:endParaRPr>
          </a:p>
        </p:txBody>
      </p:sp>
      <p:sp>
        <p:nvSpPr>
          <p:cNvPr id="133" name="Google Shape;133;p5"/>
          <p:cNvSpPr txBox="1"/>
          <p:nvPr/>
        </p:nvSpPr>
        <p:spPr>
          <a:xfrm>
            <a:off x="1257300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כל מעבר מותר מוגדר כנתון ב-LangGraph. מעבר שלא בטבלה פשוט לא קיים.</a:t>
            </a:r>
            <a:endParaRPr b="0" i="0" sz="1650" u="none" cap="none" strike="noStrike">
              <a:solidFill>
                <a:schemeClr val="dk1"/>
              </a:solidFill>
              <a:latin typeface="Calibri"/>
              <a:ea typeface="Calibri"/>
              <a:cs typeface="Calibri"/>
              <a:sym typeface="Calibri"/>
            </a:endParaRPr>
          </a:p>
        </p:txBody>
      </p:sp>
      <p:sp>
        <p:nvSpPr>
          <p:cNvPr id="134" name="Google Shape;134;p5"/>
          <p:cNvSpPr/>
          <p:nvPr/>
        </p:nvSpPr>
        <p:spPr>
          <a:xfrm>
            <a:off x="658368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txBox="1"/>
          <p:nvPr/>
        </p:nvSpPr>
        <p:spPr>
          <a:xfrm>
            <a:off x="690372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אין קיצור דרך לטיפול</a:t>
            </a:r>
            <a:endParaRPr b="0" i="0" sz="1800" u="none" cap="none" strike="noStrike">
              <a:solidFill>
                <a:schemeClr val="dk1"/>
              </a:solidFill>
              <a:latin typeface="Calibri"/>
              <a:ea typeface="Calibri"/>
              <a:cs typeface="Calibri"/>
              <a:sym typeface="Calibri"/>
            </a:endParaRPr>
          </a:p>
        </p:txBody>
      </p:sp>
      <p:sp>
        <p:nvSpPr>
          <p:cNvPr id="136" name="Google Shape;136;p5"/>
          <p:cNvSpPr txBox="1"/>
          <p:nvPr/>
        </p:nvSpPr>
        <p:spPr>
          <a:xfrm>
            <a:off x="690372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מקרה שלא עבר בדיקת בטיחות ואישור לא יכול להגיע לטיפול.</a:t>
            </a:r>
            <a:endParaRPr b="0" i="0" sz="1650" u="none" cap="none" strike="noStrike">
              <a:solidFill>
                <a:schemeClr val="dk1"/>
              </a:solidFill>
              <a:latin typeface="Calibri"/>
              <a:ea typeface="Calibri"/>
              <a:cs typeface="Calibri"/>
              <a:sym typeface="Calibri"/>
            </a:endParaRPr>
          </a:p>
        </p:txBody>
      </p:sp>
      <p:sp>
        <p:nvSpPr>
          <p:cNvPr id="137" name="Google Shape;137;p5"/>
          <p:cNvSpPr/>
          <p:nvPr/>
        </p:nvSpPr>
        <p:spPr>
          <a:xfrm>
            <a:off x="91440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5"/>
          <p:cNvSpPr txBox="1"/>
          <p:nvPr/>
        </p:nvSpPr>
        <p:spPr>
          <a:xfrm>
            <a:off x="123444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תנאי שנכשל מחזיר חסימה</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123444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המקרה נשאר במקום, והסירוב נרשם ביומן עם השכבה שחסמה.</a:t>
            </a:r>
            <a:endParaRPr b="0" i="0" sz="16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44" name="Shape 144"/>
        <p:cNvGrpSpPr/>
        <p:nvPr/>
      </p:nvGrpSpPr>
      <p:grpSpPr>
        <a:xfrm>
          <a:off x="0" y="0"/>
          <a:ext cx="0" cy="0"/>
          <a:chOff x="0" y="0"/>
          <a:chExt cx="0" cy="0"/>
        </a:xfrm>
      </p:grpSpPr>
      <p:sp>
        <p:nvSpPr>
          <p:cNvPr id="145" name="Google Shape;145;p6"/>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06 · Temporal Logic</a:t>
            </a:r>
            <a:endParaRPr b="0" i="0" sz="1600" u="none" cap="none" strike="noStrike">
              <a:solidFill>
                <a:schemeClr val="dk1"/>
              </a:solidFill>
              <a:latin typeface="Calibri"/>
              <a:ea typeface="Calibri"/>
              <a:cs typeface="Calibri"/>
              <a:sym typeface="Calibri"/>
            </a:endParaRPr>
          </a:p>
        </p:txBody>
      </p:sp>
      <p:sp>
        <p:nvSpPr>
          <p:cNvPr id="146" name="Google Shape;146;p6"/>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כללים לאורך זמן</a:t>
            </a:r>
            <a:endParaRPr b="0" i="0" sz="4800" u="none" cap="none" strike="noStrike">
              <a:solidFill>
                <a:schemeClr val="dk1"/>
              </a:solidFill>
              <a:latin typeface="Calibri"/>
              <a:ea typeface="Calibri"/>
              <a:cs typeface="Calibri"/>
              <a:sym typeface="Calibri"/>
            </a:endParaRPr>
          </a:p>
        </p:txBody>
      </p:sp>
      <p:sp>
        <p:nvSpPr>
          <p:cNvPr id="147" name="Google Shape;147;p6"/>
          <p:cNvSpPr txBox="1"/>
          <p:nvPr/>
        </p:nvSpPr>
        <p:spPr>
          <a:xfrm>
            <a:off x="914400" y="1691640"/>
            <a:ext cx="1645920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900"/>
              <a:buFont typeface="Arial"/>
              <a:buNone/>
            </a:pPr>
            <a:r>
              <a:rPr b="0" i="0" lang="iw-IL" sz="1900" u="none" cap="none" strike="noStrike">
                <a:solidFill>
                  <a:srgbClr val="CFD3E5"/>
                </a:solidFill>
                <a:latin typeface="Arial"/>
                <a:ea typeface="Arial"/>
                <a:cs typeface="Arial"/>
                <a:sym typeface="Arial"/>
              </a:rPr>
              <a:t>חלק מהכללים לא עוסקים ברגע אחד, אלא בסדר של האירועים. במפרט יש 22 כללים כאלה. הנה הדוגמאות המרכזיות:</a:t>
            </a:r>
            <a:endParaRPr b="0" i="0" sz="1900" u="none" cap="none" strike="noStrike">
              <a:solidFill>
                <a:schemeClr val="dk1"/>
              </a:solidFill>
              <a:latin typeface="Calibri"/>
              <a:ea typeface="Calibri"/>
              <a:cs typeface="Calibri"/>
              <a:sym typeface="Calibri"/>
            </a:endParaRPr>
          </a:p>
        </p:txBody>
      </p:sp>
      <p:sp>
        <p:nvSpPr>
          <p:cNvPr id="148" name="Google Shape;148;p6"/>
          <p:cNvSpPr/>
          <p:nvPr/>
        </p:nvSpPr>
        <p:spPr>
          <a:xfrm>
            <a:off x="1225296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6"/>
          <p:cNvSpPr txBox="1"/>
          <p:nvPr/>
        </p:nvSpPr>
        <p:spPr>
          <a:xfrm>
            <a:off x="1257300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תמיד (Safety)</a:t>
            </a:r>
            <a:endParaRPr b="0" i="0" sz="2000" u="none" cap="none" strike="noStrike">
              <a:solidFill>
                <a:schemeClr val="dk1"/>
              </a:solidFill>
              <a:latin typeface="Calibri"/>
              <a:ea typeface="Calibri"/>
              <a:cs typeface="Calibri"/>
              <a:sym typeface="Calibri"/>
            </a:endParaRPr>
          </a:p>
        </p:txBody>
      </p:sp>
      <p:sp>
        <p:nvSpPr>
          <p:cNvPr id="150" name="Google Shape;150;p6"/>
          <p:cNvSpPr txBox="1"/>
          <p:nvPr/>
        </p:nvSpPr>
        <p:spPr>
          <a:xfrm>
            <a:off x="1248156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אף מטופל לא נמצא בתור אחרי מטופל פחות דחוף ממנו.</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G(acuity(a) &lt; acuity(b) → key(a) &lt; key(b))</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לטיפול רק אחרי בדיקת בטיחות ואישור.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G(enter_treatment → safety_passed ∧ approved)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טיפול מתחיל פעם אחת בלבד.</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G(treatment_started → X G ¬treatment_started)</a:t>
            </a:r>
            <a:endParaRPr b="0" i="0" sz="2100" u="none" cap="none" strike="noStrike">
              <a:solidFill>
                <a:schemeClr val="dk1"/>
              </a:solidFill>
              <a:latin typeface="Calibri"/>
              <a:ea typeface="Calibri"/>
              <a:cs typeface="Calibri"/>
              <a:sym typeface="Calibri"/>
            </a:endParaRPr>
          </a:p>
        </p:txBody>
      </p:sp>
      <p:sp>
        <p:nvSpPr>
          <p:cNvPr id="151" name="Google Shape;151;p6"/>
          <p:cNvSpPr/>
          <p:nvPr/>
        </p:nvSpPr>
        <p:spPr>
          <a:xfrm>
            <a:off x="658368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6"/>
          <p:cNvSpPr txBox="1"/>
          <p:nvPr/>
        </p:nvSpPr>
        <p:spPr>
          <a:xfrm>
            <a:off x="690372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בסוף, בתוך זמן קצוב (Liveness)</a:t>
            </a:r>
            <a:endParaRPr b="0" i="0" sz="2000" u="none" cap="none" strike="noStrike">
              <a:solidFill>
                <a:schemeClr val="dk1"/>
              </a:solidFill>
              <a:latin typeface="Calibri"/>
              <a:ea typeface="Calibri"/>
              <a:cs typeface="Calibri"/>
              <a:sym typeface="Calibri"/>
            </a:endParaRPr>
          </a:p>
        </p:txBody>
      </p:sp>
      <p:sp>
        <p:nvSpPr>
          <p:cNvPr id="153" name="Google Shape;153;p6"/>
          <p:cNvSpPr txBox="1"/>
          <p:nvPr/>
        </p:nvSpPr>
        <p:spPr>
          <a:xfrm>
            <a:off x="681228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מטופל בתור עובר הערכה חוזרת בזמן, לפי רמת הדחיפות.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G(enter_queue → F≤T reassessment_required)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מקרה שאף אחד לא טיפל בו מוסלם, ושוב מוסלם, עד שמישהו פועל.</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G(waiting ∧ ¬acted → F≤T escalated)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a:t>
            </a:r>
            <a:r>
              <a:rPr b="0" i="0" lang="iw-IL" sz="1900" u="none" cap="none" strike="noStrike">
                <a:solidFill>
                  <a:srgbClr val="E9E9ED"/>
                </a:solidFill>
                <a:latin typeface="Arial"/>
                <a:ea typeface="Arial"/>
                <a:cs typeface="Arial"/>
                <a:sym typeface="Arial"/>
                <a:extLst>
                  <a:ext uri="http://customooxmlschemas.google.com/">
                    <go:slidesCustomData xmlns:go="http://customooxmlschemas.google.com/" textRoundtripDataId="0"/>
                  </a:ext>
                </a:extLst>
              </a:rPr>
              <a:t>חרי כמה סבבי תיקון שנכשלו, המקרה עובר לאחראית משמרת.</a:t>
            </a:r>
            <a:endParaRPr b="0" i="0" sz="2100" u="none" cap="none" strike="noStrike">
              <a:solidFill>
                <a:schemeClr val="dk1"/>
              </a:solidFill>
              <a:latin typeface="Calibri"/>
              <a:ea typeface="Calibri"/>
              <a:cs typeface="Calibri"/>
              <a:sym typeface="Calibri"/>
              <a:extLst>
                <a:ext uri="http://customooxmlschemas.google.com/">
                  <go:slidesCustomData xmlns:go="http://customooxmlschemas.google.com/" textRoundtripDataId="1"/>
                </a:ext>
              </a:extLst>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extLst>
                  <a:ext uri="http://customooxmlschemas.google.com/">
                    <go:slidesCustomData xmlns:go="http://customooxmlschemas.google.com/" textRoundtripDataId="2"/>
                  </a:ext>
                </a:extLst>
              </a:rPr>
              <a:t>G(correction_rounds ≥ N → F handed_up)</a:t>
            </a:r>
            <a:endParaRPr b="0" i="0" sz="2100" u="none" cap="none" strike="noStrike">
              <a:solidFill>
                <a:schemeClr val="dk1"/>
              </a:solidFill>
              <a:latin typeface="Calibri"/>
              <a:ea typeface="Calibri"/>
              <a:cs typeface="Calibri"/>
              <a:sym typeface="Calibri"/>
            </a:endParaRPr>
          </a:p>
        </p:txBody>
      </p:sp>
      <p:sp>
        <p:nvSpPr>
          <p:cNvPr id="154" name="Google Shape;154;p6"/>
          <p:cNvSpPr/>
          <p:nvPr/>
        </p:nvSpPr>
        <p:spPr>
          <a:xfrm>
            <a:off x="914400" y="2377440"/>
            <a:ext cx="5120640" cy="5074920"/>
          </a:xfrm>
          <a:prstGeom prst="roundRect">
            <a:avLst>
              <a:gd fmla="val 2162" name="adj"/>
            </a:avLst>
          </a:prstGeom>
          <a:solidFill>
            <a:srgbClr val="2A1F2A"/>
          </a:solidFill>
          <a:ln cap="flat" cmpd="sng" w="12700">
            <a:solidFill>
              <a:srgbClr val="4A2E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123444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B8B5"/>
              </a:buClr>
              <a:buSzPts val="2000"/>
              <a:buFont typeface="Arial"/>
              <a:buNone/>
            </a:pPr>
            <a:r>
              <a:rPr b="1" i="0" lang="iw-IL" sz="2000" u="none" cap="none" strike="noStrike">
                <a:solidFill>
                  <a:srgbClr val="F2B8B5"/>
                </a:solidFill>
                <a:latin typeface="Arial"/>
                <a:ea typeface="Arial"/>
                <a:cs typeface="Arial"/>
                <a:sym typeface="Arial"/>
              </a:rPr>
              <a:t>רצפים אסורים</a:t>
            </a:r>
            <a:endParaRPr b="0" i="0" sz="2000" u="none" cap="none" strike="noStrike">
              <a:solidFill>
                <a:schemeClr val="dk1"/>
              </a:solidFill>
              <a:latin typeface="Calibri"/>
              <a:ea typeface="Calibri"/>
              <a:cs typeface="Calibri"/>
              <a:sym typeface="Calibri"/>
            </a:endParaRPr>
          </a:p>
        </p:txBody>
      </p:sp>
      <p:sp>
        <p:nvSpPr>
          <p:cNvPr id="156" name="Google Shape;156;p6"/>
          <p:cNvSpPr txBox="1"/>
          <p:nvPr/>
        </p:nvSpPr>
        <p:spPr>
          <a:xfrm>
            <a:off x="114300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לתור אחרי בדיקת בטיחות שנכשלה, בלי תיקון ובדיקה חוזרת.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safety_failed → enter_queue</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שדה לא מאושר או טקסט חופשי שמגיע ל-AI.</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unapproved_field → model_call</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שינוי במקרה אחרי שהוא נסגר.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case_closed → field_changed</a:t>
            </a:r>
            <a:endParaRPr b="0" i="0" sz="2100" u="none" cap="none" strike="noStrike">
              <a:solidFill>
                <a:schemeClr val="dk1"/>
              </a:solidFill>
              <a:latin typeface="Calibri"/>
              <a:ea typeface="Calibri"/>
              <a:cs typeface="Calibri"/>
              <a:sym typeface="Calibri"/>
            </a:endParaRPr>
          </a:p>
        </p:txBody>
      </p:sp>
      <p:sp>
        <p:nvSpPr>
          <p:cNvPr id="157" name="Google Shape;157;p6"/>
          <p:cNvSpPr/>
          <p:nvPr/>
        </p:nvSpPr>
        <p:spPr>
          <a:xfrm>
            <a:off x="914400" y="7726680"/>
            <a:ext cx="16459200" cy="1417320"/>
          </a:xfrm>
          <a:prstGeom prst="roundRect">
            <a:avLst>
              <a:gd fmla="val 774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txBox="1"/>
          <p:nvPr/>
        </p:nvSpPr>
        <p:spPr>
          <a:xfrm>
            <a:off x="1280160" y="7882128"/>
            <a:ext cx="15727680" cy="11430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איך אוכפים: </a:t>
            </a:r>
            <a:r>
              <a:rPr b="0" i="0" lang="iw-IL" sz="1800" u="none" cap="none" strike="noStrike">
                <a:solidFill>
                  <a:srgbClr val="E9E9ED"/>
                </a:solidFill>
                <a:latin typeface="Arial"/>
                <a:ea typeface="Arial"/>
                <a:cs typeface="Arial"/>
                <a:sym typeface="Arial"/>
              </a:rPr>
              <a:t>לפני כל צעד, בדיקות ומדיניות חוסמות מעבר אסור. טיימרים מוודאים ש"בסוף" באמת קורה. אחרי הריצה, בדיקה נפרדת (trace check) קוראת את כל יומן המקרה ומסמנת את הרשומה המדויקת שבה הופר אחד מששת כללי הרצף.</a:t>
            </a:r>
            <a:endParaRPr b="0" i="0" sz="1800" u="none" cap="none" strike="noStrike">
              <a:solidFill>
                <a:schemeClr val="dk1"/>
              </a:solidFill>
              <a:latin typeface="Calibri"/>
              <a:ea typeface="Calibri"/>
              <a:cs typeface="Calibri"/>
              <a:sym typeface="Calibri"/>
            </a:endParaRPr>
          </a:p>
        </p:txBody>
      </p:sp>
      <p:sp>
        <p:nvSpPr>
          <p:cNvPr id="159" name="Google Shape;159;p6"/>
          <p:cNvSpPr txBox="1"/>
          <p:nvPr/>
        </p:nvSpPr>
        <p:spPr>
          <a:xfrm>
            <a:off x="914400" y="932688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0" i="0" lang="iw-IL" sz="1600" u="none" cap="none" strike="noStrike">
                <a:solidFill>
                  <a:srgbClr val="9397AB"/>
                </a:solidFill>
                <a:latin typeface="Arial"/>
                <a:ea typeface="Arial"/>
                <a:cs typeface="Arial"/>
                <a:sym typeface="Arial"/>
              </a:rPr>
              <a:t>מקרא:  </a:t>
            </a:r>
            <a:r>
              <a:rPr b="0" i="0" lang="iw-IL" sz="1600" u="none" cap="none" strike="noStrike">
                <a:solidFill>
                  <a:srgbClr val="9397AB"/>
                </a:solidFill>
                <a:latin typeface="Courier New"/>
                <a:ea typeface="Courier New"/>
                <a:cs typeface="Courier New"/>
                <a:sym typeface="Courier New"/>
              </a:rPr>
              <a:t>G</a:t>
            </a:r>
            <a:r>
              <a:rPr b="0" i="0" lang="iw-IL" sz="1600" u="none" cap="none" strike="noStrike">
                <a:solidFill>
                  <a:srgbClr val="9397AB"/>
                </a:solidFill>
                <a:latin typeface="Arial"/>
                <a:ea typeface="Arial"/>
                <a:cs typeface="Arial"/>
                <a:sym typeface="Arial"/>
              </a:rPr>
              <a:t> = תמיד   ·   </a:t>
            </a:r>
            <a:r>
              <a:rPr b="0" i="0" lang="iw-IL" sz="1600" u="none" cap="none" strike="noStrike">
                <a:solidFill>
                  <a:srgbClr val="9397AB"/>
                </a:solidFill>
                <a:latin typeface="Courier New"/>
                <a:ea typeface="Courier New"/>
                <a:cs typeface="Courier New"/>
                <a:sym typeface="Courier New"/>
              </a:rPr>
              <a:t>F</a:t>
            </a:r>
            <a:r>
              <a:rPr b="0" i="0" lang="iw-IL" sz="1600" u="none" cap="none" strike="noStrike">
                <a:solidFill>
                  <a:srgbClr val="9397AB"/>
                </a:solidFill>
                <a:latin typeface="Arial"/>
                <a:ea typeface="Arial"/>
                <a:cs typeface="Arial"/>
                <a:sym typeface="Arial"/>
              </a:rPr>
              <a:t> = בסוף   ·   </a:t>
            </a:r>
            <a:r>
              <a:rPr b="0" i="0" lang="iw-IL" sz="1600" u="none" cap="none" strike="noStrike">
                <a:solidFill>
                  <a:srgbClr val="9397AB"/>
                </a:solidFill>
                <a:latin typeface="Courier New"/>
                <a:ea typeface="Courier New"/>
                <a:cs typeface="Courier New"/>
                <a:sym typeface="Courier New"/>
              </a:rPr>
              <a:t>X</a:t>
            </a:r>
            <a:r>
              <a:rPr b="0" i="0" lang="iw-IL" sz="1600" u="none" cap="none" strike="noStrike">
                <a:solidFill>
                  <a:srgbClr val="9397AB"/>
                </a:solidFill>
                <a:latin typeface="Arial"/>
                <a:ea typeface="Arial"/>
                <a:cs typeface="Arial"/>
                <a:sym typeface="Arial"/>
              </a:rPr>
              <a:t> = בשלב הבא   ·   </a:t>
            </a:r>
            <a:r>
              <a:rPr b="0" i="0" lang="iw-IL" sz="1600" u="none" cap="none" strike="noStrike">
                <a:solidFill>
                  <a:srgbClr val="9397AB"/>
                </a:solidFill>
                <a:latin typeface="Courier New"/>
                <a:ea typeface="Courier New"/>
                <a:cs typeface="Courier New"/>
                <a:sym typeface="Courier New"/>
              </a:rPr>
              <a:t>F≤T</a:t>
            </a:r>
            <a:r>
              <a:rPr b="0" i="0" lang="iw-IL" sz="1600" u="none" cap="none" strike="noStrike">
                <a:solidFill>
                  <a:srgbClr val="9397AB"/>
                </a:solidFill>
                <a:latin typeface="Arial"/>
                <a:ea typeface="Arial"/>
                <a:cs typeface="Arial"/>
                <a:sym typeface="Arial"/>
              </a:rPr>
              <a:t> = בסוף, בתוך זמן T</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64" name="Shape 164"/>
        <p:cNvGrpSpPr/>
        <p:nvPr/>
      </p:nvGrpSpPr>
      <p:grpSpPr>
        <a:xfrm>
          <a:off x="0" y="0"/>
          <a:ext cx="0" cy="0"/>
          <a:chOff x="0" y="0"/>
          <a:chExt cx="0" cy="0"/>
        </a:xfrm>
      </p:grpSpPr>
      <p:sp>
        <p:nvSpPr>
          <p:cNvPr id="165" name="Google Shape;165;p7"/>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07 · Neuro-Symbolic</a:t>
            </a:r>
            <a:endParaRPr b="0" i="0" sz="1600" u="none" cap="none" strike="noStrike">
              <a:solidFill>
                <a:schemeClr val="dk1"/>
              </a:solidFill>
              <a:latin typeface="Calibri"/>
              <a:ea typeface="Calibri"/>
              <a:cs typeface="Calibri"/>
              <a:sym typeface="Calibri"/>
            </a:endParaRPr>
          </a:p>
        </p:txBody>
      </p:sp>
      <p:sp>
        <p:nvSpPr>
          <p:cNvPr id="166" name="Google Shape;166;p7"/>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ה-AI מציע, הכללים מחליטים</a:t>
            </a:r>
            <a:endParaRPr b="0" i="0" sz="4800" u="none" cap="none" strike="noStrike">
              <a:solidFill>
                <a:schemeClr val="dk1"/>
              </a:solidFill>
              <a:latin typeface="Calibri"/>
              <a:ea typeface="Calibri"/>
              <a:cs typeface="Calibri"/>
              <a:sym typeface="Calibri"/>
            </a:endParaRPr>
          </a:p>
        </p:txBody>
      </p:sp>
      <p:sp>
        <p:nvSpPr>
          <p:cNvPr id="167" name="Google Shape;167;p7"/>
          <p:cNvSpPr/>
          <p:nvPr/>
        </p:nvSpPr>
        <p:spPr>
          <a:xfrm>
            <a:off x="9875520" y="1920240"/>
            <a:ext cx="7498080" cy="3017520"/>
          </a:xfrm>
          <a:prstGeom prst="roundRect">
            <a:avLst>
              <a:gd fmla="val 3636"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7"/>
          <p:cNvSpPr txBox="1"/>
          <p:nvPr/>
        </p:nvSpPr>
        <p:spPr>
          <a:xfrm>
            <a:off x="10241280" y="2194560"/>
            <a:ext cx="67665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הנוירוני (AI)</a:t>
            </a:r>
            <a:endParaRPr b="0" i="0" sz="2000" u="none" cap="none" strike="noStrike">
              <a:solidFill>
                <a:schemeClr val="dk1"/>
              </a:solidFill>
              <a:latin typeface="Calibri"/>
              <a:ea typeface="Calibri"/>
              <a:cs typeface="Calibri"/>
              <a:sym typeface="Calibri"/>
            </a:endParaRPr>
          </a:p>
        </p:txBody>
      </p:sp>
      <p:sp>
        <p:nvSpPr>
          <p:cNvPr id="169" name="Google Shape;169;p7"/>
          <p:cNvSpPr txBox="1"/>
          <p:nvPr/>
        </p:nvSpPr>
        <p:spPr>
          <a:xfrm>
            <a:off x="1024128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מודל AI</a:t>
            </a:r>
            <a:r>
              <a:rPr lang="iw-IL" sz="2000">
                <a:solidFill>
                  <a:srgbClr val="E9E9ED"/>
                </a:solidFill>
              </a:rPr>
              <a:t> </a:t>
            </a:r>
            <a:r>
              <a:rPr b="0" i="0" lang="iw-IL" sz="2000" u="none" cap="none" strike="noStrike">
                <a:solidFill>
                  <a:srgbClr val="E9E9ED"/>
                </a:solidFill>
                <a:latin typeface="Arial"/>
                <a:ea typeface="Arial"/>
                <a:cs typeface="Arial"/>
                <a:sym typeface="Arial"/>
              </a:rPr>
              <a:t>שמציע רמת דחיפות.</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קורא תלונה, מדדים חיוניים והיסטוריה, בלי פרטים מזהים.</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מחזיר רמה (מ-1 עד 5) וציון ביטחון.</a:t>
            </a:r>
            <a:endParaRPr b="0" i="0" sz="2000" u="none" cap="none" strike="noStrike">
              <a:solidFill>
                <a:schemeClr val="dk1"/>
              </a:solidFill>
              <a:latin typeface="Calibri"/>
              <a:ea typeface="Calibri"/>
              <a:cs typeface="Calibri"/>
              <a:sym typeface="Calibri"/>
            </a:endParaRPr>
          </a:p>
        </p:txBody>
      </p:sp>
      <p:sp>
        <p:nvSpPr>
          <p:cNvPr id="170" name="Google Shape;170;p7"/>
          <p:cNvSpPr txBox="1"/>
          <p:nvPr/>
        </p:nvSpPr>
        <p:spPr>
          <a:xfrm>
            <a:off x="8412480" y="3017520"/>
            <a:ext cx="1463040" cy="8229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2CEFD"/>
              </a:buClr>
              <a:buSzPts val="4400"/>
              <a:buFont typeface="Arial"/>
              <a:buNone/>
            </a:pPr>
            <a:r>
              <a:rPr b="0" i="0" lang="iw-IL" sz="4400" u="none" cap="none" strike="noStrike">
                <a:solidFill>
                  <a:srgbClr val="D2CEFD"/>
                </a:solidFill>
                <a:latin typeface="Arial"/>
                <a:ea typeface="Arial"/>
                <a:cs typeface="Arial"/>
                <a:sym typeface="Arial"/>
              </a:rPr>
              <a:t>←</a:t>
            </a:r>
            <a:endParaRPr b="0" i="0" sz="4400" u="none" cap="none" strike="noStrike">
              <a:solidFill>
                <a:schemeClr val="dk1"/>
              </a:solidFill>
              <a:latin typeface="Calibri"/>
              <a:ea typeface="Calibri"/>
              <a:cs typeface="Calibri"/>
              <a:sym typeface="Calibri"/>
            </a:endParaRPr>
          </a:p>
        </p:txBody>
      </p:sp>
      <p:sp>
        <p:nvSpPr>
          <p:cNvPr id="171" name="Google Shape;171;p7"/>
          <p:cNvSpPr txBox="1"/>
          <p:nvPr/>
        </p:nvSpPr>
        <p:spPr>
          <a:xfrm>
            <a:off x="8412480" y="3749040"/>
            <a:ext cx="1463040" cy="365760"/>
          </a:xfrm>
          <a:prstGeom prst="rect">
            <a:avLst/>
          </a:prstGeom>
          <a:noFill/>
          <a:ln>
            <a:noFill/>
          </a:ln>
        </p:spPr>
        <p:txBody>
          <a:bodyPr anchorCtr="0" anchor="t" bIns="0" lIns="0" spcFirstLastPara="1" rIns="0" wrap="square" tIns="0">
            <a:noAutofit/>
          </a:bodyPr>
          <a:lstStyle/>
          <a:p>
            <a:pPr indent="0" lvl="0" marL="0" marR="0" rtl="1" algn="ctr">
              <a:spcBef>
                <a:spcPts val="0"/>
              </a:spcBef>
              <a:spcAft>
                <a:spcPts val="0"/>
              </a:spcAft>
              <a:buClr>
                <a:srgbClr val="9397AB"/>
              </a:buClr>
              <a:buSzPts val="1500"/>
              <a:buFont typeface="Arial"/>
              <a:buNone/>
            </a:pPr>
            <a:r>
              <a:rPr b="0" i="0" lang="iw-IL" sz="1500" u="none" cap="none" strike="noStrike">
                <a:solidFill>
                  <a:srgbClr val="9397AB"/>
                </a:solidFill>
                <a:latin typeface="Arial"/>
                <a:ea typeface="Arial"/>
                <a:cs typeface="Arial"/>
                <a:sym typeface="Arial"/>
              </a:rPr>
              <a:t>הצעה</a:t>
            </a:r>
            <a:endParaRPr b="0" i="0" sz="1500" u="none" cap="none" strike="noStrike">
              <a:solidFill>
                <a:schemeClr val="dk1"/>
              </a:solidFill>
              <a:latin typeface="Calibri"/>
              <a:ea typeface="Calibri"/>
              <a:cs typeface="Calibri"/>
              <a:sym typeface="Calibri"/>
            </a:endParaRPr>
          </a:p>
        </p:txBody>
      </p:sp>
      <p:sp>
        <p:nvSpPr>
          <p:cNvPr id="172" name="Google Shape;172;p7"/>
          <p:cNvSpPr/>
          <p:nvPr/>
        </p:nvSpPr>
        <p:spPr>
          <a:xfrm>
            <a:off x="914400" y="1920240"/>
            <a:ext cx="7498080" cy="3017520"/>
          </a:xfrm>
          <a:prstGeom prst="roundRect">
            <a:avLst>
              <a:gd fmla="val 3636"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txBox="1"/>
          <p:nvPr/>
        </p:nvSpPr>
        <p:spPr>
          <a:xfrm>
            <a:off x="1280160" y="2194560"/>
            <a:ext cx="6766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הסימבולי (כללים)</a:t>
            </a:r>
            <a:endParaRPr b="0" i="0" sz="2000" u="none" cap="none" strike="noStrike">
              <a:solidFill>
                <a:schemeClr val="dk1"/>
              </a:solidFill>
              <a:latin typeface="Calibri"/>
              <a:ea typeface="Calibri"/>
              <a:cs typeface="Calibri"/>
              <a:sym typeface="Calibri"/>
            </a:endParaRPr>
          </a:p>
        </p:txBody>
      </p:sp>
      <p:sp>
        <p:nvSpPr>
          <p:cNvPr id="174" name="Google Shape;174;p7"/>
          <p:cNvSpPr txBox="1"/>
          <p:nvPr/>
        </p:nvSpPr>
        <p:spPr>
          <a:xfrm>
            <a:off x="128016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חמישה מנועים: OPA, Z3, Prolog, Datalog ו-BPpy.</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בודקים הרשאות, פרטיות, עקביות וסדר תור.</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מחליטים אם מותר להמשיך.</a:t>
            </a:r>
            <a:endParaRPr b="0" i="0" sz="2000" u="none" cap="none" strike="noStrike">
              <a:solidFill>
                <a:schemeClr val="dk1"/>
              </a:solidFill>
              <a:latin typeface="Calibri"/>
              <a:ea typeface="Calibri"/>
              <a:cs typeface="Calibri"/>
              <a:sym typeface="Calibri"/>
            </a:endParaRPr>
          </a:p>
        </p:txBody>
      </p:sp>
      <p:sp>
        <p:nvSpPr>
          <p:cNvPr id="175" name="Google Shape;175;p7"/>
          <p:cNvSpPr/>
          <p:nvPr/>
        </p:nvSpPr>
        <p:spPr>
          <a:xfrm>
            <a:off x="1225296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txBox="1"/>
          <p:nvPr/>
        </p:nvSpPr>
        <p:spPr>
          <a:xfrm>
            <a:off x="1257300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מה ה-AI אף פעם לא מחליט</a:t>
            </a:r>
            <a:endParaRPr b="0" i="0" sz="1900" u="none" cap="none" strike="noStrike">
              <a:solidFill>
                <a:schemeClr val="dk1"/>
              </a:solidFill>
              <a:latin typeface="Calibri"/>
              <a:ea typeface="Calibri"/>
              <a:cs typeface="Calibri"/>
              <a:sym typeface="Calibri"/>
            </a:endParaRPr>
          </a:p>
        </p:txBody>
      </p:sp>
      <p:sp>
        <p:nvSpPr>
          <p:cNvPr id="177" name="Google Shape;177;p7"/>
          <p:cNvSpPr txBox="1"/>
          <p:nvPr/>
        </p:nvSpPr>
        <p:spPr>
          <a:xfrm>
            <a:off x="12573000" y="6172200"/>
            <a:ext cx="4480560" cy="1645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רמת הדחיפות הסופית, הסדר בתור, הרשאות, טיפול בפרטים מזהים, תחילת טיפול ושחרור.</a:t>
            </a:r>
            <a:endParaRPr b="0" i="0" sz="1950" u="none" cap="none" strike="noStrike">
              <a:solidFill>
                <a:schemeClr val="dk1"/>
              </a:solidFill>
              <a:latin typeface="Calibri"/>
              <a:ea typeface="Calibri"/>
              <a:cs typeface="Calibri"/>
              <a:sym typeface="Calibri"/>
            </a:endParaRPr>
          </a:p>
        </p:txBody>
      </p:sp>
      <p:sp>
        <p:nvSpPr>
          <p:cNvPr id="178" name="Google Shape;178;p7"/>
          <p:cNvSpPr txBox="1"/>
          <p:nvPr/>
        </p:nvSpPr>
        <p:spPr>
          <a:xfrm>
            <a:off x="12573000" y="7909560"/>
            <a:ext cx="448056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t/>
            </a:r>
            <a:endParaRPr b="0" i="0" sz="1700" u="none" cap="none" strike="noStrike">
              <a:solidFill>
                <a:schemeClr val="dk1"/>
              </a:solidFill>
              <a:latin typeface="Calibri"/>
              <a:ea typeface="Calibri"/>
              <a:cs typeface="Calibri"/>
              <a:sym typeface="Calibri"/>
            </a:endParaRPr>
          </a:p>
        </p:txBody>
      </p:sp>
      <p:sp>
        <p:nvSpPr>
          <p:cNvPr id="179" name="Google Shape;179;p7"/>
          <p:cNvSpPr/>
          <p:nvPr/>
        </p:nvSpPr>
        <p:spPr>
          <a:xfrm>
            <a:off x="658368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txBox="1"/>
          <p:nvPr/>
        </p:nvSpPr>
        <p:spPr>
          <a:xfrm>
            <a:off x="690372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והאחות לא מסכימים</a:t>
            </a:r>
            <a:endParaRPr b="0" i="0" sz="1900" u="none" cap="none" strike="noStrike">
              <a:solidFill>
                <a:schemeClr val="dk1"/>
              </a:solidFill>
              <a:latin typeface="Calibri"/>
              <a:ea typeface="Calibri"/>
              <a:cs typeface="Calibri"/>
              <a:sym typeface="Calibri"/>
            </a:endParaRPr>
          </a:p>
        </p:txBody>
      </p:sp>
      <p:sp>
        <p:nvSpPr>
          <p:cNvPr id="181" name="Google Shape;181;p7"/>
          <p:cNvSpPr txBox="1"/>
          <p:nvPr/>
        </p:nvSpPr>
        <p:spPr>
          <a:xfrm>
            <a:off x="6903720" y="6172200"/>
            <a:ext cx="4480560" cy="324612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אותה רמה ← נשארים איתה.</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רמה אחת ← הרמה של האחות.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2 ומעלה ← אחות אחראית מחליטה, וההחלטה שלה סופית.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ה-AI לא בטוח (ביטחון מתחת ל-70%) ← אחות אחראית מחליטה.</a:t>
            </a:r>
            <a:endParaRPr b="0" i="0" sz="1900" u="none" cap="none" strike="noStrike">
              <a:solidFill>
                <a:schemeClr val="dk1"/>
              </a:solidFill>
              <a:latin typeface="Calibri"/>
              <a:ea typeface="Calibri"/>
              <a:cs typeface="Calibri"/>
              <a:sym typeface="Calibri"/>
            </a:endParaRPr>
          </a:p>
        </p:txBody>
      </p:sp>
      <p:sp>
        <p:nvSpPr>
          <p:cNvPr id="182" name="Google Shape;182;p7"/>
          <p:cNvSpPr/>
          <p:nvPr/>
        </p:nvSpPr>
        <p:spPr>
          <a:xfrm>
            <a:off x="91440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7"/>
          <p:cNvSpPr txBox="1"/>
          <p:nvPr/>
        </p:nvSpPr>
        <p:spPr>
          <a:xfrm>
            <a:off x="123444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מציע משהו אסור</a:t>
            </a:r>
            <a:endParaRPr b="0" i="0" sz="1900" u="none" cap="none" strike="noStrike">
              <a:solidFill>
                <a:schemeClr val="dk1"/>
              </a:solidFill>
              <a:latin typeface="Calibri"/>
              <a:ea typeface="Calibri"/>
              <a:cs typeface="Calibri"/>
              <a:sym typeface="Calibri"/>
            </a:endParaRPr>
          </a:p>
        </p:txBody>
      </p:sp>
      <p:sp>
        <p:nvSpPr>
          <p:cNvPr id="184" name="Google Shape;184;p7"/>
          <p:cNvSpPr txBox="1"/>
          <p:nvPr/>
        </p:nvSpPr>
        <p:spPr>
          <a:xfrm>
            <a:off x="1234440" y="6172200"/>
            <a:ext cx="4480560" cy="32461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הפעולה לא מתבצעת. היא נחסמת, נרשמת ביומן עם השכבה שחסמה (OPA או Prolog) וההסבר שלה.</a:t>
            </a:r>
            <a:endParaRPr b="0" i="0" sz="1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89" name="Shape 189"/>
        <p:cNvGrpSpPr/>
        <p:nvPr/>
      </p:nvGrpSpPr>
      <p:grpSpPr>
        <a:xfrm>
          <a:off x="0" y="0"/>
          <a:ext cx="0" cy="0"/>
          <a:chOff x="0" y="0"/>
          <a:chExt cx="0" cy="0"/>
        </a:xfrm>
      </p:grpSpPr>
      <p:sp>
        <p:nvSpPr>
          <p:cNvPr id="190" name="Google Shape;190;p8"/>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08 · Rule Engines</a:t>
            </a:r>
            <a:endParaRPr b="0" i="0" sz="1600" u="none" cap="none" strike="noStrike">
              <a:solidFill>
                <a:schemeClr val="dk1"/>
              </a:solidFill>
              <a:latin typeface="Calibri"/>
              <a:ea typeface="Calibri"/>
              <a:cs typeface="Calibri"/>
              <a:sym typeface="Calibri"/>
            </a:endParaRPr>
          </a:p>
        </p:txBody>
      </p:sp>
      <p:sp>
        <p:nvSpPr>
          <p:cNvPr id="191" name="Google Shape;191;p8"/>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מנועי הכללים</a:t>
            </a:r>
            <a:endParaRPr b="0" i="0" sz="4800" u="none" cap="none" strike="noStrike">
              <a:solidFill>
                <a:schemeClr val="dk1"/>
              </a:solidFill>
              <a:latin typeface="Calibri"/>
              <a:ea typeface="Calibri"/>
              <a:cs typeface="Calibri"/>
              <a:sym typeface="Calibri"/>
            </a:endParaRPr>
          </a:p>
        </p:txBody>
      </p:sp>
      <p:sp>
        <p:nvSpPr>
          <p:cNvPr id="192" name="Google Shape;192;p8"/>
          <p:cNvSpPr txBox="1"/>
          <p:nvPr/>
        </p:nvSpPr>
        <p:spPr>
          <a:xfrm>
            <a:off x="914400" y="1572768"/>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כלל ברזל (fail-closed): </a:t>
            </a:r>
            <a:r>
              <a:rPr b="0" i="0" lang="iw-IL" sz="1800" u="none" cap="none" strike="noStrike">
                <a:solidFill>
                  <a:srgbClr val="CFD3E5"/>
                </a:solidFill>
                <a:latin typeface="Arial"/>
                <a:ea typeface="Arial"/>
                <a:cs typeface="Arial"/>
                <a:sym typeface="Arial"/>
              </a:rPr>
              <a:t>מנוע שלא מצליח לענות לא מאשר. חוסר תשובה נחשב "לא". המנוע החמישי, BPpy, בוחר את הפעולה של כל טיימר במוניטור (שקף 9).</a:t>
            </a:r>
            <a:endParaRPr b="0" i="0" sz="1800" u="none" cap="none" strike="noStrike">
              <a:solidFill>
                <a:schemeClr val="dk1"/>
              </a:solidFill>
              <a:latin typeface="Calibri"/>
              <a:ea typeface="Calibri"/>
              <a:cs typeface="Calibri"/>
              <a:sym typeface="Calibri"/>
            </a:endParaRPr>
          </a:p>
        </p:txBody>
      </p:sp>
      <p:sp>
        <p:nvSpPr>
          <p:cNvPr id="193" name="Google Shape;193;p8"/>
          <p:cNvSpPr/>
          <p:nvPr/>
        </p:nvSpPr>
        <p:spPr>
          <a:xfrm>
            <a:off x="93726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txBox="1"/>
          <p:nvPr/>
        </p:nvSpPr>
        <p:spPr>
          <a:xfrm>
            <a:off x="142646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OPA</a:t>
            </a:r>
            <a:endParaRPr b="0" i="0" sz="2600" u="none" cap="none" strike="noStrike">
              <a:solidFill>
                <a:schemeClr val="dk1"/>
              </a:solidFill>
              <a:latin typeface="Calibri"/>
              <a:ea typeface="Calibri"/>
              <a:cs typeface="Calibri"/>
              <a:sym typeface="Calibri"/>
            </a:endParaRPr>
          </a:p>
        </p:txBody>
      </p:sp>
      <p:sp>
        <p:nvSpPr>
          <p:cNvPr id="195" name="Google Shape;195;p8"/>
          <p:cNvSpPr/>
          <p:nvPr/>
        </p:nvSpPr>
        <p:spPr>
          <a:xfrm>
            <a:off x="9738360" y="242316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txBox="1"/>
          <p:nvPr/>
        </p:nvSpPr>
        <p:spPr>
          <a:xfrm>
            <a:off x="97383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197" name="Google Shape;197;p8"/>
          <p:cNvSpPr txBox="1"/>
          <p:nvPr/>
        </p:nvSpPr>
        <p:spPr>
          <a:xfrm>
            <a:off x="97383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מותר לבצע את הפעולה עכשיו?</a:t>
            </a:r>
            <a:endParaRPr b="0" i="0" sz="1900" u="none" cap="none" strike="noStrike">
              <a:solidFill>
                <a:schemeClr val="dk1"/>
              </a:solidFill>
              <a:latin typeface="Calibri"/>
              <a:ea typeface="Calibri"/>
              <a:cs typeface="Calibri"/>
              <a:sym typeface="Calibri"/>
            </a:endParaRPr>
          </a:p>
        </p:txBody>
      </p:sp>
      <p:sp>
        <p:nvSpPr>
          <p:cNvPr id="198" name="Google Shape;198;p8"/>
          <p:cNvSpPr/>
          <p:nvPr/>
        </p:nvSpPr>
        <p:spPr>
          <a:xfrm>
            <a:off x="97383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txBox="1"/>
          <p:nvPr/>
        </p:nvSpPr>
        <p:spPr>
          <a:xfrm>
            <a:off x="99212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allow if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input.action == "move"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safety_settled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input.case.approved == true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input.actor_role in move_roles</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t>
            </a:r>
            <a:endParaRPr b="0" i="0" sz="1350" u="none" cap="none" strike="noStrike">
              <a:solidFill>
                <a:schemeClr val="dk1"/>
              </a:solidFill>
              <a:latin typeface="Calibri"/>
              <a:ea typeface="Calibri"/>
              <a:cs typeface="Calibri"/>
              <a:sym typeface="Calibri"/>
            </a:endParaRPr>
          </a:p>
        </p:txBody>
      </p:sp>
      <p:sp>
        <p:nvSpPr>
          <p:cNvPr id="200" name="Google Shape;200;p8"/>
          <p:cNvSpPr txBox="1"/>
          <p:nvPr/>
        </p:nvSpPr>
        <p:spPr>
          <a:xfrm>
            <a:off x="97383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אם התשובה "לא", הפעולה נחסמת (BLK), והמקרה לא עובר ל-</a:t>
            </a:r>
            <a:r>
              <a:rPr b="0" i="0" lang="iw-IL" sz="1500" u="none" cap="none" strike="noStrike">
                <a:solidFill>
                  <a:srgbClr val="E9E9ED"/>
                </a:solidFill>
                <a:latin typeface="Courier New"/>
                <a:ea typeface="Courier New"/>
                <a:cs typeface="Courier New"/>
                <a:sym typeface="Courier New"/>
              </a:rPr>
              <a:t>treatment_started</a:t>
            </a:r>
            <a:r>
              <a:rPr b="0" i="0" lang="iw-IL" sz="1600" u="none" cap="none" strike="noStrike">
                <a:solidFill>
                  <a:srgbClr val="E9E9ED"/>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201" name="Google Shape;201;p8"/>
          <p:cNvSpPr/>
          <p:nvPr/>
        </p:nvSpPr>
        <p:spPr>
          <a:xfrm>
            <a:off x="9144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8"/>
          <p:cNvSpPr txBox="1"/>
          <p:nvPr/>
        </p:nvSpPr>
        <p:spPr>
          <a:xfrm>
            <a:off x="58064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Z3</a:t>
            </a:r>
            <a:endParaRPr b="0" i="0" sz="2600" u="none" cap="none" strike="noStrike">
              <a:solidFill>
                <a:schemeClr val="dk1"/>
              </a:solidFill>
              <a:latin typeface="Calibri"/>
              <a:ea typeface="Calibri"/>
              <a:cs typeface="Calibri"/>
              <a:sym typeface="Calibri"/>
            </a:endParaRPr>
          </a:p>
        </p:txBody>
      </p:sp>
      <p:sp>
        <p:nvSpPr>
          <p:cNvPr id="203" name="Google Shape;203;p8"/>
          <p:cNvSpPr/>
          <p:nvPr/>
        </p:nvSpPr>
        <p:spPr>
          <a:xfrm>
            <a:off x="1280160" y="2423160"/>
            <a:ext cx="1737360" cy="420624"/>
          </a:xfrm>
          <a:prstGeom prst="roundRect">
            <a:avLst>
              <a:gd fmla="val 21739" name="adj"/>
            </a:avLst>
          </a:prstGeom>
          <a:solidFill>
            <a:srgbClr val="3A2F14"/>
          </a:solidFill>
          <a:ln cap="flat" cmpd="sng" w="9525">
            <a:solidFill>
              <a:srgbClr val="3A2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txBox="1"/>
          <p:nvPr/>
        </p:nvSpPr>
        <p:spPr>
          <a:xfrm>
            <a:off x="12801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F2D28B"/>
              </a:buClr>
              <a:buSzPts val="1500"/>
              <a:buFont typeface="Arial"/>
              <a:buNone/>
            </a:pPr>
            <a:r>
              <a:rPr b="1" i="0" lang="iw-IL" sz="1500" u="none" cap="none" strike="noStrike">
                <a:solidFill>
                  <a:srgbClr val="F2D28B"/>
                </a:solidFill>
                <a:latin typeface="Arial"/>
                <a:ea typeface="Arial"/>
                <a:cs typeface="Arial"/>
                <a:sym typeface="Arial"/>
              </a:rPr>
              <a:t>זמן תכנון</a:t>
            </a:r>
            <a:endParaRPr b="0" i="0" sz="1500" u="none" cap="none" strike="noStrike">
              <a:solidFill>
                <a:schemeClr val="dk1"/>
              </a:solidFill>
              <a:latin typeface="Calibri"/>
              <a:ea typeface="Calibri"/>
              <a:cs typeface="Calibri"/>
              <a:sym typeface="Calibri"/>
            </a:endParaRPr>
          </a:p>
        </p:txBody>
      </p:sp>
      <p:sp>
        <p:nvSpPr>
          <p:cNvPr id="205" name="Google Shape;205;p8"/>
          <p:cNvSpPr txBox="1"/>
          <p:nvPr/>
        </p:nvSpPr>
        <p:spPr>
          <a:xfrm>
            <a:off x="12801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קיים קלט כלשהו ששובר את הכללים?</a:t>
            </a:r>
            <a:endParaRPr b="0" i="0" sz="1900" u="none" cap="none" strike="noStrike">
              <a:solidFill>
                <a:schemeClr val="dk1"/>
              </a:solidFill>
              <a:latin typeface="Calibri"/>
              <a:ea typeface="Calibri"/>
              <a:cs typeface="Calibri"/>
              <a:sym typeface="Calibri"/>
            </a:endParaRPr>
          </a:p>
        </p:txBody>
      </p:sp>
      <p:sp>
        <p:nvSpPr>
          <p:cNvPr id="206" name="Google Shape;206;p8"/>
          <p:cNvSpPr/>
          <p:nvPr/>
        </p:nvSpPr>
        <p:spPr>
          <a:xfrm>
            <a:off x="12801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txBox="1"/>
          <p:nvPr/>
        </p:nvSpPr>
        <p:spPr>
          <a:xfrm>
            <a:off x="14630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 = Solver()</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solver.add(Not(claim))</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if solver.check() == unsat: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return True, ""   # PROVED</a:t>
            </a:r>
            <a:endParaRPr b="0" i="0" sz="1350" u="none" cap="none" strike="noStrike">
              <a:solidFill>
                <a:schemeClr val="dk1"/>
              </a:solidFill>
              <a:latin typeface="Calibri"/>
              <a:ea typeface="Calibri"/>
              <a:cs typeface="Calibri"/>
              <a:sym typeface="Calibri"/>
            </a:endParaRPr>
          </a:p>
        </p:txBody>
      </p:sp>
      <p:sp>
        <p:nvSpPr>
          <p:cNvPr id="208" name="Google Shape;208;p8"/>
          <p:cNvSpPr txBox="1"/>
          <p:nvPr/>
        </p:nvSpPr>
        <p:spPr>
          <a:xfrm>
            <a:off x="12801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unsat</a:t>
            </a:r>
            <a:r>
              <a:rPr b="0" i="0" lang="iw-IL" sz="1600" u="none" cap="none" strike="noStrike">
                <a:solidFill>
                  <a:srgbClr val="E9E9ED"/>
                </a:solidFill>
                <a:latin typeface="Arial"/>
                <a:ea typeface="Arial"/>
                <a:cs typeface="Arial"/>
                <a:sym typeface="Arial"/>
              </a:rPr>
              <a:t> = אין קלט ששובר את הכלל, והכלל מוכח. </a:t>
            </a:r>
            <a:r>
              <a:rPr b="1" i="0" lang="iw-IL" sz="1600" u="none" cap="none" strike="noStrike">
                <a:solidFill>
                  <a:srgbClr val="9397AB"/>
                </a:solidFill>
                <a:latin typeface="Arial"/>
                <a:ea typeface="Arial"/>
                <a:cs typeface="Arial"/>
                <a:sym typeface="Arial"/>
              </a:rPr>
              <a:t>sat</a:t>
            </a:r>
            <a:r>
              <a:rPr b="0" i="0" lang="iw-IL" sz="1600" u="none" cap="none" strike="noStrike">
                <a:solidFill>
                  <a:srgbClr val="E9E9ED"/>
                </a:solidFill>
                <a:latin typeface="Arial"/>
                <a:ea typeface="Arial"/>
                <a:cs typeface="Arial"/>
                <a:sym typeface="Arial"/>
              </a:rPr>
              <a:t> = Z3 מחזיר את הדוגמה, והבדיקות נכשלות. כך מובטח שכל פער מוביל למעבר אחד בדיוק.</a:t>
            </a:r>
            <a:endParaRPr b="0" i="0" sz="1600" u="none" cap="none" strike="noStrike">
              <a:solidFill>
                <a:schemeClr val="dk1"/>
              </a:solidFill>
              <a:latin typeface="Calibri"/>
              <a:ea typeface="Calibri"/>
              <a:cs typeface="Calibri"/>
              <a:sym typeface="Calibri"/>
            </a:endParaRPr>
          </a:p>
        </p:txBody>
      </p:sp>
      <p:sp>
        <p:nvSpPr>
          <p:cNvPr id="209" name="Google Shape;209;p8"/>
          <p:cNvSpPr/>
          <p:nvPr/>
        </p:nvSpPr>
        <p:spPr>
          <a:xfrm>
            <a:off x="93726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txBox="1"/>
          <p:nvPr/>
        </p:nvSpPr>
        <p:spPr>
          <a:xfrm>
            <a:off x="142646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Prolog</a:t>
            </a:r>
            <a:endParaRPr b="0" i="0" sz="2600" u="none" cap="none" strike="noStrike">
              <a:solidFill>
                <a:schemeClr val="dk1"/>
              </a:solidFill>
              <a:latin typeface="Calibri"/>
              <a:ea typeface="Calibri"/>
              <a:cs typeface="Calibri"/>
              <a:sym typeface="Calibri"/>
            </a:endParaRPr>
          </a:p>
        </p:txBody>
      </p:sp>
      <p:sp>
        <p:nvSpPr>
          <p:cNvPr id="211" name="Google Shape;211;p8"/>
          <p:cNvSpPr/>
          <p:nvPr/>
        </p:nvSpPr>
        <p:spPr>
          <a:xfrm>
            <a:off x="97383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txBox="1"/>
          <p:nvPr/>
        </p:nvSpPr>
        <p:spPr>
          <a:xfrm>
            <a:off x="97383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13" name="Google Shape;213;p8"/>
          <p:cNvSpPr txBox="1"/>
          <p:nvPr/>
        </p:nvSpPr>
        <p:spPr>
          <a:xfrm>
            <a:off x="97383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הרשומה של המקרה הגיונית?</a:t>
            </a:r>
            <a:endParaRPr b="0" i="0" sz="1900" u="none" cap="none" strike="noStrike">
              <a:solidFill>
                <a:schemeClr val="dk1"/>
              </a:solidFill>
              <a:latin typeface="Calibri"/>
              <a:ea typeface="Calibri"/>
              <a:cs typeface="Calibri"/>
              <a:sym typeface="Calibri"/>
            </a:endParaRPr>
          </a:p>
        </p:txBody>
      </p:sp>
      <p:sp>
        <p:nvSpPr>
          <p:cNvPr id="214" name="Google Shape;214;p8"/>
          <p:cNvSpPr/>
          <p:nvPr/>
        </p:nvSpPr>
        <p:spPr>
          <a:xfrm>
            <a:off x="97383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8"/>
          <p:cNvSpPr txBox="1"/>
          <p:nvPr/>
        </p:nvSpPr>
        <p:spPr>
          <a:xfrm>
            <a:off x="99212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violation(auto_resolved_on_major_gap)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acuity_source(auto_resolved),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gap(G), integer(G), G &gt;= 2.</a:t>
            </a:r>
            <a:endParaRPr b="0" i="0" sz="1350" u="none" cap="none" strike="noStrike">
              <a:solidFill>
                <a:schemeClr val="dk1"/>
              </a:solidFill>
              <a:latin typeface="Calibri"/>
              <a:ea typeface="Calibri"/>
              <a:cs typeface="Calibri"/>
              <a:sym typeface="Calibri"/>
            </a:endParaRPr>
          </a:p>
        </p:txBody>
      </p:sp>
      <p:sp>
        <p:nvSpPr>
          <p:cNvPr id="216" name="Google Shape;216;p8"/>
          <p:cNvSpPr txBox="1"/>
          <p:nvPr/>
        </p:nvSpPr>
        <p:spPr>
          <a:xfrm>
            <a:off x="97383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הפרה מעבירה את המקרה ל-</a:t>
            </a:r>
            <a:r>
              <a:rPr b="0" i="0" lang="iw-IL" sz="1500" u="none" cap="none" strike="noStrike">
                <a:solidFill>
                  <a:srgbClr val="E9E9ED"/>
                </a:solidFill>
                <a:latin typeface="Courier New"/>
                <a:ea typeface="Courier New"/>
                <a:cs typeface="Courier New"/>
                <a:sym typeface="Courier New"/>
              </a:rPr>
              <a:t>awaiting_human_approval</a:t>
            </a:r>
            <a:r>
              <a:rPr b="0" i="0" lang="iw-IL" sz="1600" u="none" cap="none" strike="noStrike">
                <a:solidFill>
                  <a:srgbClr val="E9E9ED"/>
                </a:solidFill>
                <a:latin typeface="Arial"/>
                <a:ea typeface="Arial"/>
                <a:cs typeface="Arial"/>
                <a:sym typeface="Arial"/>
              </a:rPr>
              <a:t>, עם משפט שמסביר מה לתקן.</a:t>
            </a:r>
            <a:endParaRPr b="0" i="0" sz="1600" u="none" cap="none" strike="noStrike">
              <a:solidFill>
                <a:schemeClr val="dk1"/>
              </a:solidFill>
              <a:latin typeface="Calibri"/>
              <a:ea typeface="Calibri"/>
              <a:cs typeface="Calibri"/>
              <a:sym typeface="Calibri"/>
            </a:endParaRPr>
          </a:p>
        </p:txBody>
      </p:sp>
      <p:sp>
        <p:nvSpPr>
          <p:cNvPr id="217" name="Google Shape;217;p8"/>
          <p:cNvSpPr/>
          <p:nvPr/>
        </p:nvSpPr>
        <p:spPr>
          <a:xfrm>
            <a:off x="9144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8"/>
          <p:cNvSpPr txBox="1"/>
          <p:nvPr/>
        </p:nvSpPr>
        <p:spPr>
          <a:xfrm>
            <a:off x="58064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Datalog</a:t>
            </a:r>
            <a:endParaRPr b="0" i="0" sz="2600" u="none" cap="none" strike="noStrike">
              <a:solidFill>
                <a:schemeClr val="dk1"/>
              </a:solidFill>
              <a:latin typeface="Calibri"/>
              <a:ea typeface="Calibri"/>
              <a:cs typeface="Calibri"/>
              <a:sym typeface="Calibri"/>
            </a:endParaRPr>
          </a:p>
        </p:txBody>
      </p:sp>
      <p:sp>
        <p:nvSpPr>
          <p:cNvPr id="219" name="Google Shape;219;p8"/>
          <p:cNvSpPr/>
          <p:nvPr/>
        </p:nvSpPr>
        <p:spPr>
          <a:xfrm>
            <a:off x="12801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8"/>
          <p:cNvSpPr txBox="1"/>
          <p:nvPr/>
        </p:nvSpPr>
        <p:spPr>
          <a:xfrm>
            <a:off x="12801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21" name="Google Shape;221;p8"/>
          <p:cNvSpPr txBox="1"/>
          <p:nvPr/>
        </p:nvSpPr>
        <p:spPr>
          <a:xfrm>
            <a:off x="12801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יש מטופל שממתין בלי טיימר לבדיקה חוזרת?</a:t>
            </a:r>
            <a:endParaRPr b="0" i="0" sz="1900" u="none" cap="none" strike="noStrike">
              <a:solidFill>
                <a:schemeClr val="dk1"/>
              </a:solidFill>
              <a:latin typeface="Calibri"/>
              <a:ea typeface="Calibri"/>
              <a:cs typeface="Calibri"/>
              <a:sym typeface="Calibri"/>
            </a:endParaRPr>
          </a:p>
        </p:txBody>
      </p:sp>
      <p:sp>
        <p:nvSpPr>
          <p:cNvPr id="222" name="Google Shape;222;p8"/>
          <p:cNvSpPr/>
          <p:nvPr/>
        </p:nvSpPr>
        <p:spPr>
          <a:xfrm>
            <a:off x="12801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8"/>
          <p:cNvSpPr txBox="1"/>
          <p:nvPr/>
        </p:nvSpPr>
        <p:spPr>
          <a:xfrm>
            <a:off x="14630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unwatched(C) &lt;=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waiting(C) &amp; ~live_timer(C, 'reassessment', T)</a:t>
            </a:r>
            <a:endParaRPr b="0" i="0" sz="1350" u="none" cap="none" strike="noStrike">
              <a:solidFill>
                <a:schemeClr val="dk1"/>
              </a:solidFill>
              <a:latin typeface="Calibri"/>
              <a:ea typeface="Calibri"/>
              <a:cs typeface="Calibri"/>
              <a:sym typeface="Calibri"/>
            </a:endParaRPr>
          </a:p>
        </p:txBody>
      </p:sp>
      <p:sp>
        <p:nvSpPr>
          <p:cNvPr id="224" name="Google Shape;224;p8"/>
          <p:cNvSpPr txBox="1"/>
          <p:nvPr/>
        </p:nvSpPr>
        <p:spPr>
          <a:xfrm>
            <a:off x="12801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אף מקרה לא זז. ממצא נשלח לטכנאי, והטיימרים לא משתנים.</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29" name="Shape 229"/>
        <p:cNvGrpSpPr/>
        <p:nvPr/>
      </p:nvGrpSpPr>
      <p:grpSpPr>
        <a:xfrm>
          <a:off x="0" y="0"/>
          <a:ext cx="0" cy="0"/>
          <a:chOff x="0" y="0"/>
          <a:chExt cx="0" cy="0"/>
        </a:xfrm>
      </p:grpSpPr>
      <p:sp>
        <p:nvSpPr>
          <p:cNvPr id="230" name="Google Shape;230;p9"/>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09 · Waiting-Room Monitor</a:t>
            </a:r>
            <a:endParaRPr b="0" i="0" sz="1600" u="none" cap="none" strike="noStrike">
              <a:solidFill>
                <a:schemeClr val="dk1"/>
              </a:solidFill>
              <a:latin typeface="Calibri"/>
              <a:ea typeface="Calibri"/>
              <a:cs typeface="Calibri"/>
              <a:sym typeface="Calibri"/>
            </a:endParaRPr>
          </a:p>
        </p:txBody>
      </p:sp>
      <p:sp>
        <p:nvSpPr>
          <p:cNvPr id="231" name="Google Shape;231;p9"/>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המוניטור: איך אף מטופל לא נשכח</a:t>
            </a:r>
            <a:endParaRPr b="0" i="0" sz="4800" u="none" cap="none" strike="noStrike">
              <a:solidFill>
                <a:schemeClr val="dk1"/>
              </a:solidFill>
              <a:latin typeface="Calibri"/>
              <a:ea typeface="Calibri"/>
              <a:cs typeface="Calibri"/>
              <a:sym typeface="Calibri"/>
            </a:endParaRPr>
          </a:p>
        </p:txBody>
      </p:sp>
      <p:sp>
        <p:nvSpPr>
          <p:cNvPr id="232" name="Google Shape;232;p9"/>
          <p:cNvSpPr txBox="1"/>
          <p:nvPr/>
        </p:nvSpPr>
        <p:spPr>
          <a:xfrm>
            <a:off x="914400" y="1920250"/>
            <a:ext cx="16459200" cy="10296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אף אחד לא יושב מול שעון לכל מטופל. </a:t>
            </a:r>
            <a:r>
              <a:rPr b="0" i="0" lang="iw-IL" sz="1900" u="none" cap="none" strike="noStrike">
                <a:solidFill>
                  <a:srgbClr val="E9E9ED"/>
                </a:solidFill>
                <a:latin typeface="Arial"/>
                <a:ea typeface="Arial"/>
                <a:cs typeface="Arial"/>
                <a:sym typeface="Arial"/>
              </a:rPr>
              <a:t>לכן המערכת קובעת לכל מקרה "שעונים מעוררים" (טיימרים), ותהליך רקע מפעיל אותם בזמן.</a:t>
            </a:r>
            <a:endParaRPr b="0" i="0" sz="19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מקרה שממתין לא רץ בלולאה. </a:t>
            </a:r>
            <a:r>
              <a:rPr b="0" i="0" lang="iw-IL" sz="1900" u="none" cap="none" strike="noStrike">
                <a:solidFill>
                  <a:srgbClr val="E9E9ED"/>
                </a:solidFill>
                <a:latin typeface="Arial"/>
                <a:ea typeface="Arial"/>
                <a:cs typeface="Arial"/>
                <a:sym typeface="Arial"/>
              </a:rPr>
              <a:t>הוא שומר את המצב שלו במסד הנתונים ועוצר. טיימר או אחות מעירים אותו בדיוק מאותה נקודה.</a:t>
            </a:r>
            <a:endParaRPr b="0" i="0" sz="1900" u="none" cap="none" strike="noStrike">
              <a:solidFill>
                <a:schemeClr val="dk1"/>
              </a:solidFill>
              <a:latin typeface="Calibri"/>
              <a:ea typeface="Calibri"/>
              <a:cs typeface="Calibri"/>
              <a:sym typeface="Calibri"/>
            </a:endParaRPr>
          </a:p>
        </p:txBody>
      </p:sp>
      <p:sp>
        <p:nvSpPr>
          <p:cNvPr id="233" name="Google Shape;233;p9"/>
          <p:cNvSpPr/>
          <p:nvPr/>
        </p:nvSpPr>
        <p:spPr>
          <a:xfrm>
            <a:off x="9509760" y="3483018"/>
            <a:ext cx="7863900" cy="5120700"/>
          </a:xfrm>
          <a:prstGeom prst="roundRect">
            <a:avLst>
              <a:gd fmla="val 214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txBox="1"/>
          <p:nvPr/>
        </p:nvSpPr>
        <p:spPr>
          <a:xfrm>
            <a:off x="9875520" y="3711618"/>
            <a:ext cx="7132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כל 5 שניות, המוניטור:</a:t>
            </a:r>
            <a:endParaRPr b="0" i="0" sz="2000" u="none" cap="none" strike="noStrike">
              <a:solidFill>
                <a:schemeClr val="dk1"/>
              </a:solidFill>
              <a:latin typeface="Calibri"/>
              <a:ea typeface="Calibri"/>
              <a:cs typeface="Calibri"/>
              <a:sym typeface="Calibri"/>
            </a:endParaRPr>
          </a:p>
        </p:txBody>
      </p:sp>
      <p:sp>
        <p:nvSpPr>
          <p:cNvPr id="235" name="Google Shape;235;p9"/>
          <p:cNvSpPr/>
          <p:nvPr/>
        </p:nvSpPr>
        <p:spPr>
          <a:xfrm>
            <a:off x="16504920" y="4397418"/>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txBox="1"/>
          <p:nvPr/>
        </p:nvSpPr>
        <p:spPr>
          <a:xfrm>
            <a:off x="16504920" y="439741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237" name="Google Shape;237;p9"/>
          <p:cNvSpPr txBox="1"/>
          <p:nvPr/>
        </p:nvSpPr>
        <p:spPr>
          <a:xfrm>
            <a:off x="9875520" y="4351698"/>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מדווח "אני חי", כדי שאפשר יהיה לזהות שהוא קרס.</a:t>
            </a:r>
            <a:endParaRPr b="0" i="0" sz="1800" u="none" cap="none" strike="noStrike">
              <a:solidFill>
                <a:schemeClr val="dk1"/>
              </a:solidFill>
              <a:latin typeface="Calibri"/>
              <a:ea typeface="Calibri"/>
              <a:cs typeface="Calibri"/>
              <a:sym typeface="Calibri"/>
            </a:endParaRPr>
          </a:p>
        </p:txBody>
      </p:sp>
      <p:sp>
        <p:nvSpPr>
          <p:cNvPr id="238" name="Google Shape;238;p9"/>
          <p:cNvSpPr/>
          <p:nvPr/>
        </p:nvSpPr>
        <p:spPr>
          <a:xfrm>
            <a:off x="16504920" y="5421546"/>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9"/>
          <p:cNvSpPr txBox="1"/>
          <p:nvPr/>
        </p:nvSpPr>
        <p:spPr>
          <a:xfrm>
            <a:off x="16504920" y="5421546"/>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240" name="Google Shape;240;p9"/>
          <p:cNvSpPr txBox="1"/>
          <p:nvPr/>
        </p:nvSpPr>
        <p:spPr>
          <a:xfrm>
            <a:off x="9875520" y="5375826"/>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מוצא טיימרים שהגיע זמנם.</a:t>
            </a:r>
            <a:endParaRPr b="0" i="0" sz="1800" u="none" cap="none" strike="noStrike">
              <a:solidFill>
                <a:schemeClr val="dk1"/>
              </a:solidFill>
              <a:latin typeface="Calibri"/>
              <a:ea typeface="Calibri"/>
              <a:cs typeface="Calibri"/>
              <a:sym typeface="Calibri"/>
            </a:endParaRPr>
          </a:p>
        </p:txBody>
      </p:sp>
      <p:sp>
        <p:nvSpPr>
          <p:cNvPr id="241" name="Google Shape;241;p9"/>
          <p:cNvSpPr/>
          <p:nvPr/>
        </p:nvSpPr>
        <p:spPr>
          <a:xfrm>
            <a:off x="16504920" y="6445674"/>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9"/>
          <p:cNvSpPr txBox="1"/>
          <p:nvPr/>
        </p:nvSpPr>
        <p:spPr>
          <a:xfrm>
            <a:off x="16504920" y="644567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243" name="Google Shape;243;p9"/>
          <p:cNvSpPr txBox="1"/>
          <p:nvPr/>
        </p:nvSpPr>
        <p:spPr>
          <a:xfrm>
            <a:off x="9875520" y="6399954"/>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מעביר כל טיימר להחלטה: BPpy בוחר מה לעשות איתו, Prolog מוודא שהוא מסכים (אם לא, הטיימר נעצר), ו-OPA מאשר רגע לפני הפעולה.</a:t>
            </a:r>
            <a:endParaRPr b="0" i="0" sz="1800" u="none" cap="none" strike="noStrike">
              <a:solidFill>
                <a:schemeClr val="dk1"/>
              </a:solidFill>
              <a:latin typeface="Calibri"/>
              <a:ea typeface="Calibri"/>
              <a:cs typeface="Calibri"/>
              <a:sym typeface="Calibri"/>
            </a:endParaRPr>
          </a:p>
        </p:txBody>
      </p:sp>
      <p:sp>
        <p:nvSpPr>
          <p:cNvPr id="244" name="Google Shape;244;p9"/>
          <p:cNvSpPr/>
          <p:nvPr/>
        </p:nvSpPr>
        <p:spPr>
          <a:xfrm>
            <a:off x="16504920" y="7469802"/>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9"/>
          <p:cNvSpPr txBox="1"/>
          <p:nvPr/>
        </p:nvSpPr>
        <p:spPr>
          <a:xfrm>
            <a:off x="16504920" y="746980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246" name="Google Shape;246;p9"/>
          <p:cNvSpPr txBox="1"/>
          <p:nvPr/>
        </p:nvSpPr>
        <p:spPr>
          <a:xfrm>
            <a:off x="9875520" y="7424082"/>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מריץ בדיקת Datalog על כל המערכת, ומחפש מטופל שממתין בלי טיימר.</a:t>
            </a:r>
            <a:endParaRPr b="0" i="0" sz="1800" u="none" cap="none" strike="noStrike">
              <a:solidFill>
                <a:schemeClr val="dk1"/>
              </a:solidFill>
              <a:latin typeface="Calibri"/>
              <a:ea typeface="Calibri"/>
              <a:cs typeface="Calibri"/>
              <a:sym typeface="Calibri"/>
            </a:endParaRPr>
          </a:p>
        </p:txBody>
      </p:sp>
      <p:graphicFrame>
        <p:nvGraphicFramePr>
          <p:cNvPr id="247" name="Google Shape;247;p9"/>
          <p:cNvGraphicFramePr/>
          <p:nvPr/>
        </p:nvGraphicFramePr>
        <p:xfrm>
          <a:off x="914400" y="3482204"/>
          <a:ext cx="3000000" cy="3000000"/>
        </p:xfrm>
        <a:graphic>
          <a:graphicData uri="http://schemas.openxmlformats.org/drawingml/2006/table">
            <a:tbl>
              <a:tblPr>
                <a:noFill/>
                <a:tableStyleId>{04CC930A-5F64-4B84-AD67-B738C2A8A3AE}</a:tableStyleId>
              </a:tblPr>
              <a:tblGrid>
                <a:gridCol w="2834650"/>
                <a:gridCol w="3017525"/>
                <a:gridCol w="2377450"/>
              </a:tblGrid>
              <a:tr h="548650">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מה הוא עושה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מתי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טיימר</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מעיר את המקרה לבדיקה מחדש</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כל 10 דקות ברמה 1, ועד 120 דקות ברמה 5</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הערכה חוזרת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לאחות, ואז לכל האחיות האחראיות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אחרי 10 דקות, ושוב אחרי 20</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לשער אישור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לכל אחראי המשמרת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10 דקות אחרי הסלמה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לבכיר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248" name="Google Shape;248;p9"/>
          <p:cNvSpPr/>
          <p:nvPr/>
        </p:nvSpPr>
        <p:spPr>
          <a:xfrm>
            <a:off x="914400" y="7139804"/>
            <a:ext cx="8229600" cy="146310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9"/>
          <p:cNvSpPr txBox="1"/>
          <p:nvPr/>
        </p:nvSpPr>
        <p:spPr>
          <a:xfrm>
            <a:off x="1234440" y="7231244"/>
            <a:ext cx="7589400" cy="12801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750"/>
              <a:buFont typeface="Arial"/>
              <a:buNone/>
            </a:pPr>
            <a:r>
              <a:rPr b="1" i="0" lang="iw-IL" sz="1750" u="none" cap="none" strike="noStrike">
                <a:solidFill>
                  <a:srgbClr val="D2CEFD"/>
                </a:solidFill>
                <a:latin typeface="Arial"/>
                <a:ea typeface="Arial"/>
                <a:cs typeface="Arial"/>
                <a:sym typeface="Arial"/>
              </a:rPr>
              <a:t>הגנות: </a:t>
            </a:r>
            <a:r>
              <a:rPr b="0" i="0" lang="iw-IL" sz="1750" u="none" cap="none" strike="noStrike">
                <a:solidFill>
                  <a:srgbClr val="E9E9ED"/>
                </a:solidFill>
                <a:latin typeface="Arial"/>
                <a:ea typeface="Arial"/>
                <a:cs typeface="Arial"/>
                <a:sym typeface="Arial"/>
              </a:rPr>
              <a:t>טיימר שלא ברור אם פעל נבדק קודם ביומן, ואחרי 3 ניסיונות אדם מקבל התראה. לכל היותר 5 התראות בשעה לכל קבוצת נמענים.</a:t>
            </a:r>
            <a:endParaRPr b="0" i="0" sz="17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54" name="Shape 254"/>
        <p:cNvGrpSpPr/>
        <p:nvPr/>
      </p:nvGrpSpPr>
      <p:grpSpPr>
        <a:xfrm>
          <a:off x="0" y="0"/>
          <a:ext cx="0" cy="0"/>
          <a:chOff x="0" y="0"/>
          <a:chExt cx="0" cy="0"/>
        </a:xfrm>
      </p:grpSpPr>
      <p:sp>
        <p:nvSpPr>
          <p:cNvPr id="255" name="Google Shape;255;p11"/>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0</a:t>
            </a:r>
            <a:r>
              <a:rPr b="0" i="0" lang="iw-IL" sz="1600" u="none" cap="none" strike="noStrike">
                <a:solidFill>
                  <a:srgbClr val="9397AB"/>
                </a:solidFill>
                <a:latin typeface="Courier New"/>
                <a:ea typeface="Courier New"/>
                <a:cs typeface="Courier New"/>
                <a:sym typeface="Courier New"/>
              </a:rPr>
              <a:t> · Evaluation</a:t>
            </a:r>
            <a:endParaRPr b="0" i="0" sz="1600" u="none" cap="none" strike="noStrike">
              <a:solidFill>
                <a:schemeClr val="dk1"/>
              </a:solidFill>
              <a:latin typeface="Calibri"/>
              <a:ea typeface="Calibri"/>
              <a:cs typeface="Calibri"/>
              <a:sym typeface="Calibri"/>
            </a:endParaRPr>
          </a:p>
        </p:txBody>
      </p:sp>
      <p:sp>
        <p:nvSpPr>
          <p:cNvPr id="256" name="Google Shape;256;p11"/>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איך בדקנו את המערכת</a:t>
            </a:r>
            <a:endParaRPr b="0" i="0" sz="4800" u="none" cap="none" strike="noStrike">
              <a:solidFill>
                <a:schemeClr val="dk1"/>
              </a:solidFill>
              <a:latin typeface="Calibri"/>
              <a:ea typeface="Calibri"/>
              <a:cs typeface="Calibri"/>
              <a:sym typeface="Calibri"/>
            </a:endParaRPr>
          </a:p>
        </p:txBody>
      </p:sp>
      <p:sp>
        <p:nvSpPr>
          <p:cNvPr id="257" name="Google Shape;257;p11"/>
          <p:cNvSpPr/>
          <p:nvPr/>
        </p:nvSpPr>
        <p:spPr>
          <a:xfrm>
            <a:off x="12435840" y="1920240"/>
            <a:ext cx="4937760" cy="1600200"/>
          </a:xfrm>
          <a:prstGeom prst="roundRect">
            <a:avLst>
              <a:gd fmla="val 685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1"/>
          <p:cNvSpPr txBox="1"/>
          <p:nvPr/>
        </p:nvSpPr>
        <p:spPr>
          <a:xfrm>
            <a:off x="12710160" y="205740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500+</a:t>
            </a:r>
            <a:endParaRPr b="0" i="0" sz="5000" u="none" cap="none" strike="noStrike">
              <a:solidFill>
                <a:schemeClr val="dk1"/>
              </a:solidFill>
              <a:latin typeface="Calibri"/>
              <a:ea typeface="Calibri"/>
              <a:cs typeface="Calibri"/>
              <a:sym typeface="Calibri"/>
            </a:endParaRPr>
          </a:p>
        </p:txBody>
      </p:sp>
      <p:sp>
        <p:nvSpPr>
          <p:cNvPr id="259" name="Google Shape;259;p11"/>
          <p:cNvSpPr txBox="1"/>
          <p:nvPr/>
        </p:nvSpPr>
        <p:spPr>
          <a:xfrm>
            <a:off x="12710160" y="290779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בדיקות אוטומטיות עוברות</a:t>
            </a:r>
            <a:endParaRPr b="0" i="0" sz="1600" u="none" cap="none" strike="noStrike">
              <a:solidFill>
                <a:schemeClr val="dk1"/>
              </a:solidFill>
              <a:latin typeface="Calibri"/>
              <a:ea typeface="Calibri"/>
              <a:cs typeface="Calibri"/>
              <a:sym typeface="Calibri"/>
            </a:endParaRPr>
          </a:p>
        </p:txBody>
      </p:sp>
      <p:sp>
        <p:nvSpPr>
          <p:cNvPr id="260" name="Google Shape;260;p11"/>
          <p:cNvSpPr/>
          <p:nvPr/>
        </p:nvSpPr>
        <p:spPr>
          <a:xfrm>
            <a:off x="12435840" y="370332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txBox="1"/>
          <p:nvPr/>
        </p:nvSpPr>
        <p:spPr>
          <a:xfrm>
            <a:off x="12710160" y="384048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22 / 22</a:t>
            </a:r>
            <a:endParaRPr b="0" i="0" sz="5000" u="none" cap="none" strike="noStrike">
              <a:solidFill>
                <a:schemeClr val="dk1"/>
              </a:solidFill>
              <a:latin typeface="Calibri"/>
              <a:ea typeface="Calibri"/>
              <a:cs typeface="Calibri"/>
              <a:sym typeface="Calibri"/>
            </a:endParaRPr>
          </a:p>
        </p:txBody>
      </p:sp>
      <p:sp>
        <p:nvSpPr>
          <p:cNvPr id="262" name="Google Shape;262;p11"/>
          <p:cNvSpPr txBox="1"/>
          <p:nvPr/>
        </p:nvSpPr>
        <p:spPr>
          <a:xfrm>
            <a:off x="12710160" y="469087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כללי Temporal Logic נבדקים בקוד</a:t>
            </a:r>
            <a:endParaRPr b="0" i="0" sz="1600" u="none" cap="none" strike="noStrike">
              <a:solidFill>
                <a:schemeClr val="dk1"/>
              </a:solidFill>
              <a:latin typeface="Calibri"/>
              <a:ea typeface="Calibri"/>
              <a:cs typeface="Calibri"/>
              <a:sym typeface="Calibri"/>
            </a:endParaRPr>
          </a:p>
        </p:txBody>
      </p:sp>
      <p:sp>
        <p:nvSpPr>
          <p:cNvPr id="263" name="Google Shape;263;p11"/>
          <p:cNvSpPr/>
          <p:nvPr/>
        </p:nvSpPr>
        <p:spPr>
          <a:xfrm>
            <a:off x="12435840" y="548640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txBox="1"/>
          <p:nvPr/>
        </p:nvSpPr>
        <p:spPr>
          <a:xfrm>
            <a:off x="12710160" y="562356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6 / 6</a:t>
            </a:r>
            <a:endParaRPr b="0" i="0" sz="5000" u="none" cap="none" strike="noStrike">
              <a:solidFill>
                <a:schemeClr val="dk1"/>
              </a:solidFill>
              <a:latin typeface="Calibri"/>
              <a:ea typeface="Calibri"/>
              <a:cs typeface="Calibri"/>
              <a:sym typeface="Calibri"/>
            </a:endParaRPr>
          </a:p>
        </p:txBody>
      </p:sp>
      <p:sp>
        <p:nvSpPr>
          <p:cNvPr id="265" name="Google Shape;265;p11"/>
          <p:cNvSpPr txBox="1"/>
          <p:nvPr/>
        </p:nvSpPr>
        <p:spPr>
          <a:xfrm>
            <a:off x="12710160" y="647395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הוכחות Z3 מוכחות</a:t>
            </a:r>
            <a:endParaRPr b="0" i="0" sz="1600" u="none" cap="none" strike="noStrike">
              <a:solidFill>
                <a:schemeClr val="dk1"/>
              </a:solidFill>
              <a:latin typeface="Calibri"/>
              <a:ea typeface="Calibri"/>
              <a:cs typeface="Calibri"/>
              <a:sym typeface="Calibri"/>
            </a:endParaRPr>
          </a:p>
        </p:txBody>
      </p:sp>
      <p:graphicFrame>
        <p:nvGraphicFramePr>
          <p:cNvPr id="266" name="Google Shape;266;p11"/>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7863850"/>
                <a:gridCol w="3291850"/>
              </a:tblGrid>
              <a:tr h="5109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זה אומר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בודקים</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 מעבר בטבלה קיים בגרף, והמקרה מגיע למצב הצפוי.</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תקינים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פעולה לא מורשית נחסמת, והמקרה לא זז.</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אסורים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175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התחלת טיפול, שחרור, מה מותר להעביר ל-AI, ומה קורה כש-OPA נופל.</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מדיניות (OPA)</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70825">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רצועות הפער וסדר התור. בנוסף, מזינים ל-Z3 קוד שגוי בכוונה ובודקים שהוא תופס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הוכחות (Z3)</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תפקידים, סתירות ברשומה, ומטופל שממתין בלי טיימר.</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הסקות (Prolog ו-Datalog)</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בדיקת העקבות על יומן המקרה, טיימרים והסלמות.</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כללים לאורך זמן</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מציע רמה שגויה או לא בטוח בתשובה, והכללים עוצרים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טועה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לכל פעולה שנחסמה יש סיבה כתובה, עם השכבה שחסמה.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הסברים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כל רכיב שנופל, והמערכת ממשיכה בדרך הבטוחה.</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תקלות</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1" name="Shape 271"/>
        <p:cNvGrpSpPr/>
        <p:nvPr/>
      </p:nvGrpSpPr>
      <p:grpSpPr>
        <a:xfrm>
          <a:off x="0" y="0"/>
          <a:ext cx="0" cy="0"/>
          <a:chOff x="0" y="0"/>
          <a:chExt cx="0" cy="0"/>
        </a:xfrm>
      </p:grpSpPr>
      <p:sp>
        <p:nvSpPr>
          <p:cNvPr id="272" name="Google Shape;272;p1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1</a:t>
            </a:r>
            <a:r>
              <a:rPr b="0" i="0" lang="iw-IL" sz="1600" u="none" cap="none" strike="noStrike">
                <a:solidFill>
                  <a:srgbClr val="9397AB"/>
                </a:solidFill>
                <a:latin typeface="Courier New"/>
                <a:ea typeface="Courier New"/>
                <a:cs typeface="Courier New"/>
                <a:sym typeface="Courier New"/>
              </a:rPr>
              <a:t> · Risks &amp; Governance</a:t>
            </a:r>
            <a:endParaRPr b="0" i="0" sz="1600" u="none" cap="none" strike="noStrike">
              <a:solidFill>
                <a:schemeClr val="dk1"/>
              </a:solidFill>
              <a:latin typeface="Calibri"/>
              <a:ea typeface="Calibri"/>
              <a:cs typeface="Calibri"/>
              <a:sym typeface="Calibri"/>
            </a:endParaRPr>
          </a:p>
        </p:txBody>
      </p:sp>
      <p:sp>
        <p:nvSpPr>
          <p:cNvPr id="273" name="Google Shape;273;p1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סיכונים, אבטחה וממשל</a:t>
            </a:r>
            <a:endParaRPr b="0" i="0" sz="4800" u="none" cap="none" strike="noStrike">
              <a:solidFill>
                <a:schemeClr val="dk1"/>
              </a:solidFill>
              <a:latin typeface="Calibri"/>
              <a:ea typeface="Calibri"/>
              <a:cs typeface="Calibri"/>
              <a:sym typeface="Calibri"/>
            </a:endParaRPr>
          </a:p>
        </p:txBody>
      </p:sp>
      <p:graphicFrame>
        <p:nvGraphicFramePr>
          <p:cNvPr id="274" name="Google Shape;274;p12"/>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12070075"/>
                <a:gridCol w="4389125"/>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מגן מפניו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סיכון</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ה-AI רק מציע. התשובה נבדקת לפורמט, לטווח ולסתירות, ופער גדול עובר לאחות אחראית.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ה-AI מציע רמה שגויה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רק רשימה מאושרת של שדות מגיעה ל-AI, ו-OPA בודק אותה. פרט מזהה שהוקלד מוחלף בסימון [REDACTED] לפני ה-AI ובכל מה שנשלח ל-Langfuse. המקרה עצמו שומר רק מזהה פנימי, והפרטים המזהים נשמרים רק במערכת הרשומות של בית החולים (CRM).</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דליפת פרטים מזהים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פעולה נבדקת מול התפקיד שמוצהר בבקשה (עדיין אין רשימת צוות בשרת). ברירת המחדל של OPA היא "אסור". רק אחות אחראית או אחראית משמרת יכולות לשחרר.</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פעולה בלי הרשאה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שינוי וכל סירוב נרשמים ביומן המקרה, במבנה קבוע. בדיקת היסטוריה מוודאת שהיומן רק גדל: שינוי או מחיקה של רשומה מתגלים ומוצגים.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אין תיעוד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68580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מפתחות API והגדרות נשמרים בקובץ ENV (משתני סביבה), ולא בקוד.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סודות ומפתחות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Human-in-the-loop: בנקודות רגישות המקרה נעצר, ונשמר, עד שאחות אחראית מחליטה. אחרי כמה סבבי תיקון שנכשלו, המקרה עובר לאחראית משמרת.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החלטה בלי בן אדם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9" name="Shape 279"/>
        <p:cNvGrpSpPr/>
        <p:nvPr/>
      </p:nvGrpSpPr>
      <p:grpSpPr>
        <a:xfrm>
          <a:off x="0" y="0"/>
          <a:ext cx="0" cy="0"/>
          <a:chOff x="0" y="0"/>
          <a:chExt cx="0" cy="0"/>
        </a:xfrm>
      </p:grpSpPr>
      <p:sp>
        <p:nvSpPr>
          <p:cNvPr id="280" name="Google Shape;280;p1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2</a:t>
            </a:r>
            <a:r>
              <a:rPr b="0" i="0" lang="iw-IL" sz="1600" u="none" cap="none" strike="noStrike">
                <a:solidFill>
                  <a:srgbClr val="9397AB"/>
                </a:solidFill>
                <a:latin typeface="Courier New"/>
                <a:ea typeface="Courier New"/>
                <a:cs typeface="Courier New"/>
                <a:sym typeface="Courier New"/>
              </a:rPr>
              <a:t> · Failure Handling</a:t>
            </a:r>
            <a:endParaRPr b="0" i="0" sz="1600" u="none" cap="none" strike="noStrike">
              <a:solidFill>
                <a:schemeClr val="dk1"/>
              </a:solidFill>
              <a:latin typeface="Calibri"/>
              <a:ea typeface="Calibri"/>
              <a:cs typeface="Calibri"/>
              <a:sym typeface="Calibri"/>
            </a:endParaRPr>
          </a:p>
        </p:txBody>
      </p:sp>
      <p:sp>
        <p:nvSpPr>
          <p:cNvPr id="281" name="Google Shape;281;p1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קורה כשרכיב נופל</a:t>
            </a:r>
            <a:endParaRPr b="0" i="0" sz="4800" u="none" cap="none" strike="noStrike">
              <a:solidFill>
                <a:schemeClr val="dk1"/>
              </a:solidFill>
              <a:latin typeface="Calibri"/>
              <a:ea typeface="Calibri"/>
              <a:cs typeface="Calibri"/>
              <a:sym typeface="Calibri"/>
            </a:endParaRPr>
          </a:p>
        </p:txBody>
      </p:sp>
      <p:sp>
        <p:nvSpPr>
          <p:cNvPr id="282" name="Google Shape;282;p13"/>
          <p:cNvSpPr/>
          <p:nvPr/>
        </p:nvSpPr>
        <p:spPr>
          <a:xfrm>
            <a:off x="914400" y="1783080"/>
            <a:ext cx="16459200" cy="1005840"/>
          </a:xfrm>
          <a:prstGeom prst="roundRect">
            <a:avLst>
              <a:gd fmla="val 10909"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txBox="1"/>
          <p:nvPr/>
        </p:nvSpPr>
        <p:spPr>
          <a:xfrm>
            <a:off x="1280160" y="1828800"/>
            <a:ext cx="1572768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העיקרון: </a:t>
            </a:r>
            <a:r>
              <a:rPr b="0" i="0" lang="iw-IL" sz="1800" u="none" cap="none" strike="noStrike">
                <a:solidFill>
                  <a:srgbClr val="E9E9ED"/>
                </a:solidFill>
                <a:latin typeface="Arial"/>
                <a:ea typeface="Arial"/>
                <a:cs typeface="Arial"/>
                <a:sym typeface="Arial"/>
              </a:rPr>
              <a:t>רכיב שנופל אף פעם לא גורם למערכת לאשר בלי בדיקה, ואף פעם לא מונע ממטופל להגיע לטיפול. כשרכיב שמאשר פעולות לא זמין, </a:t>
            </a:r>
            <a:r>
              <a:rPr b="1" i="0" lang="iw-IL" sz="1800" u="none" cap="none" strike="noStrike">
                <a:solidFill>
                  <a:srgbClr val="E9E9ED"/>
                </a:solidFill>
                <a:latin typeface="Arial"/>
                <a:ea typeface="Arial"/>
                <a:cs typeface="Arial"/>
                <a:sym typeface="Arial"/>
              </a:rPr>
              <a:t>אחראית משמרת חותמת במקומו</a:t>
            </a:r>
            <a:r>
              <a:rPr b="0" i="0" lang="iw-IL" sz="1800" u="none" cap="none" strike="noStrike">
                <a:solidFill>
                  <a:srgbClr val="E9E9ED"/>
                </a:solidFill>
                <a:latin typeface="Arial"/>
                <a:ea typeface="Arial"/>
                <a:cs typeface="Arial"/>
                <a:sym typeface="Arial"/>
              </a:rPr>
              <a:t>, והקוד עדיין בודק את העובדות.</a:t>
            </a:r>
            <a:endParaRPr b="0" i="0" sz="1800" u="none" cap="none" strike="noStrike">
              <a:solidFill>
                <a:schemeClr val="dk1"/>
              </a:solidFill>
              <a:latin typeface="Calibri"/>
              <a:ea typeface="Calibri"/>
              <a:cs typeface="Calibri"/>
              <a:sym typeface="Calibri"/>
            </a:endParaRPr>
          </a:p>
        </p:txBody>
      </p:sp>
      <p:graphicFrame>
        <p:nvGraphicFramePr>
          <p:cNvPr id="284" name="Google Shape;284;p13"/>
          <p:cNvGraphicFramePr/>
          <p:nvPr/>
        </p:nvGraphicFramePr>
        <p:xfrm>
          <a:off x="914400" y="3810705"/>
          <a:ext cx="3000000" cy="3000000"/>
        </p:xfrm>
        <a:graphic>
          <a:graphicData uri="http://schemas.openxmlformats.org/drawingml/2006/table">
            <a:tbl>
              <a:tblPr>
                <a:noFill/>
                <a:tableStyleId>{04CC930A-5F64-4B84-AD67-B738C2A8A3AE}</a:tableStyleId>
              </a:tblPr>
              <a:tblGrid>
                <a:gridCol w="12435850"/>
                <a:gridCol w="4023350"/>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המערכת עושה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הרכיב שנפל</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68580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ממשיכים עם הרמה שהאחות קבעה. המקרה מסומן לבדיקה חוזרת מאוחר יותר.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מודל ה-AI</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82295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הנתונים לא נשלחים ל-AI, כי אי אפשר להוכיח שהם נקיים. להתחלת טיפול ולשחרור נדרשת חתימה של אחראית משמרת.</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OPA</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לבדיקת הבטיחות אין תשובה, אז המקרה עובר לשער. אפשר לבדוק שוב כשהרכיב חוזר, או שאחראית משמרת מאשרת להמשיך בלי הבדיקה. זה נרשם כ"אושר על ידי אחראית משמרת", אף פעם לא כ"עבר בדיקה".</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Prolog</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מקרים ממשיכים להגיע לתור, אבל הטיימרים ממתינים, והצוות עוקב ידנית. כשהמוניטור חוזר, הוא מפעיל את כל הטיימרים שהתעכבו.</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המוניטור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bl>
          </a:graphicData>
        </a:graphic>
      </p:graphicFrame>
      <p:sp>
        <p:nvSpPr>
          <p:cNvPr id="285" name="Google Shape;285;p13"/>
          <p:cNvSpPr/>
          <p:nvPr/>
        </p:nvSpPr>
        <p:spPr>
          <a:xfrm>
            <a:off x="914400" y="8101231"/>
            <a:ext cx="16459200" cy="1097400"/>
          </a:xfrm>
          <a:prstGeom prst="roundRect">
            <a:avLst>
              <a:gd fmla="val 100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txBox="1"/>
          <p:nvPr/>
        </p:nvSpPr>
        <p:spPr>
          <a:xfrm>
            <a:off x="1414716" y="8192656"/>
            <a:ext cx="1563870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1750"/>
              <a:buFont typeface="Arial"/>
              <a:buNone/>
            </a:pPr>
            <a:r>
              <a:rPr b="1" i="0" lang="iw-IL" sz="2150" u="none" cap="none" strike="noStrike">
                <a:solidFill>
                  <a:srgbClr val="E9E9ED"/>
                </a:solidFill>
                <a:latin typeface="Arial"/>
                <a:ea typeface="Arial"/>
                <a:cs typeface="Arial"/>
                <a:sym typeface="Arial"/>
              </a:rPr>
              <a:t>כל מקרה שעבר בלי רכיב מסומן בכרטיס, </a:t>
            </a:r>
            <a:r>
              <a:rPr b="0" i="0" lang="iw-IL" sz="2150" u="none" cap="none" strike="noStrike">
                <a:solidFill>
                  <a:srgbClr val="E9E9ED"/>
                </a:solidFill>
                <a:latin typeface="Arial"/>
                <a:ea typeface="Arial"/>
                <a:cs typeface="Arial"/>
                <a:sym typeface="Arial"/>
              </a:rPr>
              <a:t>ובפאנל של המקרה יש תיבה שמפרטת מה חסר.</a:t>
            </a:r>
            <a:endParaRPr b="0" i="0" sz="2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91" name="Shape 291"/>
        <p:cNvGrpSpPr/>
        <p:nvPr/>
      </p:nvGrpSpPr>
      <p:grpSpPr>
        <a:xfrm>
          <a:off x="0" y="0"/>
          <a:ext cx="0" cy="0"/>
          <a:chOff x="0" y="0"/>
          <a:chExt cx="0" cy="0"/>
        </a:xfrm>
      </p:grpSpPr>
      <p:sp>
        <p:nvSpPr>
          <p:cNvPr id="292" name="Google Shape;292;p1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3</a:t>
            </a:r>
            <a:r>
              <a:rPr b="0" i="0" lang="iw-IL" sz="1600" u="none" cap="none" strike="noStrike">
                <a:solidFill>
                  <a:srgbClr val="9397AB"/>
                </a:solidFill>
                <a:latin typeface="Courier New"/>
                <a:ea typeface="Courier New"/>
                <a:cs typeface="Courier New"/>
                <a:sym typeface="Courier New"/>
              </a:rPr>
              <a:t> · Production Readiness</a:t>
            </a:r>
            <a:endParaRPr b="0" i="0" sz="1600" u="none" cap="none" strike="noStrike">
              <a:solidFill>
                <a:schemeClr val="dk1"/>
              </a:solidFill>
              <a:latin typeface="Calibri"/>
              <a:ea typeface="Calibri"/>
              <a:cs typeface="Calibri"/>
              <a:sym typeface="Calibri"/>
            </a:endParaRPr>
          </a:p>
        </p:txBody>
      </p:sp>
      <p:sp>
        <p:nvSpPr>
          <p:cNvPr id="293" name="Google Shape;293;p1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עובד, מה עדיין דמו, ומה הלאה</a:t>
            </a:r>
            <a:endParaRPr b="0" i="0" sz="4800" u="none" cap="none" strike="noStrike">
              <a:solidFill>
                <a:schemeClr val="dk1"/>
              </a:solidFill>
              <a:latin typeface="Calibri"/>
              <a:ea typeface="Calibri"/>
              <a:cs typeface="Calibri"/>
              <a:sym typeface="Calibri"/>
            </a:endParaRPr>
          </a:p>
        </p:txBody>
      </p:sp>
      <p:sp>
        <p:nvSpPr>
          <p:cNvPr id="294" name="Google Shape;294;p14"/>
          <p:cNvSpPr/>
          <p:nvPr/>
        </p:nvSpPr>
        <p:spPr>
          <a:xfrm>
            <a:off x="1225296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4"/>
          <p:cNvSpPr txBox="1"/>
          <p:nvPr/>
        </p:nvSpPr>
        <p:spPr>
          <a:xfrm>
            <a:off x="1257300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8FD3B0"/>
              </a:buClr>
              <a:buSzPts val="2000"/>
              <a:buFont typeface="Arial"/>
              <a:buNone/>
            </a:pPr>
            <a:r>
              <a:rPr b="1" i="0" lang="iw-IL" sz="2000" u="none" cap="none" strike="noStrike">
                <a:solidFill>
                  <a:srgbClr val="8FD3B0"/>
                </a:solidFill>
                <a:latin typeface="Arial"/>
                <a:ea typeface="Arial"/>
                <a:cs typeface="Arial"/>
                <a:sym typeface="Arial"/>
              </a:rPr>
              <a:t>עובד היום</a:t>
            </a:r>
            <a:endParaRPr b="0" i="0" sz="2000" u="none" cap="none" strike="noStrike">
              <a:solidFill>
                <a:schemeClr val="dk1"/>
              </a:solidFill>
              <a:latin typeface="Calibri"/>
              <a:ea typeface="Calibri"/>
              <a:cs typeface="Calibri"/>
              <a:sym typeface="Calibri"/>
            </a:endParaRPr>
          </a:p>
        </p:txBody>
      </p:sp>
      <p:sp>
        <p:nvSpPr>
          <p:cNvPr id="296" name="Google Shape;296;p14"/>
          <p:cNvSpPr txBox="1"/>
          <p:nvPr/>
        </p:nvSpPr>
        <p:spPr>
          <a:xfrm>
            <a:off x="1257300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מכונת המצבים ב-LangGraph, השער האנושי, החסימות ויומן המקרה</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חמשת מנועי הכללים, עם fail-closed</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המוניטור והטיימרים, שנשמרים גם אם המערכת נופלת</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ה-board לאחיות, והמעקב ב-Langfuse</a:t>
            </a:r>
            <a:endParaRPr b="0" i="0" sz="1800" u="none" cap="none" strike="noStrike">
              <a:solidFill>
                <a:schemeClr val="dk1"/>
              </a:solidFill>
              <a:latin typeface="Calibri"/>
              <a:ea typeface="Calibri"/>
              <a:cs typeface="Calibri"/>
              <a:sym typeface="Calibri"/>
            </a:endParaRPr>
          </a:p>
        </p:txBody>
      </p:sp>
      <p:sp>
        <p:nvSpPr>
          <p:cNvPr id="297" name="Google Shape;297;p14"/>
          <p:cNvSpPr/>
          <p:nvPr/>
        </p:nvSpPr>
        <p:spPr>
          <a:xfrm>
            <a:off x="658368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4"/>
          <p:cNvSpPr txBox="1"/>
          <p:nvPr/>
        </p:nvSpPr>
        <p:spPr>
          <a:xfrm>
            <a:off x="690372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D28B"/>
              </a:buClr>
              <a:buSzPts val="2000"/>
              <a:buFont typeface="Arial"/>
              <a:buNone/>
            </a:pPr>
            <a:r>
              <a:rPr b="1" i="0" lang="iw-IL" sz="2000" u="none" cap="none" strike="noStrike">
                <a:solidFill>
                  <a:srgbClr val="F2D28B"/>
                </a:solidFill>
                <a:latin typeface="Arial"/>
                <a:ea typeface="Arial"/>
                <a:cs typeface="Arial"/>
                <a:sym typeface="Arial"/>
              </a:rPr>
              <a:t>עדיין דמו</a:t>
            </a:r>
            <a:endParaRPr b="0" i="0" sz="2000" u="none" cap="none" strike="noStrike">
              <a:solidFill>
                <a:schemeClr val="dk1"/>
              </a:solidFill>
              <a:latin typeface="Calibri"/>
              <a:ea typeface="Calibri"/>
              <a:cs typeface="Calibri"/>
              <a:sym typeface="Calibri"/>
            </a:endParaRPr>
          </a:p>
        </p:txBody>
      </p:sp>
      <p:sp>
        <p:nvSpPr>
          <p:cNvPr id="299" name="Google Shape;299;p14"/>
          <p:cNvSpPr txBox="1"/>
          <p:nvPr/>
        </p:nvSpPr>
        <p:spPr>
          <a:xfrm>
            <a:off x="690372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מערכת הרשומות (CRM) מכילה 20 מטופלים מדומים</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הקליטה היא טופס מובנה, בלי סריקת מסמכים או טקסט חופשי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ההרשאות הן לפי תפקיד בלבד</a:t>
            </a:r>
            <a:endParaRPr b="0" i="0" sz="1800" u="none" cap="none" strike="noStrike">
              <a:solidFill>
                <a:schemeClr val="dk1"/>
              </a:solidFill>
              <a:latin typeface="Calibri"/>
              <a:ea typeface="Calibri"/>
              <a:cs typeface="Calibri"/>
              <a:sym typeface="Calibri"/>
            </a:endParaRPr>
          </a:p>
        </p:txBody>
      </p:sp>
      <p:sp>
        <p:nvSpPr>
          <p:cNvPr id="300" name="Google Shape;300;p14"/>
          <p:cNvSpPr/>
          <p:nvPr/>
        </p:nvSpPr>
        <p:spPr>
          <a:xfrm>
            <a:off x="91440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txBox="1"/>
          <p:nvPr/>
        </p:nvSpPr>
        <p:spPr>
          <a:xfrm>
            <a:off x="123444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הצעדים הבאים</a:t>
            </a:r>
            <a:endParaRPr b="0" i="0" sz="2000" u="none" cap="none" strike="noStrike">
              <a:solidFill>
                <a:schemeClr val="dk1"/>
              </a:solidFill>
              <a:latin typeface="Calibri"/>
              <a:ea typeface="Calibri"/>
              <a:cs typeface="Calibri"/>
              <a:sym typeface="Calibri"/>
            </a:endParaRPr>
          </a:p>
        </p:txBody>
      </p:sp>
      <p:sp>
        <p:nvSpPr>
          <p:cNvPr id="302" name="Google Shape;302;p14"/>
          <p:cNvSpPr txBox="1"/>
          <p:nvPr/>
        </p:nvSpPr>
        <p:spPr>
          <a:xfrm>
            <a:off x="123444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לבדוק את ה-AI על מקרים אמיתיים (אנונימיים) ולמדוד דיוק</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ספים כמו ביטחון 70%, מספר סבבי תיקון וזמני הערכה חוזרת דורשים נתונים ואישור קליני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להוסיף ניהול גרסאות למדיניות </a:t>
            </a:r>
            <a:r>
              <a:rPr lang="iw-IL" sz="1800">
                <a:solidFill>
                  <a:srgbClr val="E9E9ED"/>
                </a:solidFill>
              </a:rPr>
              <a:t>למנועי</a:t>
            </a:r>
            <a:r>
              <a:rPr b="0" i="0" lang="iw-IL" sz="1800" u="none" cap="none" strike="noStrike">
                <a:solidFill>
                  <a:srgbClr val="E9E9ED"/>
                </a:solidFill>
                <a:latin typeface="Arial"/>
                <a:ea typeface="Arial"/>
                <a:cs typeface="Arial"/>
                <a:sym typeface="Arial"/>
              </a:rPr>
              <a:t> הכללים</a:t>
            </a:r>
            <a:endParaRPr b="0" i="0" sz="1800" u="none" cap="none" strike="noStrike">
              <a:solidFill>
                <a:srgbClr val="E9E9ED"/>
              </a:solidFill>
              <a:latin typeface="Arial"/>
              <a:ea typeface="Arial"/>
              <a:cs typeface="Arial"/>
              <a:sym typeface="Arial"/>
            </a:endParaRPr>
          </a:p>
          <a:p>
            <a:pPr indent="-228600" lvl="0" marL="228600" marR="0" rtl="1" algn="r">
              <a:spcBef>
                <a:spcPts val="900"/>
              </a:spcBef>
              <a:spcAft>
                <a:spcPts val="0"/>
              </a:spcAft>
              <a:buClr>
                <a:srgbClr val="E9E9ED"/>
              </a:buClr>
              <a:buSzPts val="1800"/>
              <a:buChar char="•"/>
            </a:pPr>
            <a:r>
              <a:rPr lang="iw-IL" sz="1800">
                <a:solidFill>
                  <a:srgbClr val="E9E9ED"/>
                </a:solidFill>
              </a:rPr>
              <a:t>מערכת משתמשים (אחיות) </a:t>
            </a:r>
            <a:r>
              <a:rPr lang="iw-IL" sz="1800">
                <a:solidFill>
                  <a:srgbClr val="E9E9ED"/>
                </a:solidFill>
              </a:rPr>
              <a:t>לטאבלט</a:t>
            </a:r>
            <a:endParaRPr sz="1800">
              <a:solidFill>
                <a:srgbClr val="E9E9ED"/>
              </a:solidFill>
            </a:endParaRPr>
          </a:p>
        </p:txBody>
      </p:sp>
      <p:sp>
        <p:nvSpPr>
          <p:cNvPr id="303" name="Google Shape;303;p14"/>
          <p:cNvSpPr/>
          <p:nvPr/>
        </p:nvSpPr>
        <p:spPr>
          <a:xfrm>
            <a:off x="914400" y="6355080"/>
            <a:ext cx="16459200" cy="3291840"/>
          </a:xfrm>
          <a:prstGeom prst="roundRect">
            <a:avLst>
              <a:gd fmla="val 3333"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
          <p:cNvSpPr txBox="1"/>
          <p:nvPr/>
        </p:nvSpPr>
        <p:spPr>
          <a:xfrm>
            <a:off x="1280160" y="6510528"/>
            <a:ext cx="1572768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200"/>
              <a:buFont typeface="Arial"/>
              <a:buNone/>
            </a:pPr>
            <a:r>
              <a:rPr b="1" i="0" lang="iw-IL" sz="2200" u="none" cap="none" strike="noStrike">
                <a:solidFill>
                  <a:srgbClr val="D2CEFD"/>
                </a:solidFill>
                <a:latin typeface="Arial"/>
                <a:ea typeface="Arial"/>
                <a:cs typeface="Arial"/>
                <a:sym typeface="Arial"/>
              </a:rPr>
              <a:t>איך המערכת מונעת מה-AI להוביל מקרה לרצף מסוכן או למצב אסור?</a:t>
            </a:r>
            <a:endParaRPr b="0" i="0" sz="2200" u="none" cap="none" strike="noStrike">
              <a:solidFill>
                <a:schemeClr val="dk1"/>
              </a:solidFill>
              <a:latin typeface="Calibri"/>
              <a:ea typeface="Calibri"/>
              <a:cs typeface="Calibri"/>
              <a:sym typeface="Calibri"/>
            </a:endParaRPr>
          </a:p>
        </p:txBody>
      </p:sp>
      <p:sp>
        <p:nvSpPr>
          <p:cNvPr id="305" name="Google Shape;305;p14"/>
          <p:cNvSpPr txBox="1"/>
          <p:nvPr/>
        </p:nvSpPr>
        <p:spPr>
          <a:xfrm>
            <a:off x="1280160" y="7086600"/>
            <a:ext cx="157276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ה-AI יכול רק להציע, וכל מעבר מוגבל לחצים שהוגדרו מראש. מעל זה יש ארבע שכבות:</a:t>
            </a:r>
            <a:endParaRPr b="0" i="0" sz="1800" u="none" cap="none" strike="noStrike">
              <a:solidFill>
                <a:schemeClr val="dk1"/>
              </a:solidFill>
              <a:latin typeface="Calibri"/>
              <a:ea typeface="Calibri"/>
              <a:cs typeface="Calibri"/>
              <a:sym typeface="Calibri"/>
            </a:endParaRPr>
          </a:p>
        </p:txBody>
      </p:sp>
      <p:sp>
        <p:nvSpPr>
          <p:cNvPr id="306" name="Google Shape;306;p14"/>
          <p:cNvSpPr/>
          <p:nvPr/>
        </p:nvSpPr>
        <p:spPr>
          <a:xfrm>
            <a:off x="1325880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1645920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txBox="1"/>
          <p:nvPr/>
        </p:nvSpPr>
        <p:spPr>
          <a:xfrm>
            <a:off x="1645920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1</a:t>
            </a:r>
            <a:endParaRPr b="0" i="0" sz="1300" u="none" cap="none" strike="noStrike">
              <a:solidFill>
                <a:schemeClr val="dk1"/>
              </a:solidFill>
              <a:latin typeface="Calibri"/>
              <a:ea typeface="Calibri"/>
              <a:cs typeface="Calibri"/>
              <a:sym typeface="Calibri"/>
            </a:endParaRPr>
          </a:p>
        </p:txBody>
      </p:sp>
      <p:sp>
        <p:nvSpPr>
          <p:cNvPr id="309" name="Google Shape;309;p14"/>
          <p:cNvSpPr txBox="1"/>
          <p:nvPr/>
        </p:nvSpPr>
        <p:spPr>
          <a:xfrm>
            <a:off x="1344168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מראש</a:t>
            </a:r>
            <a:endParaRPr b="0" i="0" sz="1700" u="none" cap="none" strike="noStrike">
              <a:solidFill>
                <a:schemeClr val="dk1"/>
              </a:solidFill>
              <a:latin typeface="Calibri"/>
              <a:ea typeface="Calibri"/>
              <a:cs typeface="Calibri"/>
              <a:sym typeface="Calibri"/>
            </a:endParaRPr>
          </a:p>
        </p:txBody>
      </p:sp>
      <p:sp>
        <p:nvSpPr>
          <p:cNvPr id="310" name="Google Shape;310;p14"/>
          <p:cNvSpPr txBox="1"/>
          <p:nvPr/>
        </p:nvSpPr>
        <p:spPr>
          <a:xfrm>
            <a:off x="1344168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מנוע Z3 מוכיח שהכללים עצמם לא שבורים.</a:t>
            </a:r>
            <a:endParaRPr b="0" i="0" sz="1500" u="none" cap="none" strike="noStrike">
              <a:solidFill>
                <a:schemeClr val="dk1"/>
              </a:solidFill>
              <a:latin typeface="Calibri"/>
              <a:ea typeface="Calibri"/>
              <a:cs typeface="Calibri"/>
              <a:sym typeface="Calibri"/>
            </a:endParaRPr>
          </a:p>
        </p:txBody>
      </p:sp>
      <p:sp>
        <p:nvSpPr>
          <p:cNvPr id="311" name="Google Shape;311;p14"/>
          <p:cNvSpPr/>
          <p:nvPr/>
        </p:nvSpPr>
        <p:spPr>
          <a:xfrm>
            <a:off x="932688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1252728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txBox="1"/>
          <p:nvPr/>
        </p:nvSpPr>
        <p:spPr>
          <a:xfrm>
            <a:off x="1252728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2</a:t>
            </a:r>
            <a:endParaRPr b="0" i="0" sz="1300" u="none" cap="none" strike="noStrike">
              <a:solidFill>
                <a:schemeClr val="dk1"/>
              </a:solidFill>
              <a:latin typeface="Calibri"/>
              <a:ea typeface="Calibri"/>
              <a:cs typeface="Calibri"/>
              <a:sym typeface="Calibri"/>
            </a:endParaRPr>
          </a:p>
        </p:txBody>
      </p:sp>
      <p:sp>
        <p:nvSpPr>
          <p:cNvPr id="314" name="Google Shape;314;p14"/>
          <p:cNvSpPr txBox="1"/>
          <p:nvPr/>
        </p:nvSpPr>
        <p:spPr>
          <a:xfrm>
            <a:off x="950976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לפני כל צעד</a:t>
            </a:r>
            <a:endParaRPr b="0" i="0" sz="1700" u="none" cap="none" strike="noStrike">
              <a:solidFill>
                <a:schemeClr val="dk1"/>
              </a:solidFill>
              <a:latin typeface="Calibri"/>
              <a:ea typeface="Calibri"/>
              <a:cs typeface="Calibri"/>
              <a:sym typeface="Calibri"/>
            </a:endParaRPr>
          </a:p>
        </p:txBody>
      </p:sp>
      <p:sp>
        <p:nvSpPr>
          <p:cNvPr id="315" name="Google Shape;315;p14"/>
          <p:cNvSpPr txBox="1"/>
          <p:nvPr/>
        </p:nvSpPr>
        <p:spPr>
          <a:xfrm>
            <a:off x="950976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המנועים OPA ו-Prolog חוסמים פעולה אסורה.</a:t>
            </a:r>
            <a:endParaRPr b="0" i="0" sz="1500" u="none" cap="none" strike="noStrike">
              <a:solidFill>
                <a:schemeClr val="dk1"/>
              </a:solidFill>
              <a:latin typeface="Calibri"/>
              <a:ea typeface="Calibri"/>
              <a:cs typeface="Calibri"/>
              <a:sym typeface="Calibri"/>
            </a:endParaRPr>
          </a:p>
        </p:txBody>
      </p:sp>
      <p:sp>
        <p:nvSpPr>
          <p:cNvPr id="316" name="Google Shape;316;p14"/>
          <p:cNvSpPr/>
          <p:nvPr/>
        </p:nvSpPr>
        <p:spPr>
          <a:xfrm>
            <a:off x="539496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p:nvPr/>
        </p:nvSpPr>
        <p:spPr>
          <a:xfrm>
            <a:off x="859536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4"/>
          <p:cNvSpPr txBox="1"/>
          <p:nvPr/>
        </p:nvSpPr>
        <p:spPr>
          <a:xfrm>
            <a:off x="859536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3</a:t>
            </a:r>
            <a:endParaRPr b="0" i="0" sz="1300" u="none" cap="none" strike="noStrike">
              <a:solidFill>
                <a:schemeClr val="dk1"/>
              </a:solidFill>
              <a:latin typeface="Calibri"/>
              <a:ea typeface="Calibri"/>
              <a:cs typeface="Calibri"/>
              <a:sym typeface="Calibri"/>
            </a:endParaRPr>
          </a:p>
        </p:txBody>
      </p:sp>
      <p:sp>
        <p:nvSpPr>
          <p:cNvPr id="319" name="Google Shape;319;p14"/>
          <p:cNvSpPr txBox="1"/>
          <p:nvPr/>
        </p:nvSpPr>
        <p:spPr>
          <a:xfrm>
            <a:off x="557784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בזמן ריצה</a:t>
            </a:r>
            <a:endParaRPr b="0" i="0" sz="1700" u="none" cap="none" strike="noStrike">
              <a:solidFill>
                <a:schemeClr val="dk1"/>
              </a:solidFill>
              <a:latin typeface="Calibri"/>
              <a:ea typeface="Calibri"/>
              <a:cs typeface="Calibri"/>
              <a:sym typeface="Calibri"/>
            </a:endParaRPr>
          </a:p>
        </p:txBody>
      </p:sp>
      <p:sp>
        <p:nvSpPr>
          <p:cNvPr id="320" name="Google Shape;320;p14"/>
          <p:cNvSpPr txBox="1"/>
          <p:nvPr/>
        </p:nvSpPr>
        <p:spPr>
          <a:xfrm>
            <a:off x="557784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המוניטור דואג לבדיקה חוזרת בזמן (BPpy בוחר את הפעולה), ו-Datalog בודק את כל המערכת.</a:t>
            </a:r>
            <a:endParaRPr b="0" i="0" sz="1500" u="none" cap="none" strike="noStrike">
              <a:solidFill>
                <a:schemeClr val="dk1"/>
              </a:solidFill>
              <a:latin typeface="Calibri"/>
              <a:ea typeface="Calibri"/>
              <a:cs typeface="Calibri"/>
              <a:sym typeface="Calibri"/>
            </a:endParaRPr>
          </a:p>
        </p:txBody>
      </p:sp>
      <p:sp>
        <p:nvSpPr>
          <p:cNvPr id="321" name="Google Shape;321;p14"/>
          <p:cNvSpPr/>
          <p:nvPr/>
        </p:nvSpPr>
        <p:spPr>
          <a:xfrm>
            <a:off x="146304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466344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txBox="1"/>
          <p:nvPr/>
        </p:nvSpPr>
        <p:spPr>
          <a:xfrm>
            <a:off x="466344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4</a:t>
            </a:r>
            <a:endParaRPr b="0" i="0" sz="1300" u="none" cap="none" strike="noStrike">
              <a:solidFill>
                <a:schemeClr val="dk1"/>
              </a:solidFill>
              <a:latin typeface="Calibri"/>
              <a:ea typeface="Calibri"/>
              <a:cs typeface="Calibri"/>
              <a:sym typeface="Calibri"/>
            </a:endParaRPr>
          </a:p>
        </p:txBody>
      </p:sp>
      <p:sp>
        <p:nvSpPr>
          <p:cNvPr id="324" name="Google Shape;324;p14"/>
          <p:cNvSpPr txBox="1"/>
          <p:nvPr/>
        </p:nvSpPr>
        <p:spPr>
          <a:xfrm>
            <a:off x="164592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אחרי הריצה</a:t>
            </a:r>
            <a:endParaRPr b="0" i="0" sz="1700" u="none" cap="none" strike="noStrike">
              <a:solidFill>
                <a:schemeClr val="dk1"/>
              </a:solidFill>
              <a:latin typeface="Calibri"/>
              <a:ea typeface="Calibri"/>
              <a:cs typeface="Calibri"/>
              <a:sym typeface="Calibri"/>
            </a:endParaRPr>
          </a:p>
        </p:txBody>
      </p:sp>
      <p:sp>
        <p:nvSpPr>
          <p:cNvPr id="325" name="Google Shape;325;p14"/>
          <p:cNvSpPr txBox="1"/>
          <p:nvPr/>
        </p:nvSpPr>
        <p:spPr>
          <a:xfrm>
            <a:off x="164592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בדיקת העקבות קוראת את היומן ומסמנת כל הפרה של ששת כללי הרצף.</a:t>
            </a:r>
            <a:endParaRPr b="0" i="0" sz="1500" u="none" cap="none" strike="noStrike">
              <a:solidFill>
                <a:schemeClr val="dk1"/>
              </a:solidFill>
              <a:latin typeface="Calibri"/>
              <a:ea typeface="Calibri"/>
              <a:cs typeface="Calibri"/>
              <a:sym typeface="Calibri"/>
            </a:endParaRPr>
          </a:p>
        </p:txBody>
      </p:sp>
      <p:sp>
        <p:nvSpPr>
          <p:cNvPr id="326" name="Google Shape;326;p14"/>
          <p:cNvSpPr txBox="1"/>
          <p:nvPr/>
        </p:nvSpPr>
        <p:spPr>
          <a:xfrm>
            <a:off x="1280160" y="9144000"/>
            <a:ext cx="1572768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כל סירוב מחזיר את המקרה לאישור אנושי או עוצר אותו, ואף פעם לא מקדם אותו.</a:t>
            </a:r>
            <a:endParaRPr b="0" i="0" sz="1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2026-09-30T09:20:33Z</dcterms:created>
  <dc:creator>PptxGenJS</dc:creator>
</cp:coreProperties>
</file>